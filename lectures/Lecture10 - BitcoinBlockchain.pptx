
<file path=[Content_Types].xml><?xml version="1.0" encoding="utf-8"?>
<Types xmlns="http://schemas.openxmlformats.org/package/2006/content-types">
  <Default Extension="png" ContentType="image/png"/>
  <Default Extension="tmp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30"/>
  </p:notesMasterIdLst>
  <p:sldIdLst>
    <p:sldId id="256" r:id="rId2"/>
    <p:sldId id="257" r:id="rId3"/>
    <p:sldId id="291" r:id="rId4"/>
    <p:sldId id="292" r:id="rId5"/>
    <p:sldId id="315" r:id="rId6"/>
    <p:sldId id="316" r:id="rId7"/>
    <p:sldId id="320" r:id="rId8"/>
    <p:sldId id="319" r:id="rId9"/>
    <p:sldId id="318" r:id="rId10"/>
    <p:sldId id="295" r:id="rId11"/>
    <p:sldId id="296" r:id="rId12"/>
    <p:sldId id="321" r:id="rId13"/>
    <p:sldId id="297" r:id="rId14"/>
    <p:sldId id="298" r:id="rId15"/>
    <p:sldId id="299" r:id="rId16"/>
    <p:sldId id="313" r:id="rId17"/>
    <p:sldId id="314" r:id="rId18"/>
    <p:sldId id="324" r:id="rId19"/>
    <p:sldId id="323" r:id="rId20"/>
    <p:sldId id="307" r:id="rId21"/>
    <p:sldId id="303" r:id="rId22"/>
    <p:sldId id="306" r:id="rId23"/>
    <p:sldId id="304" r:id="rId24"/>
    <p:sldId id="322" r:id="rId25"/>
    <p:sldId id="305" r:id="rId26"/>
    <p:sldId id="325" r:id="rId27"/>
    <p:sldId id="308" r:id="rId28"/>
    <p:sldId id="290" r:id="rId29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1309" autoAdjust="0"/>
  </p:normalViewPr>
  <p:slideViewPr>
    <p:cSldViewPr snapToGrid="0">
      <p:cViewPr varScale="1">
        <p:scale>
          <a:sx n="85" d="100"/>
          <a:sy n="85" d="100"/>
        </p:scale>
        <p:origin x="365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70701105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241553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4db1095c58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4db1095c58_0_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g4db1095c58_0_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764028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7646353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628220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15445103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US" sz="1200" dirty="0"/>
              <a:t>Note to instructor:  using a board or drawing directly on the slide to show how the script execute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11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3596990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17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4272230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33ca7a9d12_0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g33ca7a9d12_0_3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5" name="Google Shape;265;g33ca7a9d12_0_3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2178128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3ca7a9d12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6" name="Google Shape;256;g33ca7a9d12_0_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7" name="Google Shape;257;g33ca7a9d12_0_2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9435742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 err="1" smtClean="0"/>
              <a:t>Block_Hash</a:t>
            </a:r>
            <a:r>
              <a:rPr lang="en-CA" dirty="0" smtClean="0"/>
              <a:t> is </a:t>
            </a:r>
            <a:r>
              <a:rPr lang="en-CA" b="1" dirty="0" smtClean="0"/>
              <a:t>Hash256</a:t>
            </a:r>
            <a:r>
              <a:rPr lang="en-CA" dirty="0" smtClean="0"/>
              <a:t>(Hash256(</a:t>
            </a:r>
            <a:r>
              <a:rPr lang="en-CA" b="1" dirty="0" smtClean="0"/>
              <a:t>header</a:t>
            </a:r>
            <a:r>
              <a:rPr lang="en-CA" dirty="0" smtClean="0"/>
              <a:t>)),</a:t>
            </a:r>
            <a:r>
              <a:rPr lang="en-CA" baseline="0" dirty="0" smtClean="0"/>
              <a:t> similar to </a:t>
            </a:r>
            <a:r>
              <a:rPr lang="en-CA" baseline="0" dirty="0" err="1" smtClean="0"/>
              <a:t>txID</a:t>
            </a:r>
            <a:r>
              <a:rPr lang="en-CA" baseline="0" dirty="0" smtClean="0"/>
              <a:t>. 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21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7598103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3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6" name="Google Shape;346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451401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body" idx="1"/>
          </p:nvPr>
        </p:nvSpPr>
        <p:spPr>
          <a:xfrm>
            <a:off x="838200" y="15970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/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2"/>
          <a:srcRect/>
          <a:tile tx="0" ty="0" sx="100000" sy="100000" flip="none" algn="tl"/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siminchen.github.io/bitcoinIDE/build/editor.html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tmp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/>
          <p:cNvSpPr txBox="1">
            <a:spLocks noGrp="1"/>
          </p:cNvSpPr>
          <p:nvPr>
            <p:ph type="ctrTitle"/>
          </p:nvPr>
        </p:nvSpPr>
        <p:spPr>
          <a:xfrm>
            <a:off x="1249810" y="2450538"/>
            <a:ext cx="9144000" cy="1376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US" dirty="0" err="1"/>
              <a:t>Bitcoin</a:t>
            </a:r>
            <a:r>
              <a:rPr lang="en-US" dirty="0"/>
              <a:t> and </a:t>
            </a:r>
            <a:r>
              <a:rPr lang="en-US" dirty="0" err="1"/>
              <a:t>Blockchain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Overview</a:t>
            </a:r>
            <a:endParaRPr dirty="0"/>
          </a:p>
        </p:txBody>
      </p:sp>
      <p:sp>
        <p:nvSpPr>
          <p:cNvPr id="95" name="Google Shape;95;p14"/>
          <p:cNvSpPr txBox="1">
            <a:spLocks noGrp="1"/>
          </p:cNvSpPr>
          <p:nvPr>
            <p:ph type="body" idx="1"/>
          </p:nvPr>
        </p:nvSpPr>
        <p:spPr>
          <a:xfrm>
            <a:off x="838200" y="1597025"/>
            <a:ext cx="10515600" cy="4351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4064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en-US" dirty="0" err="1"/>
              <a:t>Bitcoin</a:t>
            </a:r>
            <a:r>
              <a:rPr lang="en-US" dirty="0"/>
              <a:t> address</a:t>
            </a:r>
          </a:p>
          <a:p>
            <a:pPr marL="457200" lvl="0" indent="-4064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en-US" dirty="0" err="1"/>
              <a:t>Bitcoin</a:t>
            </a:r>
            <a:r>
              <a:rPr lang="en-US" dirty="0"/>
              <a:t> transactions</a:t>
            </a:r>
          </a:p>
          <a:p>
            <a:pPr marL="457200" lvl="0" indent="-4064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en-US" dirty="0"/>
              <a:t>Locking and unlocking script</a:t>
            </a:r>
          </a:p>
          <a:p>
            <a:pPr marL="457200" lvl="0" indent="-4064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en-US" dirty="0"/>
              <a:t>Blocks and </a:t>
            </a:r>
            <a:r>
              <a:rPr lang="en-US" dirty="0" err="1"/>
              <a:t>Bitcoin</a:t>
            </a:r>
            <a:r>
              <a:rPr lang="en-US" dirty="0"/>
              <a:t> mining</a:t>
            </a:r>
          </a:p>
          <a:p>
            <a:pPr marL="457200" lvl="0" indent="-4064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en-US" dirty="0" err="1"/>
              <a:t>Blockchain</a:t>
            </a:r>
            <a:endParaRPr lang="en-US" dirty="0"/>
          </a:p>
          <a:p>
            <a:pPr marL="457200" lvl="0" indent="-4064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7752" y="2239860"/>
            <a:ext cx="2934630" cy="71843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Public key and Private key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594162" y="1559956"/>
            <a:ext cx="198323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2E75B5"/>
                </a:solidFill>
                <a:latin typeface="Calibri" panose="020F0502020204030204" pitchFamily="34" charset="0"/>
              </a:rPr>
              <a:t>Elliptic </a:t>
            </a:r>
            <a:r>
              <a:rPr lang="en-US" sz="2400" b="1" dirty="0" smtClean="0">
                <a:solidFill>
                  <a:srgbClr val="2E75B5"/>
                </a:solidFill>
                <a:latin typeface="Calibri" panose="020F0502020204030204" pitchFamily="34" charset="0"/>
              </a:rPr>
              <a:t>Curve </a:t>
            </a:r>
            <a:endParaRPr lang="en-US" sz="2400" dirty="0"/>
          </a:p>
        </p:txBody>
      </p:sp>
      <p:sp>
        <p:nvSpPr>
          <p:cNvPr id="7" name="Rectangle 6"/>
          <p:cNvSpPr/>
          <p:nvPr/>
        </p:nvSpPr>
        <p:spPr>
          <a:xfrm>
            <a:off x="594162" y="3327544"/>
            <a:ext cx="10915351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2E75B5"/>
                </a:solidFill>
                <a:latin typeface="Calibri" panose="020F0502020204030204" pitchFamily="34" charset="0"/>
              </a:rPr>
              <a:t> </a:t>
            </a:r>
            <a:r>
              <a:rPr lang="en-US" sz="2800" b="1" dirty="0" smtClean="0">
                <a:solidFill>
                  <a:srgbClr val="2E75B5"/>
                </a:solidFill>
                <a:latin typeface="Calibri" panose="020F0502020204030204" pitchFamily="34" charset="0"/>
              </a:rPr>
              <a:t> </a:t>
            </a:r>
            <a:r>
              <a:rPr lang="en-US" sz="2800" dirty="0" smtClean="0">
                <a:solidFill>
                  <a:srgbClr val="2E75B5"/>
                </a:solidFill>
                <a:latin typeface="Calibri" panose="020F0502020204030204" pitchFamily="34" charset="0"/>
              </a:rPr>
              <a:t>Fix a point P=(x</a:t>
            </a:r>
            <a:r>
              <a:rPr lang="en-US" sz="2800" baseline="-25000" dirty="0" smtClean="0">
                <a:solidFill>
                  <a:srgbClr val="2E75B5"/>
                </a:solidFill>
                <a:latin typeface="Calibri" panose="020F0502020204030204" pitchFamily="34" charset="0"/>
              </a:rPr>
              <a:t>0</a:t>
            </a:r>
            <a:r>
              <a:rPr lang="en-US" sz="2800" dirty="0" smtClean="0">
                <a:solidFill>
                  <a:srgbClr val="2E75B5"/>
                </a:solidFill>
                <a:latin typeface="Calibri" panose="020F0502020204030204" pitchFamily="34" charset="0"/>
              </a:rPr>
              <a:t>, y</a:t>
            </a:r>
            <a:r>
              <a:rPr lang="en-US" sz="2800" baseline="-25000" dirty="0" smtClean="0">
                <a:solidFill>
                  <a:srgbClr val="2E75B5"/>
                </a:solidFill>
                <a:latin typeface="Calibri" panose="020F0502020204030204" pitchFamily="34" charset="0"/>
              </a:rPr>
              <a:t>0</a:t>
            </a:r>
            <a:r>
              <a:rPr lang="en-US" sz="2800" dirty="0" smtClean="0">
                <a:solidFill>
                  <a:srgbClr val="2E75B5"/>
                </a:solidFill>
                <a:latin typeface="Calibri" panose="020F0502020204030204" pitchFamily="34" charset="0"/>
              </a:rPr>
              <a:t>) on the curve  (i.e., P satisfies the equation) </a:t>
            </a:r>
            <a:endParaRPr lang="en-US" sz="2800" dirty="0">
              <a:solidFill>
                <a:srgbClr val="2E75B5"/>
              </a:solidFill>
              <a:latin typeface="Calibri" panose="020F0502020204030204" pitchFamily="34" charset="0"/>
            </a:endParaRPr>
          </a:p>
          <a:p>
            <a:r>
              <a:rPr lang="en-US" sz="2800" dirty="0" smtClean="0">
                <a:solidFill>
                  <a:srgbClr val="2E75B5"/>
                </a:solidFill>
                <a:latin typeface="Calibri" panose="020F0502020204030204" pitchFamily="34" charset="0"/>
              </a:rPr>
              <a:t>  Public Key:   Q=d*P, a point on the curve.   </a:t>
            </a:r>
          </a:p>
          <a:p>
            <a:r>
              <a:rPr lang="en-US" sz="2800" dirty="0">
                <a:solidFill>
                  <a:srgbClr val="2E75B5"/>
                </a:solidFill>
                <a:latin typeface="Calibri" panose="020F0502020204030204" pitchFamily="34" charset="0"/>
              </a:rPr>
              <a:t> </a:t>
            </a:r>
            <a:r>
              <a:rPr lang="en-US" sz="2800" dirty="0" smtClean="0">
                <a:solidFill>
                  <a:srgbClr val="002060"/>
                </a:solidFill>
                <a:latin typeface="Calibri" panose="020F0502020204030204" pitchFamily="34" charset="0"/>
              </a:rPr>
              <a:t>(* is a magic operator </a:t>
            </a:r>
            <a:r>
              <a:rPr lang="en-US" sz="2800" dirty="0" err="1" smtClean="0">
                <a:solidFill>
                  <a:srgbClr val="002060"/>
                </a:solidFill>
                <a:latin typeface="Calibri" panose="020F0502020204030204" pitchFamily="34" charset="0"/>
              </a:rPr>
              <a:t>s.t.</a:t>
            </a:r>
            <a:r>
              <a:rPr lang="en-US" sz="2800" dirty="0" smtClean="0">
                <a:solidFill>
                  <a:srgbClr val="002060"/>
                </a:solidFill>
                <a:latin typeface="Calibri" panose="020F0502020204030204" pitchFamily="34" charset="0"/>
              </a:rPr>
              <a:t> it is hard to find d using P, Q)</a:t>
            </a:r>
            <a:r>
              <a:rPr lang="en-US" sz="2800" dirty="0" smtClean="0">
                <a:solidFill>
                  <a:srgbClr val="2E75B5"/>
                </a:solidFill>
                <a:latin typeface="Calibri" panose="020F0502020204030204" pitchFamily="34" charset="0"/>
              </a:rPr>
              <a:t>.  </a:t>
            </a:r>
          </a:p>
          <a:p>
            <a:r>
              <a:rPr lang="en-US" sz="2800" dirty="0">
                <a:solidFill>
                  <a:srgbClr val="2E75B5"/>
                </a:solidFill>
                <a:latin typeface="Calibri" panose="020F0502020204030204" pitchFamily="34" charset="0"/>
              </a:rPr>
              <a:t> </a:t>
            </a:r>
            <a:r>
              <a:rPr lang="en-US" sz="2800" dirty="0" smtClean="0">
                <a:solidFill>
                  <a:srgbClr val="2E75B5"/>
                </a:solidFill>
                <a:latin typeface="Calibri" panose="020F0502020204030204" pitchFamily="34" charset="0"/>
              </a:rPr>
              <a:t> private key:  d </a:t>
            </a:r>
            <a:endParaRPr lang="en-US" sz="28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0110" y="356160"/>
            <a:ext cx="3669403" cy="2896531"/>
          </a:xfrm>
          <a:prstGeom prst="rect">
            <a:avLst/>
          </a:prstGeom>
        </p:spPr>
      </p:pic>
      <p:cxnSp>
        <p:nvCxnSpPr>
          <p:cNvPr id="8" name="Straight Connector 7"/>
          <p:cNvCxnSpPr/>
          <p:nvPr/>
        </p:nvCxnSpPr>
        <p:spPr>
          <a:xfrm flipH="1">
            <a:off x="11012557" y="566530"/>
            <a:ext cx="29817" cy="283265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10933042" y="3180522"/>
            <a:ext cx="149087" cy="17684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1" name="TextBox 10"/>
          <p:cNvSpPr txBox="1"/>
          <p:nvPr/>
        </p:nvSpPr>
        <p:spPr>
          <a:xfrm>
            <a:off x="9939129" y="1117158"/>
            <a:ext cx="417444" cy="307777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en-CA" dirty="0" smtClean="0"/>
              <a:t>W</a:t>
            </a:r>
            <a:endParaRPr lang="en-CA" dirty="0"/>
          </a:p>
        </p:txBody>
      </p:sp>
      <p:sp>
        <p:nvSpPr>
          <p:cNvPr id="12" name="TextBox 11"/>
          <p:cNvSpPr txBox="1"/>
          <p:nvPr/>
        </p:nvSpPr>
        <p:spPr>
          <a:xfrm>
            <a:off x="11173899" y="3157991"/>
            <a:ext cx="459188" cy="307777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en-CA" dirty="0" smtClean="0"/>
              <a:t>S</a:t>
            </a:r>
            <a:endParaRPr lang="en-CA" dirty="0"/>
          </a:p>
        </p:txBody>
      </p:sp>
      <p:sp>
        <p:nvSpPr>
          <p:cNvPr id="13" name="TextBox 12"/>
          <p:cNvSpPr txBox="1"/>
          <p:nvPr/>
        </p:nvSpPr>
        <p:spPr>
          <a:xfrm>
            <a:off x="7921486" y="636105"/>
            <a:ext cx="15405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800" b="1" dirty="0" smtClean="0"/>
              <a:t>P+W=S</a:t>
            </a:r>
            <a:endParaRPr lang="en-CA" sz="1800" b="1" dirty="0"/>
          </a:p>
        </p:txBody>
      </p:sp>
    </p:spTree>
    <p:extLst>
      <p:ext uri="{BB962C8B-B14F-4D97-AF65-F5344CB8AC3E}">
        <p14:creationId xmlns:p14="http://schemas.microsoft.com/office/powerpoint/2010/main" val="22737274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Turn Public-Key </a:t>
            </a:r>
            <a:r>
              <a:rPr lang="en-US" dirty="0"/>
              <a:t>into Bitcoin Address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0540" y="1565303"/>
            <a:ext cx="8324193" cy="396085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95737" y="5864085"/>
            <a:ext cx="106448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400" b="1" dirty="0" smtClean="0"/>
              <a:t>Bitcoin address generation</a:t>
            </a:r>
            <a:r>
              <a:rPr lang="en-CA" sz="2400" dirty="0"/>
              <a:t>:   </a:t>
            </a:r>
            <a:r>
              <a:rPr lang="en-CA" sz="2400" dirty="0">
                <a:solidFill>
                  <a:srgbClr val="C00000"/>
                </a:solidFill>
              </a:rPr>
              <a:t>http://gobittest.appspot.com/Address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790" y="3103699"/>
            <a:ext cx="1933575" cy="809625"/>
          </a:xfrm>
          <a:prstGeom prst="rect">
            <a:avLst/>
          </a:prstGeom>
        </p:spPr>
      </p:pic>
      <p:cxnSp>
        <p:nvCxnSpPr>
          <p:cNvPr id="7" name="Straight Arrow Connector 6"/>
          <p:cNvCxnSpPr/>
          <p:nvPr/>
        </p:nvCxnSpPr>
        <p:spPr>
          <a:xfrm flipV="1">
            <a:off x="2643809" y="3558209"/>
            <a:ext cx="2295939" cy="39756"/>
          </a:xfrm>
          <a:prstGeom prst="straightConnector1">
            <a:avLst/>
          </a:prstGeom>
          <a:ln w="28575">
            <a:solidFill>
              <a:srgbClr val="FF0000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139605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35307"/>
            <a:ext cx="10515600" cy="1325563"/>
          </a:xfrm>
        </p:spPr>
        <p:txBody>
          <a:bodyPr/>
          <a:lstStyle/>
          <a:p>
            <a:pPr algn="ctr"/>
            <a:r>
              <a:rPr lang="en-CA" altLang="zh-CN" dirty="0" smtClean="0"/>
              <a:t>Generate keys and address from python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1697" y="1918259"/>
            <a:ext cx="9384817" cy="358584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74034" y="1341780"/>
            <a:ext cx="118375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400" b="1" dirty="0">
                <a:solidFill>
                  <a:schemeClr val="tx1"/>
                </a:solidFill>
              </a:rPr>
              <a:t>Bitcoin </a:t>
            </a:r>
            <a:r>
              <a:rPr lang="en-CA" sz="2400" b="1" dirty="0" smtClean="0">
                <a:solidFill>
                  <a:schemeClr val="tx1"/>
                </a:solidFill>
              </a:rPr>
              <a:t>programming documentation</a:t>
            </a:r>
            <a:r>
              <a:rPr lang="en-CA" sz="2400" dirty="0" smtClean="0"/>
              <a:t>:     </a:t>
            </a:r>
            <a:r>
              <a:rPr lang="en-CA" sz="1200" b="1" dirty="0" smtClean="0"/>
              <a:t>https</a:t>
            </a:r>
            <a:r>
              <a:rPr lang="en-CA" sz="1200" b="1" dirty="0"/>
              <a:t>://bitcoin-boh.readthedocs.io/en/latest/bitcoin.html</a:t>
            </a:r>
            <a:endParaRPr lang="en-CA" sz="2400" b="1" dirty="0"/>
          </a:p>
        </p:txBody>
      </p:sp>
      <p:cxnSp>
        <p:nvCxnSpPr>
          <p:cNvPr id="7" name="Straight Arrow Connector 6"/>
          <p:cNvCxnSpPr/>
          <p:nvPr/>
        </p:nvCxnSpPr>
        <p:spPr>
          <a:xfrm flipH="1">
            <a:off x="9153939" y="3711179"/>
            <a:ext cx="1043609" cy="2545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0366514" y="3528391"/>
            <a:ext cx="16896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 smtClean="0"/>
              <a:t>32 byte secret</a:t>
            </a:r>
            <a:endParaRPr lang="en-CA" dirty="0"/>
          </a:p>
        </p:txBody>
      </p:sp>
      <p:cxnSp>
        <p:nvCxnSpPr>
          <p:cNvPr id="10" name="Straight Arrow Connector 9"/>
          <p:cNvCxnSpPr/>
          <p:nvPr/>
        </p:nvCxnSpPr>
        <p:spPr>
          <a:xfrm flipH="1" flipV="1">
            <a:off x="4204252" y="5367130"/>
            <a:ext cx="904461" cy="9044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168350" y="6062870"/>
            <a:ext cx="43732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000" dirty="0" smtClean="0"/>
              <a:t>object holding your bitcoin address</a:t>
            </a:r>
            <a:endParaRPr lang="en-CA" sz="2000" dirty="0"/>
          </a:p>
        </p:txBody>
      </p:sp>
      <p:cxnSp>
        <p:nvCxnSpPr>
          <p:cNvPr id="13" name="Straight Arrow Connector 12"/>
          <p:cNvCxnSpPr/>
          <p:nvPr/>
        </p:nvCxnSpPr>
        <p:spPr>
          <a:xfrm flipH="1">
            <a:off x="4442791" y="3289852"/>
            <a:ext cx="665922" cy="795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201482" y="3124204"/>
            <a:ext cx="43732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000" dirty="0" smtClean="0"/>
              <a:t>Indicate address starts with 6F</a:t>
            </a:r>
            <a:endParaRPr lang="en-CA" sz="2000" dirty="0"/>
          </a:p>
        </p:txBody>
      </p:sp>
      <p:sp>
        <p:nvSpPr>
          <p:cNvPr id="15" name="TextBox 14"/>
          <p:cNvSpPr txBox="1"/>
          <p:nvPr/>
        </p:nvSpPr>
        <p:spPr>
          <a:xfrm>
            <a:off x="9143998" y="1808930"/>
            <a:ext cx="16995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800" b="1" dirty="0" smtClean="0">
                <a:solidFill>
                  <a:srgbClr val="00B050"/>
                </a:solidFill>
              </a:rPr>
              <a:t>keygen.py</a:t>
            </a:r>
            <a:endParaRPr lang="en-CA" sz="1800" b="1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673148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929730" cy="1325563"/>
          </a:xfrm>
        </p:spPr>
        <p:txBody>
          <a:bodyPr/>
          <a:lstStyle/>
          <a:p>
            <a:r>
              <a:rPr lang="en-US" dirty="0" smtClean="0"/>
              <a:t>obtain test bitcoins via transaction from faucet 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974034" y="1590261"/>
            <a:ext cx="1063486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400" dirty="0" smtClean="0"/>
              <a:t> Go to </a:t>
            </a:r>
            <a:r>
              <a:rPr lang="en-CA" sz="2000" b="1" dirty="0"/>
              <a:t>https://testnet.help/en/btcfaucet/testnet </a:t>
            </a:r>
            <a:endParaRPr lang="en-CA" sz="24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2400" dirty="0"/>
              <a:t> </a:t>
            </a:r>
            <a:r>
              <a:rPr lang="en-CA" sz="2400" dirty="0" smtClean="0"/>
              <a:t>paste your </a:t>
            </a:r>
            <a:r>
              <a:rPr lang="en-CA" sz="2400" dirty="0" err="1" smtClean="0"/>
              <a:t>bitcoinaddress</a:t>
            </a:r>
            <a:r>
              <a:rPr lang="en-CA" sz="2400" dirty="0" smtClean="0"/>
              <a:t> generated by keygen.py (</a:t>
            </a:r>
            <a:r>
              <a:rPr lang="en-CA" sz="1800" dirty="0" smtClean="0">
                <a:solidFill>
                  <a:srgbClr val="FF0000"/>
                </a:solidFill>
              </a:rPr>
              <a:t>limit to one time per hour</a:t>
            </a:r>
            <a:r>
              <a:rPr lang="en-CA" sz="2400" dirty="0" smtClean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2400" dirty="0" smtClean="0"/>
              <a:t> You address will receive some bitcoin (to be confirmed in a few </a:t>
            </a:r>
            <a:r>
              <a:rPr lang="en-CA" sz="2400" dirty="0" err="1" smtClean="0"/>
              <a:t>minuates</a:t>
            </a:r>
            <a:r>
              <a:rPr lang="en-CA" sz="2400" dirty="0" smtClean="0"/>
              <a:t>).</a:t>
            </a:r>
          </a:p>
          <a:p>
            <a:r>
              <a:rPr lang="en-CA" sz="2400" dirty="0" smtClean="0"/>
              <a:t>     (see your transaction at </a:t>
            </a:r>
            <a:r>
              <a:rPr lang="en-CA" sz="2400" b="1" dirty="0" smtClean="0"/>
              <a:t>live.blockcypher.com</a:t>
            </a:r>
            <a:r>
              <a:rPr lang="en-CA" sz="2400" dirty="0" smtClean="0"/>
              <a:t>) </a:t>
            </a:r>
            <a:endParaRPr lang="en-CA" sz="24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9224" y="3210959"/>
            <a:ext cx="9813028" cy="34575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77687" y="5635487"/>
            <a:ext cx="19182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 dirty="0" smtClean="0"/>
              <a:t>Sender Address</a:t>
            </a:r>
            <a:endParaRPr lang="en-CA" b="1" dirty="0"/>
          </a:p>
        </p:txBody>
      </p:sp>
      <p:cxnSp>
        <p:nvCxnSpPr>
          <p:cNvPr id="9" name="Straight Arrow Connector 8"/>
          <p:cNvCxnSpPr/>
          <p:nvPr/>
        </p:nvCxnSpPr>
        <p:spPr>
          <a:xfrm flipV="1">
            <a:off x="1918252" y="5068957"/>
            <a:ext cx="655983" cy="705678"/>
          </a:xfrm>
          <a:prstGeom prst="straightConnector1">
            <a:avLst/>
          </a:prstGeom>
          <a:ln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0389675" y="5479775"/>
            <a:ext cx="19182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 dirty="0" smtClean="0"/>
              <a:t>receiver Address</a:t>
            </a:r>
            <a:endParaRPr lang="en-CA" b="1" dirty="0"/>
          </a:p>
        </p:txBody>
      </p:sp>
      <p:cxnSp>
        <p:nvCxnSpPr>
          <p:cNvPr id="13" name="Straight Arrow Connector 12"/>
          <p:cNvCxnSpPr/>
          <p:nvPr/>
        </p:nvCxnSpPr>
        <p:spPr>
          <a:xfrm flipH="1" flipV="1">
            <a:off x="10386391" y="5178287"/>
            <a:ext cx="318052" cy="318052"/>
          </a:xfrm>
          <a:prstGeom prst="straightConnector1">
            <a:avLst/>
          </a:prstGeom>
          <a:ln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 flipH="1">
            <a:off x="10667971" y="5774635"/>
            <a:ext cx="175620" cy="278295"/>
          </a:xfrm>
          <a:prstGeom prst="straightConnector1">
            <a:avLst/>
          </a:prstGeom>
          <a:ln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9263271" y="2932045"/>
            <a:ext cx="15505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 dirty="0" smtClean="0"/>
              <a:t>Transaction ID</a:t>
            </a:r>
            <a:endParaRPr lang="en-CA" b="1" dirty="0"/>
          </a:p>
        </p:txBody>
      </p:sp>
      <p:cxnSp>
        <p:nvCxnSpPr>
          <p:cNvPr id="18" name="Straight Arrow Connector 17"/>
          <p:cNvCxnSpPr/>
          <p:nvPr/>
        </p:nvCxnSpPr>
        <p:spPr>
          <a:xfrm flipH="1">
            <a:off x="8786191" y="3138722"/>
            <a:ext cx="487018" cy="292621"/>
          </a:xfrm>
          <a:prstGeom prst="straightConnector1">
            <a:avLst/>
          </a:prstGeom>
          <a:ln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281901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Transaction </a:t>
            </a:r>
            <a:r>
              <a:rPr lang="en-US" dirty="0" err="1" smtClean="0"/>
              <a:t>tx</a:t>
            </a:r>
            <a:r>
              <a:rPr lang="en-US" dirty="0" smtClean="0"/>
              <a:t>: example 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8938" y="2029688"/>
            <a:ext cx="8640381" cy="367716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023412" y="5136776"/>
            <a:ext cx="9012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Changes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08811" y="5934635"/>
            <a:ext cx="71160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1" dirty="0">
                <a:solidFill>
                  <a:srgbClr val="FF0000"/>
                </a:solidFill>
              </a:rPr>
              <a:t>Transaction fee </a:t>
            </a:r>
            <a:r>
              <a:rPr lang="en-US" sz="1800" dirty="0"/>
              <a:t>= (2 + 1.5) – (2.5 + 0.5 + 0.49997) =  0.00003 BTC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32651" y="5128590"/>
            <a:ext cx="8945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 smtClean="0"/>
              <a:t>to </a:t>
            </a:r>
            <a:r>
              <a:rPr lang="en-CA" dirty="0" err="1" smtClean="0"/>
              <a:t>alice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7708658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"/>
            <a:ext cx="11353800" cy="1690688"/>
          </a:xfrm>
        </p:spPr>
        <p:txBody>
          <a:bodyPr/>
          <a:lstStyle/>
          <a:p>
            <a:r>
              <a:rPr lang="en-US" dirty="0" smtClean="0"/>
              <a:t>General Transaction format</a:t>
            </a:r>
            <a:r>
              <a:rPr lang="en-CA" sz="2400" dirty="0" smtClean="0"/>
              <a:t>(https</a:t>
            </a:r>
            <a:r>
              <a:rPr lang="en-CA" sz="2400" dirty="0"/>
              <a:t>://</a:t>
            </a:r>
            <a:r>
              <a:rPr lang="en-CA" sz="2400" dirty="0" smtClean="0"/>
              <a:t>en.bitcoin.it/wiki/Transaction)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8055" y="1381535"/>
            <a:ext cx="10069875" cy="4452736"/>
          </a:xfrm>
          <a:prstGeom prst="rect">
            <a:avLst/>
          </a:prstGeom>
        </p:spPr>
      </p:pic>
      <p:sp>
        <p:nvSpPr>
          <p:cNvPr id="5" name="Left Brace 4"/>
          <p:cNvSpPr/>
          <p:nvPr/>
        </p:nvSpPr>
        <p:spPr>
          <a:xfrm>
            <a:off x="838200" y="1461052"/>
            <a:ext cx="752061" cy="4373219"/>
          </a:xfrm>
          <a:prstGeom prst="leftBrac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7" name="TextBox 6"/>
          <p:cNvSpPr txBox="1"/>
          <p:nvPr/>
        </p:nvSpPr>
        <p:spPr>
          <a:xfrm>
            <a:off x="228602" y="3240156"/>
            <a:ext cx="7553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 dirty="0" err="1" smtClean="0"/>
              <a:t>txID</a:t>
            </a:r>
            <a:r>
              <a:rPr lang="en-CA" b="1" dirty="0" smtClean="0"/>
              <a:t>=</a:t>
            </a:r>
          </a:p>
          <a:p>
            <a:r>
              <a:rPr lang="en-CA" b="1" dirty="0" smtClean="0"/>
              <a:t>Hash</a:t>
            </a:r>
            <a:endParaRPr lang="en-CA" b="1" dirty="0"/>
          </a:p>
        </p:txBody>
      </p:sp>
      <p:sp>
        <p:nvSpPr>
          <p:cNvPr id="8" name="TextBox 7"/>
          <p:cNvSpPr txBox="1"/>
          <p:nvPr/>
        </p:nvSpPr>
        <p:spPr>
          <a:xfrm>
            <a:off x="715615" y="6122506"/>
            <a:ext cx="104360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400" dirty="0" smtClean="0"/>
              <a:t>Transaction-ID    </a:t>
            </a:r>
            <a:r>
              <a:rPr lang="en-CA" sz="2400" b="1" dirty="0" err="1" smtClean="0"/>
              <a:t>txID</a:t>
            </a:r>
            <a:r>
              <a:rPr lang="en-CA" sz="2400" dirty="0" smtClean="0"/>
              <a:t>= </a:t>
            </a:r>
            <a:r>
              <a:rPr lang="en-CA" sz="2400" dirty="0" smtClean="0">
                <a:solidFill>
                  <a:srgbClr val="FF0000"/>
                </a:solidFill>
              </a:rPr>
              <a:t>SHA256</a:t>
            </a:r>
            <a:r>
              <a:rPr lang="en-CA" sz="2400" dirty="0" smtClean="0"/>
              <a:t> (</a:t>
            </a:r>
            <a:r>
              <a:rPr lang="en-CA" sz="2400" b="1" dirty="0" smtClean="0"/>
              <a:t>SHA256 </a:t>
            </a:r>
            <a:r>
              <a:rPr lang="en-CA" sz="2400" dirty="0" smtClean="0"/>
              <a:t>(</a:t>
            </a:r>
            <a:r>
              <a:rPr lang="en-CA" sz="2400" dirty="0" smtClean="0">
                <a:solidFill>
                  <a:srgbClr val="0070C0"/>
                </a:solidFill>
              </a:rPr>
              <a:t>the whole transaction data</a:t>
            </a:r>
            <a:r>
              <a:rPr lang="en-CA" sz="2400" dirty="0" smtClean="0"/>
              <a:t>))</a:t>
            </a:r>
            <a:endParaRPr lang="en-CA" sz="2400" dirty="0"/>
          </a:p>
        </p:txBody>
      </p:sp>
    </p:spTree>
    <p:extLst>
      <p:ext uri="{BB962C8B-B14F-4D97-AF65-F5344CB8AC3E}">
        <p14:creationId xmlns:p14="http://schemas.microsoft.com/office/powerpoint/2010/main" val="42881776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8383" y="-109329"/>
            <a:ext cx="10929730" cy="817632"/>
          </a:xfrm>
        </p:spPr>
        <p:txBody>
          <a:bodyPr/>
          <a:lstStyle/>
          <a:p>
            <a:pPr algn="ctr"/>
            <a:r>
              <a:rPr lang="en-US" sz="3600" b="1" dirty="0" smtClean="0"/>
              <a:t>Input and output in a transaction </a:t>
            </a:r>
            <a:endParaRPr lang="en-US" sz="3600" b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421" y="537542"/>
            <a:ext cx="11255030" cy="632045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309116" y="1938137"/>
            <a:ext cx="24549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 dirty="0" smtClean="0"/>
              <a:t>mainly digital signature </a:t>
            </a:r>
            <a:endParaRPr lang="en-CA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7894985" y="5708380"/>
            <a:ext cx="28690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 dirty="0" smtClean="0"/>
              <a:t>, mainly signature public key</a:t>
            </a:r>
            <a:endParaRPr lang="en-CA" b="1" dirty="0"/>
          </a:p>
        </p:txBody>
      </p:sp>
      <p:sp>
        <p:nvSpPr>
          <p:cNvPr id="11" name="TextBox 10"/>
          <p:cNvSpPr txBox="1"/>
          <p:nvPr/>
        </p:nvSpPr>
        <p:spPr>
          <a:xfrm>
            <a:off x="8471455" y="4843671"/>
            <a:ext cx="29187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 dirty="0" smtClean="0"/>
              <a:t>in Satoshi   (1BTC=10</a:t>
            </a:r>
            <a:r>
              <a:rPr lang="en-CA" b="1" baseline="30000" dirty="0" smtClean="0"/>
              <a:t>8</a:t>
            </a:r>
            <a:r>
              <a:rPr lang="en-CA" b="1" dirty="0" smtClean="0"/>
              <a:t> Satoshi)</a:t>
            </a:r>
            <a:endParaRPr lang="en-CA" b="1" dirty="0"/>
          </a:p>
        </p:txBody>
      </p:sp>
      <p:sp>
        <p:nvSpPr>
          <p:cNvPr id="4" name="TextBox 3"/>
          <p:cNvSpPr txBox="1"/>
          <p:nvPr/>
        </p:nvSpPr>
        <p:spPr>
          <a:xfrm>
            <a:off x="2474843" y="1789052"/>
            <a:ext cx="556593" cy="298165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CA" dirty="0"/>
          </a:p>
        </p:txBody>
      </p:sp>
      <p:sp>
        <p:nvSpPr>
          <p:cNvPr id="9" name="TextBox 8"/>
          <p:cNvSpPr txBox="1"/>
          <p:nvPr/>
        </p:nvSpPr>
        <p:spPr>
          <a:xfrm>
            <a:off x="5141833" y="1798991"/>
            <a:ext cx="344567" cy="311419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CA" dirty="0"/>
          </a:p>
        </p:txBody>
      </p:sp>
      <p:sp>
        <p:nvSpPr>
          <p:cNvPr id="6" name="TextBox 5"/>
          <p:cNvSpPr txBox="1"/>
          <p:nvPr/>
        </p:nvSpPr>
        <p:spPr>
          <a:xfrm>
            <a:off x="2852531" y="2176341"/>
            <a:ext cx="33097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 smtClean="0"/>
              <a:t>Tell interpreter to put 47 bytes to stack</a:t>
            </a:r>
            <a:endParaRPr lang="en-CA" dirty="0"/>
          </a:p>
        </p:txBody>
      </p:sp>
      <p:cxnSp>
        <p:nvCxnSpPr>
          <p:cNvPr id="12" name="Straight Arrow Connector 11"/>
          <p:cNvCxnSpPr>
            <a:stCxn id="6" idx="1"/>
          </p:cNvCxnSpPr>
          <p:nvPr/>
        </p:nvCxnSpPr>
        <p:spPr>
          <a:xfrm flipH="1" flipV="1">
            <a:off x="2753139" y="2110410"/>
            <a:ext cx="99392" cy="21982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388768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-32437"/>
            <a:ext cx="10959548" cy="1314588"/>
          </a:xfrm>
        </p:spPr>
        <p:txBody>
          <a:bodyPr/>
          <a:lstStyle/>
          <a:p>
            <a:r>
              <a:rPr lang="en-US" sz="3600" b="1" dirty="0" smtClean="0"/>
              <a:t>Locking/Unlocking Script:  how to use bitcoins to pay?</a:t>
            </a:r>
            <a:endParaRPr lang="en-US" sz="3600" b="1" dirty="0"/>
          </a:p>
        </p:txBody>
      </p:sp>
      <p:sp>
        <p:nvSpPr>
          <p:cNvPr id="3" name="Rounded Rectangle 2"/>
          <p:cNvSpPr/>
          <p:nvPr/>
        </p:nvSpPr>
        <p:spPr>
          <a:xfrm>
            <a:off x="1192696" y="1152940"/>
            <a:ext cx="5108713" cy="211091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5" name="TextBox 4"/>
          <p:cNvSpPr txBox="1"/>
          <p:nvPr/>
        </p:nvSpPr>
        <p:spPr>
          <a:xfrm>
            <a:off x="2117035" y="1113184"/>
            <a:ext cx="31606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400" b="1" dirty="0" smtClean="0"/>
              <a:t>Transaction  txID1</a:t>
            </a:r>
            <a:endParaRPr lang="en-CA" sz="2400" b="1" dirty="0"/>
          </a:p>
        </p:txBody>
      </p:sp>
      <p:sp>
        <p:nvSpPr>
          <p:cNvPr id="6" name="TextBox 5"/>
          <p:cNvSpPr txBox="1"/>
          <p:nvPr/>
        </p:nvSpPr>
        <p:spPr>
          <a:xfrm>
            <a:off x="1540565" y="2017644"/>
            <a:ext cx="854765" cy="461665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sz="2400" dirty="0" smtClean="0"/>
              <a:t>in</a:t>
            </a:r>
            <a:endParaRPr lang="en-CA" sz="2400" dirty="0"/>
          </a:p>
        </p:txBody>
      </p:sp>
      <p:sp>
        <p:nvSpPr>
          <p:cNvPr id="7" name="TextBox 6"/>
          <p:cNvSpPr txBox="1"/>
          <p:nvPr/>
        </p:nvSpPr>
        <p:spPr>
          <a:xfrm>
            <a:off x="3498573" y="1709536"/>
            <a:ext cx="2170045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CA" sz="1800" b="1" dirty="0" smtClean="0"/>
              <a:t>Out 0</a:t>
            </a:r>
            <a:r>
              <a:rPr lang="en-CA" sz="1800" dirty="0" smtClean="0"/>
              <a:t> (for Alice) </a:t>
            </a:r>
          </a:p>
          <a:p>
            <a:r>
              <a:rPr lang="en-CA" sz="1800" dirty="0" smtClean="0"/>
              <a:t>(</a:t>
            </a:r>
            <a:r>
              <a:rPr lang="en-CA" sz="1800" b="1" dirty="0" smtClean="0">
                <a:solidFill>
                  <a:srgbClr val="FF0000"/>
                </a:solidFill>
              </a:rPr>
              <a:t>locking script 0</a:t>
            </a:r>
            <a:r>
              <a:rPr lang="en-CA" sz="1800" dirty="0" smtClean="0"/>
              <a:t>)  </a:t>
            </a:r>
            <a:endParaRPr lang="en-CA" sz="1800" dirty="0"/>
          </a:p>
        </p:txBody>
      </p:sp>
      <p:sp>
        <p:nvSpPr>
          <p:cNvPr id="8" name="TextBox 7"/>
          <p:cNvSpPr txBox="1"/>
          <p:nvPr/>
        </p:nvSpPr>
        <p:spPr>
          <a:xfrm>
            <a:off x="3528392" y="2498038"/>
            <a:ext cx="2110410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CA" sz="1800" b="1" dirty="0" smtClean="0"/>
              <a:t>Out 1</a:t>
            </a:r>
            <a:r>
              <a:rPr lang="en-CA" sz="1800" dirty="0" smtClean="0"/>
              <a:t> (for Bob) </a:t>
            </a:r>
          </a:p>
          <a:p>
            <a:r>
              <a:rPr lang="en-CA" sz="1800" dirty="0" smtClean="0"/>
              <a:t>(</a:t>
            </a:r>
            <a:r>
              <a:rPr lang="en-CA" sz="1800" b="1" dirty="0" smtClean="0">
                <a:solidFill>
                  <a:srgbClr val="FF0000"/>
                </a:solidFill>
              </a:rPr>
              <a:t>locking script 1</a:t>
            </a:r>
            <a:r>
              <a:rPr lang="en-CA" sz="1800" dirty="0" smtClean="0"/>
              <a:t>)  </a:t>
            </a:r>
            <a:endParaRPr lang="en-CA" sz="1800" dirty="0"/>
          </a:p>
        </p:txBody>
      </p:sp>
      <p:cxnSp>
        <p:nvCxnSpPr>
          <p:cNvPr id="10" name="Straight Arrow Connector 9"/>
          <p:cNvCxnSpPr/>
          <p:nvPr/>
        </p:nvCxnSpPr>
        <p:spPr>
          <a:xfrm flipH="1">
            <a:off x="5436704" y="2673626"/>
            <a:ext cx="1779105" cy="308113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215809" y="2063526"/>
            <a:ext cx="482047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400" b="1" dirty="0" smtClean="0"/>
              <a:t>mainly Bob’s public key:   </a:t>
            </a:r>
          </a:p>
          <a:p>
            <a:r>
              <a:rPr lang="en-CA" sz="2400" dirty="0" smtClean="0">
                <a:solidFill>
                  <a:srgbClr val="7030A0"/>
                </a:solidFill>
              </a:rPr>
              <a:t>whoever can provide signature consistent with locking script, can use BTC in out 1. </a:t>
            </a:r>
            <a:endParaRPr lang="en-CA" sz="2400" dirty="0">
              <a:solidFill>
                <a:srgbClr val="7030A0"/>
              </a:solidFill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1192696" y="3747342"/>
            <a:ext cx="9279832" cy="1895066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3" name="TextBox 12"/>
          <p:cNvSpPr txBox="1"/>
          <p:nvPr/>
        </p:nvSpPr>
        <p:spPr>
          <a:xfrm>
            <a:off x="2070655" y="3700666"/>
            <a:ext cx="31606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400" b="1" dirty="0" smtClean="0"/>
              <a:t>Transaction  txID2</a:t>
            </a:r>
            <a:endParaRPr lang="en-CA" sz="2400" b="1" dirty="0"/>
          </a:p>
        </p:txBody>
      </p:sp>
      <p:sp>
        <p:nvSpPr>
          <p:cNvPr id="14" name="TextBox 13"/>
          <p:cNvSpPr txBox="1"/>
          <p:nvPr/>
        </p:nvSpPr>
        <p:spPr>
          <a:xfrm>
            <a:off x="1494185" y="4605126"/>
            <a:ext cx="5970102" cy="830997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en-CA" sz="2400" dirty="0" smtClean="0"/>
              <a:t>In:  </a:t>
            </a:r>
            <a:r>
              <a:rPr lang="en-CA" sz="2400" b="1" dirty="0" smtClean="0">
                <a:solidFill>
                  <a:schemeClr val="accent1">
                    <a:lumMod val="75000"/>
                  </a:schemeClr>
                </a:solidFill>
              </a:rPr>
              <a:t>txID1</a:t>
            </a:r>
            <a:r>
              <a:rPr lang="en-CA" sz="2400" dirty="0" smtClean="0"/>
              <a:t>, index=1</a:t>
            </a:r>
          </a:p>
          <a:p>
            <a:r>
              <a:rPr lang="en-CA" sz="2400" dirty="0" err="1" smtClean="0"/>
              <a:t>unlocking_script_bob</a:t>
            </a:r>
            <a:r>
              <a:rPr lang="en-CA" sz="2400" dirty="0" smtClean="0"/>
              <a:t> </a:t>
            </a:r>
            <a:endParaRPr lang="en-CA" sz="2400" dirty="0"/>
          </a:p>
        </p:txBody>
      </p:sp>
      <p:sp>
        <p:nvSpPr>
          <p:cNvPr id="15" name="TextBox 14"/>
          <p:cNvSpPr txBox="1"/>
          <p:nvPr/>
        </p:nvSpPr>
        <p:spPr>
          <a:xfrm>
            <a:off x="8431685" y="4267203"/>
            <a:ext cx="1805605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CA" sz="1800" b="1" dirty="0" smtClean="0"/>
              <a:t>Out</a:t>
            </a:r>
            <a:r>
              <a:rPr lang="en-CA" sz="1800" dirty="0" smtClean="0"/>
              <a:t> (for Tony)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32612" y="4045230"/>
            <a:ext cx="15521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 dirty="0" smtClean="0"/>
              <a:t>Bob’s signature</a:t>
            </a:r>
            <a:endParaRPr lang="en-CA" b="1" dirty="0"/>
          </a:p>
        </p:txBody>
      </p:sp>
      <p:cxnSp>
        <p:nvCxnSpPr>
          <p:cNvPr id="19" name="Straight Arrow Connector 18"/>
          <p:cNvCxnSpPr/>
          <p:nvPr/>
        </p:nvCxnSpPr>
        <p:spPr>
          <a:xfrm flipH="1">
            <a:off x="4583595" y="4373214"/>
            <a:ext cx="1249017" cy="904464"/>
          </a:xfrm>
          <a:prstGeom prst="straightConnector1">
            <a:avLst/>
          </a:prstGeom>
          <a:ln w="28575"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974034" y="5943600"/>
            <a:ext cx="1024724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400" b="1" dirty="0" smtClean="0"/>
              <a:t>Tony</a:t>
            </a:r>
            <a:r>
              <a:rPr lang="en-CA" sz="2400" dirty="0" smtClean="0"/>
              <a:t> has to verify (</a:t>
            </a:r>
            <a:r>
              <a:rPr lang="en-CA" sz="2400" dirty="0" err="1" smtClean="0"/>
              <a:t>unlocking_script_bob</a:t>
            </a:r>
            <a:r>
              <a:rPr lang="en-CA" sz="2400" dirty="0" smtClean="0"/>
              <a:t>, locking_script_1) consistent </a:t>
            </a:r>
          </a:p>
          <a:p>
            <a:r>
              <a:rPr lang="en-CA" sz="2400" dirty="0" smtClean="0"/>
              <a:t>i.e., </a:t>
            </a:r>
            <a:r>
              <a:rPr lang="en-CA" sz="2400" dirty="0" err="1" smtClean="0"/>
              <a:t>unlocking_script_bob</a:t>
            </a:r>
            <a:r>
              <a:rPr lang="en-CA" sz="2400" dirty="0" smtClean="0"/>
              <a:t> is a signature of Bob. </a:t>
            </a:r>
            <a:endParaRPr lang="en-CA" sz="2400" dirty="0"/>
          </a:p>
        </p:txBody>
      </p:sp>
    </p:spTree>
    <p:extLst>
      <p:ext uri="{BB962C8B-B14F-4D97-AF65-F5344CB8AC3E}">
        <p14:creationId xmlns:p14="http://schemas.microsoft.com/office/powerpoint/2010/main" val="37713111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/>
      <p:bldP spid="14" grpId="0" animBg="1"/>
      <p:bldP spid="15" grpId="0" animBg="1"/>
      <p:bldP spid="17" grpId="0"/>
      <p:bldP spid="20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1138452" cy="1325563"/>
          </a:xfrm>
        </p:spPr>
        <p:txBody>
          <a:bodyPr/>
          <a:lstStyle/>
          <a:p>
            <a:r>
              <a:rPr lang="en-US" dirty="0"/>
              <a:t>Pay-to-</a:t>
            </a:r>
            <a:r>
              <a:rPr lang="en-US" dirty="0" err="1"/>
              <a:t>PubKey</a:t>
            </a:r>
            <a:r>
              <a:rPr lang="en-US" dirty="0"/>
              <a:t>-Hash (</a:t>
            </a:r>
            <a:r>
              <a:rPr lang="en-US" dirty="0" smtClean="0"/>
              <a:t>P2PKH): </a:t>
            </a:r>
            <a:r>
              <a:rPr lang="en-US" sz="2400" dirty="0" smtClean="0"/>
              <a:t>popular locking/unlocking script 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083365" y="1858617"/>
            <a:ext cx="111815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400" b="1" dirty="0" smtClean="0">
                <a:solidFill>
                  <a:schemeClr val="accent1">
                    <a:lumMod val="75000"/>
                  </a:schemeClr>
                </a:solidFill>
              </a:rPr>
              <a:t>LockingScript1</a:t>
            </a:r>
            <a:r>
              <a:rPr lang="en-CA" sz="2400" dirty="0" smtClean="0"/>
              <a:t> at </a:t>
            </a:r>
            <a:r>
              <a:rPr lang="en-CA" sz="2400" b="1" dirty="0" smtClean="0"/>
              <a:t>txID1</a:t>
            </a:r>
            <a:r>
              <a:rPr lang="en-CA" sz="2400" dirty="0" smtClean="0"/>
              <a:t>:</a:t>
            </a:r>
          </a:p>
          <a:p>
            <a:r>
              <a:rPr lang="en-CA" sz="2400" dirty="0" smtClean="0">
                <a:solidFill>
                  <a:srgbClr val="00B0F0"/>
                </a:solidFill>
              </a:rPr>
              <a:t>OP_DUP  OP_HASH160  &lt;</a:t>
            </a:r>
            <a:r>
              <a:rPr lang="en-CA" sz="2400" dirty="0" err="1" smtClean="0">
                <a:solidFill>
                  <a:srgbClr val="00B0F0"/>
                </a:solidFill>
              </a:rPr>
              <a:t>PubKeyHash</a:t>
            </a:r>
            <a:r>
              <a:rPr lang="en-CA" sz="2400" dirty="0" smtClean="0">
                <a:solidFill>
                  <a:srgbClr val="00B0F0"/>
                </a:solidFill>
              </a:rPr>
              <a:t>&gt;  OP_EQUALVERIFY OP_CHECKSIG</a:t>
            </a:r>
            <a:endParaRPr lang="en-CA" sz="2400" dirty="0">
              <a:solidFill>
                <a:srgbClr val="00B0F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96619" y="2915478"/>
            <a:ext cx="1076407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400" b="1" dirty="0" err="1" smtClean="0">
                <a:solidFill>
                  <a:schemeClr val="accent1">
                    <a:lumMod val="75000"/>
                  </a:schemeClr>
                </a:solidFill>
              </a:rPr>
              <a:t>Unlocking_Script_Bob</a:t>
            </a:r>
            <a:r>
              <a:rPr lang="en-CA" sz="2400" dirty="0" smtClean="0"/>
              <a:t> at </a:t>
            </a:r>
            <a:r>
              <a:rPr lang="en-CA" sz="2400" b="1" dirty="0" smtClean="0"/>
              <a:t>txID2</a:t>
            </a:r>
            <a:r>
              <a:rPr lang="en-CA" sz="2400" dirty="0" smtClean="0"/>
              <a:t>:</a:t>
            </a:r>
          </a:p>
          <a:p>
            <a:r>
              <a:rPr lang="en-CA" sz="2400" dirty="0" smtClean="0">
                <a:solidFill>
                  <a:srgbClr val="FF0000"/>
                </a:solidFill>
              </a:rPr>
              <a:t>&lt;signature&gt; &lt;public key&gt;</a:t>
            </a:r>
            <a:endParaRPr lang="en-CA" sz="2400" dirty="0">
              <a:solidFill>
                <a:srgbClr val="FF000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76741" y="3859691"/>
            <a:ext cx="1076407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400" dirty="0" smtClean="0">
                <a:solidFill>
                  <a:schemeClr val="tx1"/>
                </a:solidFill>
              </a:rPr>
              <a:t>To validate txID2</a:t>
            </a:r>
            <a:r>
              <a:rPr lang="en-CA" sz="2400" b="1" dirty="0" smtClean="0">
                <a:solidFill>
                  <a:schemeClr val="accent1">
                    <a:lumMod val="75000"/>
                  </a:schemeClr>
                </a:solidFill>
              </a:rPr>
              <a:t>, Tony</a:t>
            </a:r>
            <a:r>
              <a:rPr lang="en-CA" sz="2400" dirty="0" smtClean="0"/>
              <a:t> will put them together and verify on </a:t>
            </a:r>
            <a:r>
              <a:rPr lang="en-CA" sz="2400" b="1" dirty="0" smtClean="0"/>
              <a:t>the stack</a:t>
            </a:r>
            <a:r>
              <a:rPr lang="en-CA" sz="2400" dirty="0" smtClean="0"/>
              <a:t>:</a:t>
            </a:r>
          </a:p>
          <a:p>
            <a:r>
              <a:rPr lang="en-CA" sz="2400" dirty="0" smtClean="0">
                <a:solidFill>
                  <a:srgbClr val="FF0000"/>
                </a:solidFill>
              </a:rPr>
              <a:t>&lt;signature&gt;&lt;public key&gt;</a:t>
            </a:r>
            <a:r>
              <a:rPr lang="en-CA" sz="2400" dirty="0" smtClean="0"/>
              <a:t>  </a:t>
            </a:r>
            <a:r>
              <a:rPr lang="en-CA" sz="2400" dirty="0" smtClean="0">
                <a:solidFill>
                  <a:srgbClr val="00B0F0"/>
                </a:solidFill>
              </a:rPr>
              <a:t>OP_DUP  OP_HASH160  &lt;</a:t>
            </a:r>
            <a:r>
              <a:rPr lang="en-CA" sz="2400" dirty="0" err="1" smtClean="0">
                <a:solidFill>
                  <a:srgbClr val="00B0F0"/>
                </a:solidFill>
              </a:rPr>
              <a:t>PubKeyHash</a:t>
            </a:r>
            <a:r>
              <a:rPr lang="en-CA" sz="2400" dirty="0" smtClean="0">
                <a:solidFill>
                  <a:srgbClr val="00B0F0"/>
                </a:solidFill>
              </a:rPr>
              <a:t>&gt;  OP_EQUALVERIFY OP_CHECKSIG</a:t>
            </a:r>
            <a:endParaRPr lang="en-CA" sz="2400" dirty="0">
              <a:solidFill>
                <a:srgbClr val="00B0F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07167" y="5082206"/>
            <a:ext cx="1076407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400" dirty="0" smtClean="0">
                <a:solidFill>
                  <a:schemeClr val="tx1"/>
                </a:solidFill>
              </a:rPr>
              <a:t>How to understand and verify on a </a:t>
            </a:r>
            <a:r>
              <a:rPr lang="en-CA" sz="2400" b="1" dirty="0" smtClean="0">
                <a:solidFill>
                  <a:schemeClr val="tx1"/>
                </a:solidFill>
              </a:rPr>
              <a:t>stack</a:t>
            </a:r>
            <a:r>
              <a:rPr lang="en-CA" sz="2400" b="1" dirty="0" smtClean="0">
                <a:solidFill>
                  <a:schemeClr val="accent1">
                    <a:lumMod val="75000"/>
                  </a:schemeClr>
                </a:solidFill>
              </a:rPr>
              <a:t>:</a:t>
            </a:r>
          </a:p>
          <a:p>
            <a:pPr marL="457200" lvl="8" indent="-457200">
              <a:buFont typeface="+mj-lt"/>
              <a:buAutoNum type="alphaLcPeriod"/>
            </a:pPr>
            <a:r>
              <a:rPr lang="en-CA" sz="2400" b="1" dirty="0" smtClean="0"/>
              <a:t>Explain</a:t>
            </a:r>
            <a:r>
              <a:rPr lang="en-CA" sz="2400" dirty="0" smtClean="0"/>
              <a:t>:  https</a:t>
            </a:r>
            <a:r>
              <a:rPr lang="en-CA" sz="2400" dirty="0"/>
              <a:t>://en.bitcoin.it/wiki/Script</a:t>
            </a:r>
          </a:p>
          <a:p>
            <a:pPr marL="457200" lvl="8" indent="-457200">
              <a:buFont typeface="+mj-lt"/>
              <a:buAutoNum type="alphaLcPeriod"/>
            </a:pPr>
            <a:r>
              <a:rPr lang="en-CA" sz="2400" b="1" dirty="0" smtClean="0"/>
              <a:t>Hands-on Practice</a:t>
            </a:r>
            <a:r>
              <a:rPr lang="en-CA" sz="2400" dirty="0" smtClean="0"/>
              <a:t>: </a:t>
            </a:r>
            <a:r>
              <a:rPr lang="en-CA" sz="2400" dirty="0" smtClean="0">
                <a:hlinkClick r:id="rId3"/>
              </a:rPr>
              <a:t>https</a:t>
            </a:r>
            <a:r>
              <a:rPr lang="en-CA" sz="2400" dirty="0">
                <a:hlinkClick r:id="rId3"/>
              </a:rPr>
              <a:t>://</a:t>
            </a:r>
            <a:r>
              <a:rPr lang="en-CA" sz="2400" dirty="0" smtClean="0">
                <a:hlinkClick r:id="rId3"/>
              </a:rPr>
              <a:t>siminchen.github.io/bitcoinIDE/build/editor.html</a:t>
            </a:r>
            <a:endParaRPr lang="en-CA" sz="2400" dirty="0" smtClean="0"/>
          </a:p>
          <a:p>
            <a:pPr lvl="8"/>
            <a:r>
              <a:rPr lang="en-CA" sz="2400" dirty="0"/>
              <a:t> </a:t>
            </a:r>
            <a:r>
              <a:rPr lang="en-CA" sz="2400" dirty="0" smtClean="0"/>
              <a:t>     </a:t>
            </a:r>
            <a:r>
              <a:rPr lang="nl-NL" sz="2400" b="1" dirty="0" smtClean="0"/>
              <a:t>8 6</a:t>
            </a:r>
            <a:r>
              <a:rPr lang="nl-NL" sz="2400" dirty="0" smtClean="0"/>
              <a:t> </a:t>
            </a:r>
            <a:r>
              <a:rPr lang="nl-NL" sz="2400" dirty="0" smtClean="0">
                <a:solidFill>
                  <a:srgbClr val="FF0000"/>
                </a:solidFill>
              </a:rPr>
              <a:t>op_2dup op_add e </a:t>
            </a:r>
            <a:r>
              <a:rPr lang="nl-NL" sz="2400" dirty="0">
                <a:solidFill>
                  <a:srgbClr val="FF0000"/>
                </a:solidFill>
              </a:rPr>
              <a:t>op_equalverify  op_sub </a:t>
            </a:r>
            <a:r>
              <a:rPr lang="nl-NL" sz="2400" dirty="0" smtClean="0">
                <a:solidFill>
                  <a:srgbClr val="FF0000"/>
                </a:solidFill>
              </a:rPr>
              <a:t>2 </a:t>
            </a:r>
            <a:r>
              <a:rPr lang="nl-NL" sz="2400" dirty="0">
                <a:solidFill>
                  <a:srgbClr val="FF0000"/>
                </a:solidFill>
              </a:rPr>
              <a:t>op_equalverify</a:t>
            </a:r>
            <a:endParaRPr lang="en-CA" sz="2400" dirty="0" smtClean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257161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9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Scripting Evaluation Examples</a:t>
            </a:r>
            <a:endParaRPr lang="en-US" dirty="0"/>
          </a:p>
        </p:txBody>
      </p:sp>
      <p:pic>
        <p:nvPicPr>
          <p:cNvPr id="3075" name="Picture 3" descr="Machine generated alternative text:&#10;scriptPubKey•. OP ADD OP EQUAL &#10;script Sig: &#10;Combined script: «95» OP ADD OP EQUAL 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8674" y="1617228"/>
            <a:ext cx="10963275" cy="1304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" name="Group 3"/>
          <p:cNvGrpSpPr/>
          <p:nvPr/>
        </p:nvGrpSpPr>
        <p:grpSpPr>
          <a:xfrm>
            <a:off x="828674" y="3431866"/>
            <a:ext cx="10915650" cy="1484779"/>
            <a:chOff x="852487" y="5069541"/>
            <a:chExt cx="10915650" cy="1484779"/>
          </a:xfrm>
        </p:grpSpPr>
        <p:pic>
          <p:nvPicPr>
            <p:cNvPr id="3076" name="Picture 4" descr="Machine generated alternative text:&#10;s cr i pt PubKey : &#10;script Sig: &#10;OP SHA256 K6fe2.. &#10;Kf343 &#10;...f0f5» &#10;. 3 ffe» &#10;OP &#10;EQUAL 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52487" y="5069541"/>
              <a:ext cx="10915650" cy="914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077" name="Picture 5" descr="Machine generated alternative text:&#10;Combined script : &#10;K f 343 &#10;.. OP SHA256 K6fe2. . OP EQUAL 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62012" y="5982820"/>
              <a:ext cx="10906125" cy="5715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4857510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Pay-to-</a:t>
            </a:r>
            <a:r>
              <a:rPr lang="en-US" dirty="0" err="1"/>
              <a:t>MultiSig</a:t>
            </a:r>
            <a:r>
              <a:rPr lang="en-US" dirty="0"/>
              <a:t> (P2MS)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22202"/>
            <a:ext cx="9892238" cy="2035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97785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Pay-to-Script-Hash (P2SH)</a:t>
            </a:r>
          </a:p>
        </p:txBody>
      </p:sp>
      <p:pic>
        <p:nvPicPr>
          <p:cNvPr id="2051" name="Picture 3" descr="C:\Users\wedu\AppData\Local\Temp\msohtmlclip1\02\clip_image002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6847" y="2048371"/>
            <a:ext cx="10103224" cy="3234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Machine generated alternative text:&#10;«Pubkep &#10;Redeem Script: &#10;Unlocking Script (scriptSig) &#10;KSignaturo Gerialized redeem scripb &#10;CHECKSIG &#10;Locking Script (scriptPubKey) &#10;écript Hasb &#10;EQUAL &#10;Standard execution &#10;«Script Hash-v &#10;EQUAL &#10;SH160 &#10;HASH160 &#10;HASH160 &#10;Gignatur» &#10;Gerialized redeem scripb &#10;Redeem script execution &#10;aubkep CHECKSIG 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7142" y="2576221"/>
            <a:ext cx="8976556" cy="38721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C:\Users\wedu\AppData\Local\Temp\msohtmlclip1\02\clip_image001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6847" y="1501671"/>
            <a:ext cx="10139082" cy="3422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030520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 P2SH for </a:t>
            </a:r>
            <a:r>
              <a:rPr lang="en-US" dirty="0" err="1"/>
              <a:t>MultiSig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8151" y="2448310"/>
            <a:ext cx="8935697" cy="183858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8625" y="4856257"/>
            <a:ext cx="8945223" cy="1305107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38200" y="1943349"/>
            <a:ext cx="266451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solidFill>
                  <a:srgbClr val="1E4E79"/>
                </a:solidFill>
                <a:latin typeface="Calibri" panose="020F0502020204030204" pitchFamily="34" charset="0"/>
              </a:rPr>
              <a:t>Pay-to-</a:t>
            </a:r>
            <a:r>
              <a:rPr lang="en-US" sz="2000" b="1" dirty="0" err="1">
                <a:solidFill>
                  <a:srgbClr val="1E4E79"/>
                </a:solidFill>
                <a:latin typeface="Calibri" panose="020F0502020204030204" pitchFamily="34" charset="0"/>
              </a:rPr>
              <a:t>MultiSig</a:t>
            </a:r>
            <a:r>
              <a:rPr lang="en-US" sz="2000" b="1" dirty="0">
                <a:solidFill>
                  <a:srgbClr val="1E4E79"/>
                </a:solidFill>
                <a:latin typeface="Calibri" panose="020F0502020204030204" pitchFamily="34" charset="0"/>
              </a:rPr>
              <a:t> (P2MS)</a:t>
            </a:r>
            <a:endParaRPr lang="en-US" sz="2000" dirty="0"/>
          </a:p>
        </p:txBody>
      </p:sp>
      <p:sp>
        <p:nvSpPr>
          <p:cNvPr id="8" name="Rectangle 7"/>
          <p:cNvSpPr/>
          <p:nvPr/>
        </p:nvSpPr>
        <p:spPr>
          <a:xfrm>
            <a:off x="701945" y="4391743"/>
            <a:ext cx="293702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solidFill>
                  <a:srgbClr val="1E4E79"/>
                </a:solidFill>
                <a:latin typeface="Calibri" panose="020F0502020204030204" pitchFamily="34" charset="0"/>
              </a:rPr>
              <a:t>Pay-to-Script-Hash (P2SH)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7109278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Sending Transaction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597025"/>
            <a:ext cx="10515600" cy="4336636"/>
          </a:xfrm>
        </p:spPr>
        <p:txBody>
          <a:bodyPr/>
          <a:lstStyle/>
          <a:p>
            <a:r>
              <a:rPr lang="en-US" dirty="0"/>
              <a:t>After a node has generated a transaction, it sends the transaction to </a:t>
            </a:r>
            <a:r>
              <a:rPr lang="en-US" dirty="0" smtClean="0"/>
              <a:t>the network</a:t>
            </a:r>
            <a:endParaRPr lang="en-US" dirty="0"/>
          </a:p>
          <a:p>
            <a:r>
              <a:rPr lang="en-US" dirty="0"/>
              <a:t>Each peer will verify the transaction, and then forward it to their peers</a:t>
            </a:r>
          </a:p>
          <a:p>
            <a:r>
              <a:rPr lang="en-US" dirty="0"/>
              <a:t>Eventually, every node on the network will receive the transaction</a:t>
            </a:r>
          </a:p>
          <a:p>
            <a:r>
              <a:rPr lang="en-US" dirty="0"/>
              <a:t>Some special node called miner will be responsible for adding the transaction to the public ledger (i.e., </a:t>
            </a:r>
            <a:r>
              <a:rPr lang="en-US" dirty="0" err="1"/>
              <a:t>blockchain</a:t>
            </a:r>
            <a:r>
              <a:rPr lang="en-US" dirty="0"/>
              <a:t>). </a:t>
            </a:r>
          </a:p>
        </p:txBody>
      </p:sp>
    </p:spTree>
    <p:extLst>
      <p:ext uri="{BB962C8B-B14F-4D97-AF65-F5344CB8AC3E}">
        <p14:creationId xmlns:p14="http://schemas.microsoft.com/office/powerpoint/2010/main" val="5220354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Generating Blocks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597025"/>
            <a:ext cx="10515600" cy="1253751"/>
          </a:xfrm>
        </p:spPr>
        <p:txBody>
          <a:bodyPr/>
          <a:lstStyle/>
          <a:p>
            <a:r>
              <a:rPr lang="en-US" dirty="0"/>
              <a:t>Miners group </a:t>
            </a:r>
            <a:r>
              <a:rPr lang="en-US" dirty="0" smtClean="0"/>
              <a:t>new transactions </a:t>
            </a:r>
            <a:r>
              <a:rPr lang="en-US" dirty="0"/>
              <a:t>into a </a:t>
            </a:r>
            <a:r>
              <a:rPr lang="en-US" b="1" dirty="0"/>
              <a:t>new </a:t>
            </a:r>
            <a:r>
              <a:rPr lang="en-US" b="1" dirty="0" smtClean="0"/>
              <a:t>block (e.g., Block 3). </a:t>
            </a:r>
            <a:endParaRPr lang="en-US" b="1" dirty="0"/>
          </a:p>
          <a:p>
            <a:r>
              <a:rPr lang="en-US" dirty="0"/>
              <a:t>The new block is appended to the existing </a:t>
            </a:r>
            <a:r>
              <a:rPr lang="en-US" dirty="0" err="1"/>
              <a:t>blockchain</a:t>
            </a:r>
            <a:r>
              <a:rPr lang="en-US" dirty="0"/>
              <a:t>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1371" y="3190381"/>
            <a:ext cx="9202434" cy="3077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15961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3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many transactions included in a new block</a:t>
            </a:r>
            <a:endParaRPr dirty="0"/>
          </a:p>
        </p:txBody>
      </p:sp>
      <p:pic>
        <p:nvPicPr>
          <p:cNvPr id="269" name="Google Shape;269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85050" y="1625753"/>
            <a:ext cx="7296076" cy="29912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" name="Straight Arrow Connector 2"/>
          <p:cNvCxnSpPr/>
          <p:nvPr/>
        </p:nvCxnSpPr>
        <p:spPr>
          <a:xfrm>
            <a:off x="1858617" y="3835993"/>
            <a:ext cx="725557" cy="34875"/>
          </a:xfrm>
          <a:prstGeom prst="straightConnector1">
            <a:avLst/>
          </a:prstGeom>
          <a:ln w="38100"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26165" y="3597966"/>
            <a:ext cx="14610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 dirty="0" smtClean="0"/>
              <a:t>transactions</a:t>
            </a:r>
            <a:endParaRPr lang="en-CA" b="1" dirty="0"/>
          </a:p>
        </p:txBody>
      </p:sp>
    </p:spTree>
    <p:extLst>
      <p:ext uri="{BB962C8B-B14F-4D97-AF65-F5344CB8AC3E}">
        <p14:creationId xmlns:p14="http://schemas.microsoft.com/office/powerpoint/2010/main" val="31365755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Blockchain: Make Chaining Difficult</a:t>
            </a:r>
            <a:endParaRPr/>
          </a:p>
        </p:txBody>
      </p:sp>
      <p:sp>
        <p:nvSpPr>
          <p:cNvPr id="260" name="Google Shape;260;p36"/>
          <p:cNvSpPr txBox="1">
            <a:spLocks noGrp="1"/>
          </p:cNvSpPr>
          <p:nvPr>
            <p:ph type="body" idx="1"/>
          </p:nvPr>
        </p:nvSpPr>
        <p:spPr>
          <a:xfrm>
            <a:off x="838200" y="1597025"/>
            <a:ext cx="10515600" cy="4351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4064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en-US" dirty="0"/>
              <a:t>Nonce is added to each block</a:t>
            </a:r>
            <a:endParaRPr dirty="0"/>
          </a:p>
          <a:p>
            <a:pPr marL="45720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 dirty="0"/>
              <a:t>Block hash must satisfy requirement (e.g. 20 leading zeros)</a:t>
            </a:r>
            <a:endParaRPr dirty="0"/>
          </a:p>
          <a:p>
            <a:pPr marL="45720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 dirty="0"/>
              <a:t>Since computation power will increase over time, number of leading zeros is intentionally increased over </a:t>
            </a:r>
            <a:r>
              <a:rPr lang="en-US" dirty="0" smtClean="0"/>
              <a:t>time (</a:t>
            </a:r>
            <a:r>
              <a:rPr lang="en-US" dirty="0" err="1" smtClean="0"/>
              <a:t>s.t.</a:t>
            </a:r>
            <a:r>
              <a:rPr lang="en-US" dirty="0" smtClean="0"/>
              <a:t> it still takes 10min to find and add a new block into the </a:t>
            </a:r>
            <a:r>
              <a:rPr lang="en-US" dirty="0" err="1" smtClean="0"/>
              <a:t>blockchain</a:t>
            </a:r>
            <a:r>
              <a:rPr lang="en-US" dirty="0" smtClean="0"/>
              <a:t>). </a:t>
            </a:r>
            <a:endParaRPr dirty="0"/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261" name="Google Shape;261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00325" y="4402043"/>
            <a:ext cx="6791325" cy="21050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023507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Mining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Proof-of-Work: </a:t>
            </a:r>
            <a:r>
              <a:rPr lang="en-US" dirty="0"/>
              <a:t>find a </a:t>
            </a:r>
            <a:r>
              <a:rPr lang="en-US" b="1" dirty="0"/>
              <a:t>nonce</a:t>
            </a:r>
            <a:r>
              <a:rPr lang="en-US" dirty="0"/>
              <a:t>, </a:t>
            </a:r>
            <a:r>
              <a:rPr lang="en-US" dirty="0" err="1"/>
              <a:t>s.t.</a:t>
            </a:r>
            <a:r>
              <a:rPr lang="en-US" dirty="0"/>
              <a:t> when the hash of the block satisfies a special requirement, such as having </a:t>
            </a:r>
            <a:r>
              <a:rPr lang="en-US" b="1" dirty="0"/>
              <a:t>20 leading zero</a:t>
            </a:r>
            <a:r>
              <a:rPr lang="en-US" dirty="0"/>
              <a:t>s</a:t>
            </a:r>
          </a:p>
          <a:p>
            <a:r>
              <a:rPr lang="en-US" dirty="0">
                <a:solidFill>
                  <a:srgbClr val="FF0000"/>
                </a:solidFill>
              </a:rPr>
              <a:t>Rewarding: </a:t>
            </a:r>
          </a:p>
          <a:p>
            <a:pPr lvl="1"/>
            <a:r>
              <a:rPr lang="en-US" b="1" dirty="0" err="1"/>
              <a:t>Coinbase</a:t>
            </a:r>
            <a:r>
              <a:rPr lang="en-US" b="1" dirty="0"/>
              <a:t> transaction</a:t>
            </a:r>
            <a:r>
              <a:rPr lang="en-US" dirty="0"/>
              <a:t>: new bitcoins are </a:t>
            </a:r>
            <a:r>
              <a:rPr lang="en-US" dirty="0" smtClean="0"/>
              <a:t>mined </a:t>
            </a:r>
            <a:r>
              <a:rPr lang="en-US" dirty="0"/>
              <a:t>and given to the </a:t>
            </a:r>
            <a:r>
              <a:rPr lang="en-US" dirty="0" smtClean="0"/>
              <a:t>miner (currently, worth 6.25 BTC)</a:t>
            </a:r>
            <a:endParaRPr lang="en-US" dirty="0"/>
          </a:p>
          <a:p>
            <a:pPr lvl="1"/>
            <a:r>
              <a:rPr lang="en-US" b="1" dirty="0"/>
              <a:t>Transaction fees</a:t>
            </a:r>
          </a:p>
          <a:p>
            <a:r>
              <a:rPr lang="en-US" dirty="0"/>
              <a:t>Once a miner has found a block, it immediately sends the block to its peers, who will verify the block and then forward the block to their peers.</a:t>
            </a:r>
          </a:p>
          <a:p>
            <a:r>
              <a:rPr lang="en-US" dirty="0"/>
              <a:t>Eventually, all the nodes will see this new block, and add it to their ledgers.</a:t>
            </a:r>
          </a:p>
          <a:p>
            <a:pPr marL="533400" lvl="1" indent="0">
              <a:buNone/>
            </a:pP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5163585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Include </a:t>
            </a:r>
            <a:r>
              <a:rPr lang="en-US" dirty="0" err="1"/>
              <a:t>Merkle</a:t>
            </a:r>
            <a:r>
              <a:rPr lang="en-US" dirty="0"/>
              <a:t> Root in Block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8301" y="1459794"/>
            <a:ext cx="9955398" cy="405350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16226" y="5804452"/>
            <a:ext cx="70965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400" b="1" dirty="0" smtClean="0"/>
              <a:t>Hash</a:t>
            </a:r>
            <a:r>
              <a:rPr lang="en-CA" sz="2400" dirty="0" smtClean="0"/>
              <a:t> of Block </a:t>
            </a:r>
            <a:r>
              <a:rPr lang="en-CA" sz="2400" dirty="0" err="1" smtClean="0"/>
              <a:t>i</a:t>
            </a:r>
            <a:r>
              <a:rPr lang="en-CA" sz="2400" dirty="0" smtClean="0"/>
              <a:t> is called </a:t>
            </a:r>
            <a:r>
              <a:rPr lang="en-CA" sz="2400" b="1" dirty="0" smtClean="0"/>
              <a:t> </a:t>
            </a:r>
            <a:r>
              <a:rPr lang="en-CA" sz="2400" b="1" dirty="0" err="1" smtClean="0"/>
              <a:t>Block_Hash</a:t>
            </a:r>
            <a:r>
              <a:rPr lang="en-CA" sz="2400" dirty="0" smtClean="0"/>
              <a:t> </a:t>
            </a:r>
            <a:endParaRPr lang="en-CA" sz="2400" dirty="0"/>
          </a:p>
        </p:txBody>
      </p:sp>
    </p:spTree>
    <p:extLst>
      <p:ext uri="{BB962C8B-B14F-4D97-AF65-F5344CB8AC3E}">
        <p14:creationId xmlns:p14="http://schemas.microsoft.com/office/powerpoint/2010/main" val="18887384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Merkle</a:t>
            </a:r>
            <a:r>
              <a:rPr lang="en-US" dirty="0"/>
              <a:t> Tree</a:t>
            </a:r>
          </a:p>
        </p:txBody>
      </p:sp>
      <p:pic>
        <p:nvPicPr>
          <p:cNvPr id="4" name="Picture 3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0010" y="1547253"/>
            <a:ext cx="7040179" cy="340372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62598" y="5118847"/>
            <a:ext cx="927048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Benefit: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To find whether a transaction is included in a block, you don’t need all the transactions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Good for non-full nodes </a:t>
            </a:r>
            <a:r>
              <a:rPr lang="en-US" sz="1800" dirty="0" smtClean="0"/>
              <a:t>(who do not download the complete information of </a:t>
            </a:r>
            <a:r>
              <a:rPr lang="en-US" sz="1800" dirty="0" err="1" smtClean="0"/>
              <a:t>blockchain</a:t>
            </a:r>
            <a:r>
              <a:rPr lang="en-US" sz="1800" dirty="0" smtClean="0"/>
              <a:t>)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3053745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Branching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291" y="3492120"/>
            <a:ext cx="10237418" cy="258848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77291" y="6080325"/>
            <a:ext cx="703364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Branching occurs when two valid blocks are </a:t>
            </a:r>
            <a:r>
              <a:rPr lang="en-US" sz="2000" dirty="0" smtClean="0"/>
              <a:t>found about </a:t>
            </a:r>
            <a:r>
              <a:rPr lang="en-US" sz="2000" dirty="0"/>
              <a:t>the same time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3247" y="6253467"/>
            <a:ext cx="27238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1" dirty="0">
                <a:solidFill>
                  <a:srgbClr val="FF0000"/>
                </a:solidFill>
              </a:rPr>
              <a:t>The longest chain wins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9702" y="1559866"/>
            <a:ext cx="1166229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/>
              <a:t>Each node on the bitcoin network has a </a:t>
            </a:r>
            <a:r>
              <a:rPr lang="en-US" sz="2400" dirty="0" err="1" smtClean="0"/>
              <a:t>blockchain</a:t>
            </a:r>
            <a:r>
              <a:rPr lang="en-US" sz="2400" dirty="0"/>
              <a:t> </a:t>
            </a:r>
            <a:r>
              <a:rPr lang="en-US" sz="2400" dirty="0" smtClean="0"/>
              <a:t>from received blocks. </a:t>
            </a:r>
          </a:p>
          <a:p>
            <a:pPr marL="457200" lvl="5" indent="-457200">
              <a:buFont typeface="+mj-lt"/>
              <a:buAutoNum type="arabicPeriod"/>
            </a:pPr>
            <a:r>
              <a:rPr lang="en-US" sz="2400" dirty="0" smtClean="0"/>
              <a:t>It is possible a node receives two blocks with the </a:t>
            </a:r>
            <a:r>
              <a:rPr lang="en-US" sz="2400" b="1" dirty="0" smtClean="0"/>
              <a:t>same</a:t>
            </a:r>
            <a:r>
              <a:rPr lang="en-US" sz="2400" dirty="0" smtClean="0"/>
              <a:t> previous block.  </a:t>
            </a:r>
            <a:r>
              <a:rPr lang="en-US" sz="2400" dirty="0" smtClean="0">
                <a:solidFill>
                  <a:srgbClr val="C00000"/>
                </a:solidFill>
              </a:rPr>
              <a:t> </a:t>
            </a:r>
          </a:p>
          <a:p>
            <a:pPr marL="457200" lvl="5" indent="-457200">
              <a:buFont typeface="+mj-lt"/>
              <a:buAutoNum type="arabicPeriod"/>
            </a:pPr>
            <a:r>
              <a:rPr lang="en-US" sz="2400" b="1" dirty="0" smtClean="0">
                <a:solidFill>
                  <a:srgbClr val="C00000"/>
                </a:solidFill>
              </a:rPr>
              <a:t>Policy</a:t>
            </a:r>
            <a:r>
              <a:rPr lang="en-US" sz="2400" dirty="0" smtClean="0"/>
              <a:t>: Miner mines a new block always pointing to the </a:t>
            </a:r>
            <a:r>
              <a:rPr lang="en-US" sz="2400" b="1" dirty="0" smtClean="0"/>
              <a:t>tail</a:t>
            </a:r>
            <a:r>
              <a:rPr lang="en-US" sz="2400" dirty="0" smtClean="0"/>
              <a:t> of the </a:t>
            </a:r>
            <a:r>
              <a:rPr lang="en-US" sz="2400" b="1" dirty="0" smtClean="0"/>
              <a:t>longest</a:t>
            </a:r>
            <a:r>
              <a:rPr lang="en-US" sz="2400" dirty="0" smtClean="0"/>
              <a:t> chain. 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528323" y="2976339"/>
            <a:ext cx="1033669" cy="805070"/>
          </a:xfrm>
          <a:prstGeom prst="roundRect">
            <a:avLst/>
          </a:prstGeom>
          <a:solidFill>
            <a:schemeClr val="bg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 smtClean="0"/>
              <a:t>New block</a:t>
            </a:r>
            <a:endParaRPr lang="en-CA" dirty="0"/>
          </a:p>
        </p:txBody>
      </p:sp>
      <p:cxnSp>
        <p:nvCxnSpPr>
          <p:cNvPr id="9" name="Straight Arrow Connector 8"/>
          <p:cNvCxnSpPr/>
          <p:nvPr/>
        </p:nvCxnSpPr>
        <p:spPr>
          <a:xfrm flipV="1">
            <a:off x="9243391" y="3781409"/>
            <a:ext cx="427383" cy="381337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790586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Double Spending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291" y="3292103"/>
            <a:ext cx="10237418" cy="258848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29702" y="1738768"/>
            <a:ext cx="1166229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/>
              <a:t> If I bought a car via tx1 in block563003 of Branch B, I can use the coin in the input of tx1 to buy a boat in a tx2. I can do this since Branch B is abandoned  by every node. So my double spending is OK.   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528323" y="2976339"/>
            <a:ext cx="1033669" cy="805070"/>
          </a:xfrm>
          <a:prstGeom prst="roundRect">
            <a:avLst/>
          </a:prstGeom>
          <a:solidFill>
            <a:schemeClr val="bg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 smtClean="0"/>
              <a:t>New block</a:t>
            </a:r>
            <a:endParaRPr lang="en-CA" dirty="0"/>
          </a:p>
        </p:txBody>
      </p:sp>
      <p:cxnSp>
        <p:nvCxnSpPr>
          <p:cNvPr id="9" name="Straight Arrow Connector 8"/>
          <p:cNvCxnSpPr/>
          <p:nvPr/>
        </p:nvCxnSpPr>
        <p:spPr>
          <a:xfrm flipV="1">
            <a:off x="9243391" y="3781409"/>
            <a:ext cx="427383" cy="381337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053180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Confirmation Number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801618"/>
            <a:ext cx="10290721" cy="315582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48870" y="6108281"/>
            <a:ext cx="969084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The larger a block’s confirmation number is, the less likely it will be removed from the </a:t>
            </a:r>
            <a:r>
              <a:rPr lang="en-US" sz="2000" dirty="0" err="1"/>
              <a:t>blockchain</a:t>
            </a:r>
            <a:r>
              <a:rPr lang="en-US" sz="2000" dirty="0"/>
              <a:t> </a:t>
            </a:r>
            <a:r>
              <a:rPr lang="en-US" sz="2000" dirty="0" smtClean="0"/>
              <a:t>(i.e., </a:t>
            </a:r>
            <a:r>
              <a:rPr lang="en-US" sz="2000" dirty="0" err="1" smtClean="0"/>
              <a:t>blockchain</a:t>
            </a:r>
            <a:r>
              <a:rPr lang="en-US" sz="2000" dirty="0" smtClean="0"/>
              <a:t> including his </a:t>
            </a:r>
            <a:r>
              <a:rPr lang="en-US" sz="2000" dirty="0" err="1" smtClean="0"/>
              <a:t>tx</a:t>
            </a:r>
            <a:r>
              <a:rPr lang="en-US" sz="2000" dirty="0" smtClean="0"/>
              <a:t> is shorter than another chain later). </a:t>
            </a:r>
            <a:endParaRPr lang="en-US" sz="2000" dirty="0"/>
          </a:p>
        </p:txBody>
      </p:sp>
      <p:sp>
        <p:nvSpPr>
          <p:cNvPr id="6" name="TextBox 5"/>
          <p:cNvSpPr txBox="1"/>
          <p:nvPr/>
        </p:nvSpPr>
        <p:spPr>
          <a:xfrm>
            <a:off x="893158" y="1688687"/>
            <a:ext cx="1064617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/>
              <a:t>To avoid double spending, a </a:t>
            </a:r>
            <a:r>
              <a:rPr lang="en-US" sz="2400" dirty="0" err="1" smtClean="0"/>
              <a:t>tx</a:t>
            </a:r>
            <a:r>
              <a:rPr lang="en-US" sz="2400" dirty="0" smtClean="0"/>
              <a:t> receiver will wait for the block (containing his </a:t>
            </a:r>
            <a:r>
              <a:rPr lang="en-US" sz="2400" dirty="0" err="1" smtClean="0"/>
              <a:t>tx</a:t>
            </a:r>
            <a:r>
              <a:rPr lang="en-US" sz="2400" dirty="0" smtClean="0"/>
              <a:t>) to be followed by many blocks.  In this case, receiver will be confident that his </a:t>
            </a:r>
            <a:r>
              <a:rPr lang="en-US" sz="2400" dirty="0" err="1" smtClean="0"/>
              <a:t>tx</a:t>
            </a:r>
            <a:r>
              <a:rPr lang="en-US" sz="2400" dirty="0" smtClean="0"/>
              <a:t> will be on the longest chain. 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411168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Double Spending with Majority Hash Power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259" y="1991517"/>
            <a:ext cx="9794156" cy="4376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25124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Probability of Double Spending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7847" y="1690688"/>
            <a:ext cx="8697485" cy="44373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346630" y="1212573"/>
            <a:ext cx="2514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 smtClean="0"/>
              <a:t>Attacker’s hash power</a:t>
            </a:r>
            <a:endParaRPr lang="en-CA" dirty="0"/>
          </a:p>
        </p:txBody>
      </p:sp>
      <p:cxnSp>
        <p:nvCxnSpPr>
          <p:cNvPr id="6" name="Straight Arrow Connector 5"/>
          <p:cNvCxnSpPr/>
          <p:nvPr/>
        </p:nvCxnSpPr>
        <p:spPr>
          <a:xfrm flipH="1">
            <a:off x="9859618" y="1647166"/>
            <a:ext cx="1908313" cy="257382"/>
          </a:xfrm>
          <a:prstGeom prst="straightConnector1">
            <a:avLst/>
          </a:prstGeom>
          <a:ln w="38100"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625333" y="2385392"/>
            <a:ext cx="246065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 smtClean="0"/>
              <a:t>Attacker can always double spends if it has 50% hash power of all nodes in the </a:t>
            </a:r>
            <a:r>
              <a:rPr lang="en-CA" dirty="0" err="1" smtClean="0"/>
              <a:t>blockchain</a:t>
            </a:r>
            <a:r>
              <a:rPr lang="en-CA" dirty="0" smtClean="0"/>
              <a:t> network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7543364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4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dirty="0"/>
              <a:t>Summary</a:t>
            </a:r>
            <a:endParaRPr dirty="0"/>
          </a:p>
        </p:txBody>
      </p:sp>
      <p:sp>
        <p:nvSpPr>
          <p:cNvPr id="349" name="Google Shape;349;p47"/>
          <p:cNvSpPr txBox="1">
            <a:spLocks noGrp="1"/>
          </p:cNvSpPr>
          <p:nvPr>
            <p:ph type="body" idx="1"/>
          </p:nvPr>
        </p:nvSpPr>
        <p:spPr>
          <a:xfrm>
            <a:off x="838200" y="15970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4064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en-US" dirty="0" err="1"/>
              <a:t>Bitcoin</a:t>
            </a:r>
            <a:r>
              <a:rPr lang="en-US" dirty="0"/>
              <a:t> address</a:t>
            </a:r>
          </a:p>
          <a:p>
            <a:pPr marL="457200" lvl="0" indent="-4064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en-US" dirty="0"/>
              <a:t>Transactions, locking and unlocking script</a:t>
            </a:r>
          </a:p>
          <a:p>
            <a:pPr marL="457200" lvl="0" indent="-4064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en-US" dirty="0" err="1"/>
              <a:t>Bitcoin</a:t>
            </a:r>
            <a:r>
              <a:rPr lang="en-US" dirty="0"/>
              <a:t> mining</a:t>
            </a:r>
          </a:p>
          <a:p>
            <a:pPr marL="457200" lvl="0" indent="-4064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en-US" dirty="0" err="1"/>
              <a:t>Blockchain</a:t>
            </a:r>
            <a:r>
              <a:rPr lang="en-US" dirty="0"/>
              <a:t>, branching, confirmation number, and double spending 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4511</TotalTime>
  <Words>1043</Words>
  <Application>Microsoft Office PowerPoint</Application>
  <PresentationFormat>Widescreen</PresentationFormat>
  <Paragraphs>139</Paragraphs>
  <Slides>28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Bitcoin and Blockchain</vt:lpstr>
      <vt:lpstr>Overview</vt:lpstr>
      <vt:lpstr>Public key and Private key</vt:lpstr>
      <vt:lpstr>Turn Public-Key into Bitcoin Address</vt:lpstr>
      <vt:lpstr>Generate keys and address from python</vt:lpstr>
      <vt:lpstr>obtain test bitcoins via transaction from faucet </vt:lpstr>
      <vt:lpstr>Transaction tx: example </vt:lpstr>
      <vt:lpstr>General Transaction format(https://en.bitcoin.it/wiki/Transaction)</vt:lpstr>
      <vt:lpstr>Input and output in a transaction </vt:lpstr>
      <vt:lpstr>Locking/Unlocking Script:  how to use bitcoins to pay?</vt:lpstr>
      <vt:lpstr>Pay-to-PubKey-Hash (P2PKH): popular locking/unlocking script </vt:lpstr>
      <vt:lpstr>Scripting Evaluation Examples</vt:lpstr>
      <vt:lpstr>Pay-to-MultiSig (P2MS)</vt:lpstr>
      <vt:lpstr>Pay-to-Script-Hash (P2SH)</vt:lpstr>
      <vt:lpstr>Use P2SH for MultiSig</vt:lpstr>
      <vt:lpstr>Sending Transaction</vt:lpstr>
      <vt:lpstr>Generating Blocks</vt:lpstr>
      <vt:lpstr>many transactions included in a new block</vt:lpstr>
      <vt:lpstr>Blockchain: Make Chaining Difficult</vt:lpstr>
      <vt:lpstr>Mining</vt:lpstr>
      <vt:lpstr>Include Merkle Root in Block</vt:lpstr>
      <vt:lpstr>Merkle Tree</vt:lpstr>
      <vt:lpstr>Branching</vt:lpstr>
      <vt:lpstr>Double Spending</vt:lpstr>
      <vt:lpstr>Confirmation Number</vt:lpstr>
      <vt:lpstr>Double Spending with Majority Hash Power</vt:lpstr>
      <vt:lpstr>Probability of Double Spending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One-Way Hash Functions</dc:title>
  <cp:lastModifiedBy>Windows User</cp:lastModifiedBy>
  <cp:revision>326</cp:revision>
  <dcterms:modified xsi:type="dcterms:W3CDTF">2025-07-24T19:33:07Z</dcterms:modified>
</cp:coreProperties>
</file>