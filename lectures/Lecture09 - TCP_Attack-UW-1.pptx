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png" Extension="tmp"/>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commentAuthors+xml" PartName="/ppt/commentAuthors.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arget="docProps/app.xml" Type="http://schemas.openxmlformats.org/officeDocument/2006/relationships/extended-properties"/><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5"/>
  </p:notesMasterIdLst>
  <p:sldIdLst>
    <p:sldId id="256"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280" r:id="rId22"/>
    <p:sldId id="281" r:id="rId23"/>
    <p:sldId id="313" r:id="rId24"/>
    <p:sldId id="287" r:id="rId25"/>
    <p:sldId id="288" r:id="rId26"/>
    <p:sldId id="289" r:id="rId27"/>
    <p:sldId id="314" r:id="rId28"/>
    <p:sldId id="315" r:id="rId29"/>
    <p:sldId id="305" r:id="rId30"/>
    <p:sldId id="309" r:id="rId31"/>
    <p:sldId id="308" r:id="rId32"/>
    <p:sldId id="306" r:id="rId33"/>
    <p:sldId id="307"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YPTO" initials="C" lastIdx="1" clrIdx="0">
    <p:extLst>
      <p:ext uri="{19B8F6BF-5375-455C-9EA6-DF929625EA0E}">
        <p15:presenceInfo xmlns:p15="http://schemas.microsoft.com/office/powerpoint/2012/main" userId="CRYPT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06" autoAdjust="0"/>
  </p:normalViewPr>
  <p:slideViewPr>
    <p:cSldViewPr snapToGrid="0">
      <p:cViewPr varScale="1">
        <p:scale>
          <a:sx n="107" d="100"/>
          <a:sy n="107" d="100"/>
        </p:scale>
        <p:origin x="595" y="7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notesMasters/notesMaster1.xml" Type="http://schemas.openxmlformats.org/officeDocument/2006/relationships/notesMaster"/><Relationship Id="rId36" Target="commentAuthors.xml" Type="http://schemas.openxmlformats.org/officeDocument/2006/relationships/commentAuthors"/><Relationship Id="rId37" Target="presProps.xml" Type="http://schemas.openxmlformats.org/officeDocument/2006/relationships/presProps"/><Relationship Id="rId38" Target="viewProps.xml" Type="http://schemas.openxmlformats.org/officeDocument/2006/relationships/viewProps"/><Relationship Id="rId39" Target="theme/theme1.xml" Type="http://schemas.openxmlformats.org/officeDocument/2006/relationships/theme"/><Relationship Id="rId4" Target="slides/slide3.xml" Type="http://schemas.openxmlformats.org/officeDocument/2006/relationships/slide"/><Relationship Id="rId40" Target="tableStyles.xml" Type="http://schemas.openxmlformats.org/officeDocument/2006/relationships/tableStyles"/><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val="38785720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17112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123053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You</a:t>
            </a:r>
            <a:r>
              <a:rPr lang="en-CA" baseline="0" dirty="0" smtClean="0"/>
              <a:t> can think </a:t>
            </a:r>
            <a:r>
              <a:rPr lang="en-CA" baseline="0" dirty="0" err="1" smtClean="0"/>
              <a:t>DoS</a:t>
            </a:r>
            <a:r>
              <a:rPr lang="en-CA" baseline="0" dirty="0" smtClean="0"/>
              <a:t> attack as </a:t>
            </a:r>
            <a:r>
              <a:rPr lang="en-CA" b="1" baseline="0" dirty="0" smtClean="0"/>
              <a:t>counterpart</a:t>
            </a:r>
            <a:r>
              <a:rPr lang="en-CA" baseline="0" dirty="0" smtClean="0"/>
              <a:t> of Ambassador bridge blockade in the computer network scenario.  In this setting,  attacker sends a lot of packets to a server in a short time, render the server is inaccessible to  a legal user.  In this work, we will focus on a specific </a:t>
            </a:r>
            <a:r>
              <a:rPr lang="en-CA" baseline="0" dirty="0" err="1" smtClean="0"/>
              <a:t>DoS</a:t>
            </a:r>
            <a:r>
              <a:rPr lang="en-CA" baseline="0" dirty="0" smtClean="0"/>
              <a:t> attack called </a:t>
            </a:r>
            <a:r>
              <a:rPr lang="en-CA" baseline="0" dirty="0" err="1" smtClean="0"/>
              <a:t>syn</a:t>
            </a:r>
            <a:r>
              <a:rPr lang="en-CA" baseline="0" dirty="0" smtClean="0"/>
              <a:t> flooding attack. You will learn the technical details of the attacker. You will perform the detailed attacks using c and python programs respectively. You will also learn the counter measure for this attack.  </a:t>
            </a:r>
            <a:endParaRPr dirty="0"/>
          </a:p>
        </p:txBody>
      </p:sp>
    </p:spTree>
    <p:extLst>
      <p:ext uri="{BB962C8B-B14F-4D97-AF65-F5344CB8AC3E}">
        <p14:creationId xmlns:p14="http://schemas.microsoft.com/office/powerpoint/2010/main" val="3698166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SYN</a:t>
            </a:r>
            <a:r>
              <a:rPr lang="en-CA" baseline="0" dirty="0" smtClean="0"/>
              <a:t> flooding attack work on any TCP server.  Every TCP connection starts with a 3-way handshake protocol, which will establish the connection between client and server. The attack is going to prevent the client completing this protocol execution so that the client-server connection will never be established. </a:t>
            </a:r>
            <a:endParaRPr dirty="0"/>
          </a:p>
        </p:txBody>
      </p:sp>
    </p:spTree>
    <p:extLst>
      <p:ext uri="{BB962C8B-B14F-4D97-AF65-F5344CB8AC3E}">
        <p14:creationId xmlns:p14="http://schemas.microsoft.com/office/powerpoint/2010/main" val="1788272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Shape 1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3" name="Shape 1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TCP</a:t>
            </a:r>
            <a:r>
              <a:rPr lang="en-CA" baseline="0" dirty="0" smtClean="0"/>
              <a:t> transmits a TCP packet (called TCP segment), consisting of a TCP header and the data. Here is the TCP head format. It contains a source port and destination port number.  For the client-server connection, the client port # is usually randomly chosen while the server port # must be known publicly as it must be known to the client before the client can make a connection to the server.  Well-known server ports # are telnet 23, SSH 22, HTTP 80 and HTTPS 443.  The sequence number in the format is used to make sure the packets are received by the  recipient in order.  At the sender side, the </a:t>
            </a:r>
            <a:r>
              <a:rPr lang="en-CA" baseline="0" dirty="0" err="1" smtClean="0"/>
              <a:t>intial</a:t>
            </a:r>
            <a:r>
              <a:rPr lang="en-CA" baseline="0" dirty="0" smtClean="0"/>
              <a:t> sequence  # is picked randomly.  If the current outgoing packet has a sequence # </a:t>
            </a:r>
            <a:r>
              <a:rPr lang="en-CA" b="1" baseline="0" dirty="0" smtClean="0"/>
              <a:t>s</a:t>
            </a:r>
            <a:r>
              <a:rPr lang="en-CA" baseline="0" dirty="0" smtClean="0"/>
              <a:t> and the data size of </a:t>
            </a:r>
            <a:r>
              <a:rPr lang="en-CA" b="1" baseline="0" dirty="0" smtClean="0"/>
              <a:t>Data</a:t>
            </a:r>
            <a:r>
              <a:rPr lang="en-CA" baseline="0" dirty="0" smtClean="0"/>
              <a:t> is  </a:t>
            </a:r>
            <a:r>
              <a:rPr lang="en-CA" b="1" baseline="0" dirty="0" smtClean="0"/>
              <a:t>N</a:t>
            </a:r>
            <a:r>
              <a:rPr lang="en-CA" baseline="0" dirty="0" smtClean="0"/>
              <a:t>, then the sequence # of the next outgoing packet is </a:t>
            </a:r>
            <a:r>
              <a:rPr lang="en-CA" b="1" baseline="0" dirty="0" err="1" smtClean="0"/>
              <a:t>s+N</a:t>
            </a:r>
            <a:r>
              <a:rPr lang="en-CA" b="1" baseline="0" dirty="0" smtClean="0"/>
              <a:t>.</a:t>
            </a:r>
            <a:r>
              <a:rPr lang="en-CA" baseline="0" dirty="0" smtClean="0"/>
              <a:t>   It should emphasized that due to the difference of routing paths for different packets, a packet will larger sequence number might arrive at the destination earlier than a packet with a smaller sequence  #.  But looking at the packet sequence numbers,  the receiver can restore the original packet order.  The acknowledge number. The acknowledgement number is to tell the other side the sequence # of the next packet expected. </a:t>
            </a:r>
            <a:endParaRPr dirty="0"/>
          </a:p>
        </p:txBody>
      </p:sp>
    </p:spTree>
    <p:extLst>
      <p:ext uri="{BB962C8B-B14F-4D97-AF65-F5344CB8AC3E}">
        <p14:creationId xmlns:p14="http://schemas.microsoft.com/office/powerpoint/2010/main" val="2802736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Shape 1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1" name="Shape 13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dirty="0" smtClean="0"/>
              <a:t>There</a:t>
            </a:r>
            <a:r>
              <a:rPr lang="en-GB" baseline="0" dirty="0" smtClean="0"/>
              <a:t> are 6 </a:t>
            </a:r>
            <a:r>
              <a:rPr lang="en-GB" dirty="0" smtClean="0"/>
              <a:t>flag</a:t>
            </a:r>
            <a:r>
              <a:rPr lang="en-GB" baseline="0" dirty="0" smtClean="0"/>
              <a:t> bits URG, ACK, PSH, RST, SYN, FIN on TCP header. If SYN is marked as 1, then it indicates the current packet is a SYN packet, which is the first packet between client and server. The server then replies with a SYN-ACK packet, in which SYN and ACK bits are both marked as 1. </a:t>
            </a:r>
            <a:endParaRPr lang="en-GB" dirty="0"/>
          </a:p>
        </p:txBody>
      </p:sp>
    </p:spTree>
    <p:extLst>
      <p:ext uri="{BB962C8B-B14F-4D97-AF65-F5344CB8AC3E}">
        <p14:creationId xmlns:p14="http://schemas.microsoft.com/office/powerpoint/2010/main" val="3998980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This is the 3-way handshake protocol.</a:t>
            </a:r>
            <a:r>
              <a:rPr lang="en-CA" baseline="0" dirty="0" smtClean="0"/>
              <a:t> After the protocol execution, the connection between them is established. It should be emphasized that the initial sequence number x is chosen by client randomly and sequence y is chosen randomly by server.  </a:t>
            </a:r>
            <a:endParaRPr dirty="0"/>
          </a:p>
        </p:txBody>
      </p:sp>
    </p:spTree>
    <p:extLst>
      <p:ext uri="{BB962C8B-B14F-4D97-AF65-F5344CB8AC3E}">
        <p14:creationId xmlns:p14="http://schemas.microsoft.com/office/powerpoint/2010/main" val="912257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The three</a:t>
            </a:r>
            <a:r>
              <a:rPr lang="en-CA" baseline="0" dirty="0" smtClean="0"/>
              <a:t>-way handshake protocol is between a client socket and a server socket. This server socket is called a welcome socket. All clients will establish the connection with the welcome socket.  The server socket, when receiving the SYN packet, creates a data structure TCB block to store the client state (including source/</a:t>
            </a:r>
            <a:r>
              <a:rPr lang="en-CA" baseline="0" dirty="0" err="1" smtClean="0"/>
              <a:t>destion</a:t>
            </a:r>
            <a:r>
              <a:rPr lang="en-CA" baseline="0" dirty="0" smtClean="0"/>
              <a:t> IP, source/</a:t>
            </a:r>
            <a:r>
              <a:rPr lang="en-CA" baseline="0" dirty="0" err="1" smtClean="0"/>
              <a:t>destition</a:t>
            </a:r>
            <a:r>
              <a:rPr lang="en-CA" baseline="0" dirty="0" smtClean="0"/>
              <a:t> port and sequence numbers. This TCB block will be saved a queue called SYN queue.  Then the server socket sends SYN-ACK packet to the client and waiting for the client to finish with a ACK packet. If this ACK packet indeed returns to the server. The server will move the TCB block to another queue called accept queue (which stores the TCB blocks for all clients who have completed 3-way handshake protocols).  But this is the end of  TCP establishment. The server will in fact create a new socket  to communicate with the client socket. After this the connection is established and the TCB block will be removed from accept queue.  </a:t>
            </a:r>
            <a:endParaRPr dirty="0"/>
          </a:p>
        </p:txBody>
      </p:sp>
    </p:spTree>
    <p:extLst>
      <p:ext uri="{BB962C8B-B14F-4D97-AF65-F5344CB8AC3E}">
        <p14:creationId xmlns:p14="http://schemas.microsoft.com/office/powerpoint/2010/main" val="359514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When the server sends</a:t>
            </a:r>
            <a:r>
              <a:rPr lang="en-CA" baseline="0" dirty="0" smtClean="0"/>
              <a:t> out SYN-ACK packet and before client returns the ACK packet, the 3-way handshake protocol is not completed and so it is called half-open connection. If an ACK packet is returned to server for long, then the server will retransmit it. After waiting for a while, if it is still not returned, then it will be retransmitted again. In SEED Ubuntu, it will has 6 </a:t>
            </a:r>
            <a:r>
              <a:rPr lang="en-CA" baseline="0" dirty="0" err="1" smtClean="0"/>
              <a:t>retranmissions</a:t>
            </a:r>
            <a:r>
              <a:rPr lang="en-CA" baseline="0" dirty="0" smtClean="0"/>
              <a:t>. This retransmissions make the TCB block stays in the SYN queue for long.  Since more TCB records for other clients keep coming in, this might make the queue full. </a:t>
            </a:r>
            <a:endParaRPr dirty="0"/>
          </a:p>
        </p:txBody>
      </p:sp>
    </p:spTree>
    <p:extLst>
      <p:ext uri="{BB962C8B-B14F-4D97-AF65-F5344CB8AC3E}">
        <p14:creationId xmlns:p14="http://schemas.microsoft.com/office/powerpoint/2010/main" val="3297306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Shape 1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7" name="Shape 1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Now if an</a:t>
            </a:r>
            <a:r>
              <a:rPr lang="en-CA" baseline="0" dirty="0" smtClean="0"/>
              <a:t> attacker sends a lot of SYN packets to the server but do not answer the SYN-ACK packets, then TCB records might make the SYN queue full quickly. In this case, if a new client sends a SYN packet to server, the server will not answer it as there is no space to store this client’s TCB record. In the client’s view point, the server is unavailable. That is the denial of service.  By the attacker not </a:t>
            </a:r>
            <a:r>
              <a:rPr lang="en-CA" baseline="0" dirty="0" err="1" smtClean="0"/>
              <a:t>snwering</a:t>
            </a:r>
            <a:r>
              <a:rPr lang="en-CA" baseline="0" dirty="0" smtClean="0"/>
              <a:t> SYN-ACK packet, we implicitly assume that the source IP in the attacking SYN packet is the attacker’s IP address. This is certainly not good as it can be easily blocked by a firewall at the server.  Practically, the attacking SYN packet actually uses random source IP address. </a:t>
            </a:r>
            <a:endParaRPr dirty="0"/>
          </a:p>
        </p:txBody>
      </p:sp>
    </p:spTree>
    <p:extLst>
      <p:ext uri="{BB962C8B-B14F-4D97-AF65-F5344CB8AC3E}">
        <p14:creationId xmlns:p14="http://schemas.microsoft.com/office/powerpoint/2010/main" val="3662376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813569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7" name="Shape 17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In our experiment, we created a subnet 10.9.0.0/24.  It contains a</a:t>
            </a:r>
            <a:r>
              <a:rPr lang="en-CA" baseline="0" dirty="0" smtClean="0"/>
              <a:t> victim server 10.9.0.5 and an attacker 10.9.0.1 and two legal users 10.9.0.6 and 10.9.0.7. We will target on telnet server at 10.9.0.5. </a:t>
            </a:r>
            <a:r>
              <a:rPr lang="en-CA" dirty="0" smtClean="0"/>
              <a:t>SYN</a:t>
            </a:r>
            <a:r>
              <a:rPr lang="en-CA" baseline="0" dirty="0" smtClean="0"/>
              <a:t> flooding attack is not a new attack. It already has counter-measure.  In Ubuntu, the counter-measure has been implemented.  So before our attack, we need to </a:t>
            </a:r>
            <a:r>
              <a:rPr lang="en-CA" baseline="0" dirty="0" err="1" smtClean="0"/>
              <a:t>distable</a:t>
            </a:r>
            <a:r>
              <a:rPr lang="en-CA" baseline="0" dirty="0" smtClean="0"/>
              <a:t> this counter measure. This is done by setting </a:t>
            </a:r>
            <a:r>
              <a:rPr lang="en-CA" baseline="0" dirty="0" err="1" smtClean="0"/>
              <a:t>syncookies</a:t>
            </a:r>
            <a:r>
              <a:rPr lang="en-CA" baseline="0" dirty="0" smtClean="0"/>
              <a:t> bit in server to 0.  Our C program attack is done using </a:t>
            </a:r>
            <a:r>
              <a:rPr lang="en-CA" baseline="0" dirty="0" err="1" smtClean="0"/>
              <a:t>synflood.c</a:t>
            </a:r>
            <a:r>
              <a:rPr lang="en-CA" baseline="0" dirty="0" smtClean="0"/>
              <a:t> . This program keeps creating random SYN packets sending to the server.  </a:t>
            </a:r>
            <a:endParaRPr dirty="0"/>
          </a:p>
        </p:txBody>
      </p:sp>
    </p:spTree>
    <p:extLst>
      <p:ext uri="{BB962C8B-B14F-4D97-AF65-F5344CB8AC3E}">
        <p14:creationId xmlns:p14="http://schemas.microsoft.com/office/powerpoint/2010/main" val="1423365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7" name="Shape 17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Now</a:t>
            </a:r>
            <a:r>
              <a:rPr lang="en-CA" baseline="0" dirty="0" smtClean="0"/>
              <a:t> if you telnet from user machine 10.9.0.6 to the server, it will fail.  Then, if you check the server TCP connection status, you will find that there are a lot of SYN_RECVs status for the telnet server. These are the half-open connections.  We use the word counter command to check the number of connections, </a:t>
            </a:r>
            <a:r>
              <a:rPr lang="en-CA" baseline="0" smtClean="0"/>
              <a:t>it is 97. </a:t>
            </a:r>
            <a:endParaRPr/>
          </a:p>
        </p:txBody>
      </p:sp>
    </p:spTree>
    <p:extLst>
      <p:ext uri="{BB962C8B-B14F-4D97-AF65-F5344CB8AC3E}">
        <p14:creationId xmlns:p14="http://schemas.microsoft.com/office/powerpoint/2010/main" val="2619404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7" name="Shape 17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542832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7" name="Shape 17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The program first generates a SYN packet using</a:t>
            </a:r>
            <a:r>
              <a:rPr lang="en-CA" baseline="0" dirty="0" smtClean="0"/>
              <a:t> </a:t>
            </a:r>
            <a:r>
              <a:rPr lang="en-CA" baseline="0" dirty="0" err="1" smtClean="0"/>
              <a:t>iph</a:t>
            </a:r>
            <a:r>
              <a:rPr lang="en-CA" baseline="0" dirty="0" smtClean="0"/>
              <a:t> as </a:t>
            </a:r>
            <a:r>
              <a:rPr lang="en-CA" baseline="0" dirty="0" err="1" smtClean="0"/>
              <a:t>ip</a:t>
            </a:r>
            <a:r>
              <a:rPr lang="en-CA" baseline="0" dirty="0" smtClean="0"/>
              <a:t> header, </a:t>
            </a:r>
            <a:r>
              <a:rPr lang="en-CA" baseline="0" dirty="0" err="1" smtClean="0"/>
              <a:t>tcph</a:t>
            </a:r>
            <a:r>
              <a:rPr lang="en-CA" baseline="0" dirty="0" smtClean="0"/>
              <a:t> as </a:t>
            </a:r>
            <a:r>
              <a:rPr lang="en-CA" baseline="0" dirty="0" err="1" smtClean="0"/>
              <a:t>tcp</a:t>
            </a:r>
            <a:r>
              <a:rPr lang="en-CA" baseline="0" dirty="0" smtClean="0"/>
              <a:t> header and </a:t>
            </a:r>
            <a:r>
              <a:rPr lang="en-CA" baseline="0" dirty="0" err="1" smtClean="0"/>
              <a:t>pkt</a:t>
            </a:r>
            <a:r>
              <a:rPr lang="en-CA" baseline="0" dirty="0" smtClean="0"/>
              <a:t> that combines </a:t>
            </a:r>
            <a:r>
              <a:rPr lang="en-CA" baseline="0" dirty="0" err="1" smtClean="0"/>
              <a:t>iph</a:t>
            </a:r>
            <a:r>
              <a:rPr lang="en-CA" baseline="0" dirty="0" smtClean="0"/>
              <a:t> and </a:t>
            </a:r>
            <a:r>
              <a:rPr lang="en-CA" baseline="0" dirty="0" err="1" smtClean="0"/>
              <a:t>tcph</a:t>
            </a:r>
            <a:r>
              <a:rPr lang="en-CA" baseline="0" dirty="0" smtClean="0"/>
              <a:t>, to be  </a:t>
            </a:r>
            <a:r>
              <a:rPr lang="en-CA" baseline="0" dirty="0" err="1" smtClean="0"/>
              <a:t>syn</a:t>
            </a:r>
            <a:r>
              <a:rPr lang="en-CA" baseline="0" dirty="0" smtClean="0"/>
              <a:t> packet.  </a:t>
            </a:r>
            <a:r>
              <a:rPr lang="en-CA" b="1" dirty="0" smtClean="0"/>
              <a:t>While</a:t>
            </a:r>
            <a:r>
              <a:rPr lang="en-CA" dirty="0" smtClean="0"/>
              <a:t>-loop</a:t>
            </a:r>
            <a:r>
              <a:rPr lang="en-CA" baseline="0" dirty="0" smtClean="0"/>
              <a:t> generates random source IP, source port # and random </a:t>
            </a:r>
            <a:r>
              <a:rPr lang="en-CA" baseline="0" dirty="0" err="1" smtClean="0"/>
              <a:t>seq</a:t>
            </a:r>
            <a:r>
              <a:rPr lang="en-CA" baseline="0" dirty="0" smtClean="0"/>
              <a:t> #. This sends a lot of SYN packets. </a:t>
            </a:r>
            <a:endParaRPr dirty="0"/>
          </a:p>
        </p:txBody>
      </p:sp>
    </p:spTree>
    <p:extLst>
      <p:ext uri="{BB962C8B-B14F-4D97-AF65-F5344CB8AC3E}">
        <p14:creationId xmlns:p14="http://schemas.microsoft.com/office/powerpoint/2010/main" val="3098231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The SYN</a:t>
            </a:r>
            <a:r>
              <a:rPr lang="en-CA" baseline="0" dirty="0" smtClean="0"/>
              <a:t> flooding attack makes use of the limited size for SYN queue. The counter measure is going to remove the SYN queue. That means now the server will not store any client state. </a:t>
            </a:r>
            <a:endParaRPr dirty="0"/>
          </a:p>
        </p:txBody>
      </p:sp>
    </p:spTree>
    <p:extLst>
      <p:ext uri="{BB962C8B-B14F-4D97-AF65-F5344CB8AC3E}">
        <p14:creationId xmlns:p14="http://schemas.microsoft.com/office/powerpoint/2010/main" val="2856452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15331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But if</a:t>
            </a:r>
            <a:r>
              <a:rPr lang="en-CA" baseline="0" dirty="0" smtClean="0"/>
              <a:t> the server does not store any client information, then the client can just send a ACK to the server. The server has to accept it because it is possible that the client already sent SYN packet while the server can not verify this.  This makes the protocol is still vulnerable., because the attacker can just send a lot of ACK to the server and the server has to allocate a socket with some space (that is intended to communicate with the  client who does not exist).  </a:t>
            </a:r>
            <a:endParaRPr dirty="0"/>
          </a:p>
        </p:txBody>
      </p:sp>
    </p:spTree>
    <p:extLst>
      <p:ext uri="{BB962C8B-B14F-4D97-AF65-F5344CB8AC3E}">
        <p14:creationId xmlns:p14="http://schemas.microsoft.com/office/powerpoint/2010/main" val="1690874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To avoid the problem, the server in fact generates</a:t>
            </a:r>
            <a:r>
              <a:rPr lang="en-CA" baseline="0" dirty="0" smtClean="0"/>
              <a:t> y using hash function on a secret key K and the TCB record (without y), where K is only known to server. Now when the client returns a ACK to server, server can extract the TCB record from ACK and compute the hash value H(K, TCB) and compare with y extracted from ACK.  </a:t>
            </a:r>
            <a:endParaRPr dirty="0"/>
          </a:p>
        </p:txBody>
      </p:sp>
    </p:spTree>
    <p:extLst>
      <p:ext uri="{BB962C8B-B14F-4D97-AF65-F5344CB8AC3E}">
        <p14:creationId xmlns:p14="http://schemas.microsoft.com/office/powerpoint/2010/main" val="2176538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Now</a:t>
            </a:r>
            <a:r>
              <a:rPr lang="en-CA" baseline="0" dirty="0" smtClean="0"/>
              <a:t> if the attacker only sends ACK to the server, he must compute y=H(K, TCB) in order to pass the verification. But this is impossible, as only the server knows K.  </a:t>
            </a:r>
            <a:endParaRPr dirty="0"/>
          </a:p>
        </p:txBody>
      </p:sp>
    </p:spTree>
    <p:extLst>
      <p:ext uri="{BB962C8B-B14F-4D97-AF65-F5344CB8AC3E}">
        <p14:creationId xmlns:p14="http://schemas.microsoft.com/office/powerpoint/2010/main" val="1896303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Shape 21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7" name="Shape 21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dirty="0"/>
              <a:t>There is one more way </a:t>
            </a:r>
            <a:r>
              <a:rPr lang="en-GB"/>
              <a:t>to </a:t>
            </a:r>
            <a:r>
              <a:rPr lang="en-GB" smtClean="0"/>
              <a:t>disconnect</a:t>
            </a:r>
            <a:endParaRPr lang="en-GB" dirty="0"/>
          </a:p>
        </p:txBody>
      </p:sp>
    </p:spTree>
    <p:extLst>
      <p:ext uri="{BB962C8B-B14F-4D97-AF65-F5344CB8AC3E}">
        <p14:creationId xmlns:p14="http://schemas.microsoft.com/office/powerpoint/2010/main" val="28110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4" name="Shape 22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30297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In this program, to create a response packet, the source/destination IP</a:t>
            </a:r>
            <a:r>
              <a:rPr lang="en-CA" baseline="0" dirty="0" smtClean="0"/>
              <a:t> are swapped and source/destination port # are swapped too.  The </a:t>
            </a:r>
            <a:r>
              <a:rPr lang="en-CA" baseline="0" dirty="0" err="1" smtClean="0"/>
              <a:t>seq</a:t>
            </a:r>
            <a:r>
              <a:rPr lang="en-CA" baseline="0" dirty="0" smtClean="0"/>
              <a:t> # in the response packet is the </a:t>
            </a:r>
            <a:r>
              <a:rPr lang="en-CA" baseline="0" dirty="0" err="1" smtClean="0"/>
              <a:t>ack</a:t>
            </a:r>
            <a:r>
              <a:rPr lang="en-CA" baseline="0" dirty="0" smtClean="0"/>
              <a:t> # in the receiving packet.  When you sniff, you need to sniff the subnet of 10.9.0.0/24 (on the attacker VM, this is to use </a:t>
            </a:r>
            <a:r>
              <a:rPr lang="en-CA" b="1" baseline="0" dirty="0" err="1" smtClean="0"/>
              <a:t>iface</a:t>
            </a:r>
            <a:r>
              <a:rPr lang="en-CA" b="1" baseline="0" dirty="0" smtClean="0"/>
              <a:t> </a:t>
            </a:r>
            <a:r>
              <a:rPr lang="en-CA" b="1" baseline="0" dirty="0" err="1" smtClean="0"/>
              <a:t>br</a:t>
            </a:r>
            <a:r>
              <a:rPr lang="en-CA" b="1" baseline="0" dirty="0" smtClean="0"/>
              <a:t>-xxx</a:t>
            </a:r>
            <a:r>
              <a:rPr lang="en-CA" baseline="0" dirty="0" smtClean="0"/>
              <a:t>). Check </a:t>
            </a:r>
            <a:r>
              <a:rPr lang="en-CA" baseline="0" dirty="0" err="1" smtClean="0"/>
              <a:t>ifconfig</a:t>
            </a:r>
            <a:r>
              <a:rPr lang="en-CA" baseline="0" dirty="0" smtClean="0"/>
              <a:t> to see this interface.  Usually, you can sniff a particular protocol, port, </a:t>
            </a:r>
            <a:r>
              <a:rPr lang="en-CA" baseline="0" dirty="0" err="1" smtClean="0"/>
              <a:t>ip</a:t>
            </a:r>
            <a:r>
              <a:rPr lang="en-CA" baseline="0" dirty="0" smtClean="0"/>
              <a:t> address, this is what specified in the </a:t>
            </a:r>
            <a:r>
              <a:rPr lang="en-CA" b="1" baseline="0" dirty="0" err="1" smtClean="0"/>
              <a:t>MyFilter</a:t>
            </a:r>
            <a:r>
              <a:rPr lang="en-CA" b="0" baseline="0" dirty="0" smtClean="0"/>
              <a:t> v</a:t>
            </a:r>
            <a:r>
              <a:rPr lang="en-CA" baseline="0" dirty="0" smtClean="0"/>
              <a:t>ariable. </a:t>
            </a:r>
            <a:endParaRPr dirty="0"/>
          </a:p>
        </p:txBody>
      </p:sp>
    </p:spTree>
    <p:extLst>
      <p:ext uri="{BB962C8B-B14F-4D97-AF65-F5344CB8AC3E}">
        <p14:creationId xmlns:p14="http://schemas.microsoft.com/office/powerpoint/2010/main" val="4236090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1" name="Shape 2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Hijacking attack is </a:t>
            </a:r>
            <a:r>
              <a:rPr lang="en-CA" dirty="0" err="1" smtClean="0"/>
              <a:t>techinically</a:t>
            </a:r>
            <a:r>
              <a:rPr lang="en-CA" baseline="0" dirty="0" smtClean="0"/>
              <a:t> similar to reset attack. In reset attack, you send a reply TCP packet with </a:t>
            </a:r>
            <a:r>
              <a:rPr lang="en-CA" baseline="0" dirty="0" err="1" smtClean="0"/>
              <a:t>flagbit</a:t>
            </a:r>
            <a:r>
              <a:rPr lang="en-CA" baseline="0" dirty="0" smtClean="0"/>
              <a:t> R. In Hijacking attack, you send a reply TCP packet with some message.  To </a:t>
            </a:r>
            <a:r>
              <a:rPr lang="en-CA" baseline="0" dirty="0" err="1" smtClean="0"/>
              <a:t>Hijiacking</a:t>
            </a:r>
            <a:r>
              <a:rPr lang="en-CA" baseline="0" dirty="0" smtClean="0"/>
              <a:t> Telnet, this message is a certain telnet command.  So the attack behaviour in the attacker program is similar. </a:t>
            </a:r>
          </a:p>
          <a:p>
            <a:pPr marL="0" lvl="0" indent="0">
              <a:spcBef>
                <a:spcPts val="0"/>
              </a:spcBef>
              <a:buNone/>
            </a:pPr>
            <a:endParaRPr lang="en-CA" dirty="0" smtClean="0"/>
          </a:p>
          <a:p>
            <a:pPr marL="0" lvl="0" indent="0">
              <a:spcBef>
                <a:spcPts val="0"/>
              </a:spcBef>
              <a:buNone/>
            </a:pPr>
            <a:r>
              <a:rPr lang="en-CA" dirty="0" smtClean="0"/>
              <a:t>As</a:t>
            </a:r>
            <a:r>
              <a:rPr lang="en-CA" baseline="0" dirty="0" smtClean="0"/>
              <a:t> for the reset attack, you need to make sure the four-tuple should be correct.  The sequence # should not be too large or too small; otherwise, it will be rejected. </a:t>
            </a:r>
            <a:endParaRPr dirty="0"/>
          </a:p>
        </p:txBody>
      </p:sp>
    </p:spTree>
    <p:extLst>
      <p:ext uri="{BB962C8B-B14F-4D97-AF65-F5344CB8AC3E}">
        <p14:creationId xmlns:p14="http://schemas.microsoft.com/office/powerpoint/2010/main" val="2419501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9" name="Shape 27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To make sure it not too large, </a:t>
            </a:r>
            <a:endParaRPr dirty="0"/>
          </a:p>
        </p:txBody>
      </p:sp>
    </p:spTree>
    <p:extLst>
      <p:ext uri="{BB962C8B-B14F-4D97-AF65-F5344CB8AC3E}">
        <p14:creationId xmlns:p14="http://schemas.microsoft.com/office/powerpoint/2010/main" val="311657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Shape 2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5" name="Shape 28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lang="en-GB" dirty="0"/>
          </a:p>
        </p:txBody>
      </p:sp>
    </p:spTree>
    <p:extLst>
      <p:ext uri="{BB962C8B-B14F-4D97-AF65-F5344CB8AC3E}">
        <p14:creationId xmlns:p14="http://schemas.microsoft.com/office/powerpoint/2010/main" val="1673137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295898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56473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1268357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177628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8218179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1587088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624338536"/>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buSzPts val="5200"/>
              <a:buNone/>
              <a:defRPr sz="5200"/>
            </a:lvl1pPr>
            <a:lvl2pPr lvl="1" algn="ctr">
              <a:spcBef>
                <a:spcPts val="0"/>
              </a:spcBef>
              <a:buSzPts val="5200"/>
              <a:buNone/>
              <a:defRPr sz="5200"/>
            </a:lvl2pPr>
            <a:lvl3pPr lvl="2" algn="ctr">
              <a:spcBef>
                <a:spcPts val="0"/>
              </a:spcBef>
              <a:buSzPts val="5200"/>
              <a:buNone/>
              <a:defRPr sz="5200"/>
            </a:lvl3pPr>
            <a:lvl4pPr lvl="3" algn="ctr">
              <a:spcBef>
                <a:spcPts val="0"/>
              </a:spcBef>
              <a:buSzPts val="5200"/>
              <a:buNone/>
              <a:defRPr sz="5200"/>
            </a:lvl4pPr>
            <a:lvl5pPr lvl="4" algn="ctr">
              <a:spcBef>
                <a:spcPts val="0"/>
              </a:spcBef>
              <a:buSzPts val="5200"/>
              <a:buNone/>
              <a:defRPr sz="5200"/>
            </a:lvl5pPr>
            <a:lvl6pPr lvl="5" algn="ctr">
              <a:spcBef>
                <a:spcPts val="0"/>
              </a:spcBef>
              <a:buSzPts val="5200"/>
              <a:buNone/>
              <a:defRPr sz="5200"/>
            </a:lvl6pPr>
            <a:lvl7pPr lvl="6" algn="ctr">
              <a:spcBef>
                <a:spcPts val="0"/>
              </a:spcBef>
              <a:buSzPts val="5200"/>
              <a:buNone/>
              <a:defRPr sz="5200"/>
            </a:lvl7pPr>
            <a:lvl8pPr lvl="7" algn="ctr">
              <a:spcBef>
                <a:spcPts val="0"/>
              </a:spcBef>
              <a:buSzPts val="5200"/>
              <a:buNone/>
              <a:defRPr sz="5200"/>
            </a:lvl8pPr>
            <a:lvl9pPr lvl="8" algn="ctr">
              <a:spcBef>
                <a:spcPts val="0"/>
              </a:spcBef>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wrap="square" lIns="91425" tIns="91425" rIns="91425" bIns="91425" anchor="ctr" anchorCtr="0"/>
          <a:lstStyle>
            <a:lvl1pPr lvl="0" algn="ctr">
              <a:spcBef>
                <a:spcPts val="0"/>
              </a:spcBef>
              <a:buSzPts val="3600"/>
              <a:buNone/>
              <a:defRPr sz="3600"/>
            </a:lvl1pPr>
            <a:lvl2pPr lvl="1" algn="ctr">
              <a:spcBef>
                <a:spcPts val="0"/>
              </a:spcBef>
              <a:buSzPts val="3600"/>
              <a:buNone/>
              <a:defRPr sz="3600"/>
            </a:lvl2pPr>
            <a:lvl3pPr lvl="2" algn="ctr">
              <a:spcBef>
                <a:spcPts val="0"/>
              </a:spcBef>
              <a:buSzPts val="3600"/>
              <a:buNone/>
              <a:defRPr sz="3600"/>
            </a:lvl3pPr>
            <a:lvl4pPr lvl="3" algn="ctr">
              <a:spcBef>
                <a:spcPts val="0"/>
              </a:spcBef>
              <a:buSzPts val="3600"/>
              <a:buNone/>
              <a:defRPr sz="3600"/>
            </a:lvl4pPr>
            <a:lvl5pPr lvl="4" algn="ctr">
              <a:spcBef>
                <a:spcPts val="0"/>
              </a:spcBef>
              <a:buSzPts val="3600"/>
              <a:buNone/>
              <a:defRPr sz="3600"/>
            </a:lvl5pPr>
            <a:lvl6pPr lvl="5" algn="ctr">
              <a:spcBef>
                <a:spcPts val="0"/>
              </a:spcBef>
              <a:buSzPts val="3600"/>
              <a:buNone/>
              <a:defRPr sz="3600"/>
            </a:lvl6pPr>
            <a:lvl7pPr lvl="6" algn="ctr">
              <a:spcBef>
                <a:spcPts val="0"/>
              </a:spcBef>
              <a:buSzPts val="3600"/>
              <a:buNone/>
              <a:defRPr sz="3600"/>
            </a:lvl7pPr>
            <a:lvl8pPr lvl="7" algn="ctr">
              <a:spcBef>
                <a:spcPts val="0"/>
              </a:spcBef>
              <a:buSzPts val="3600"/>
              <a:buNone/>
              <a:defRPr sz="3600"/>
            </a:lvl8pPr>
            <a:lvl9pPr lvl="8" algn="ctr">
              <a:spcBef>
                <a:spcPts val="0"/>
              </a:spcBef>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ts val="2400"/>
              <a:buNone/>
              <a:defRPr sz="2400"/>
            </a:lvl1pPr>
            <a:lvl2pPr lvl="1">
              <a:spcBef>
                <a:spcPts val="0"/>
              </a:spcBef>
              <a:buSzPts val="2400"/>
              <a:buNone/>
              <a:defRPr sz="2400"/>
            </a:lvl2pPr>
            <a:lvl3pPr lvl="2">
              <a:spcBef>
                <a:spcPts val="0"/>
              </a:spcBef>
              <a:buSzPts val="2400"/>
              <a:buNone/>
              <a:defRPr sz="2400"/>
            </a:lvl3pPr>
            <a:lvl4pPr lvl="3">
              <a:spcBef>
                <a:spcPts val="0"/>
              </a:spcBef>
              <a:buSzPts val="2400"/>
              <a:buNone/>
              <a:defRPr sz="2400"/>
            </a:lvl4pPr>
            <a:lvl5pPr lvl="4">
              <a:spcBef>
                <a:spcPts val="0"/>
              </a:spcBef>
              <a:buSzPts val="2400"/>
              <a:buNone/>
              <a:defRPr sz="2400"/>
            </a:lvl5pPr>
            <a:lvl6pPr lvl="5">
              <a:spcBef>
                <a:spcPts val="0"/>
              </a:spcBef>
              <a:buSzPts val="2400"/>
              <a:buNone/>
              <a:defRPr sz="2400"/>
            </a:lvl6pPr>
            <a:lvl7pPr lvl="6">
              <a:spcBef>
                <a:spcPts val="0"/>
              </a:spcBef>
              <a:buSzPts val="2400"/>
              <a:buNone/>
              <a:defRPr sz="2400"/>
            </a:lvl7pPr>
            <a:lvl8pPr lvl="7">
              <a:spcBef>
                <a:spcPts val="0"/>
              </a:spcBef>
              <a:buSzPts val="2400"/>
              <a:buNone/>
              <a:defRPr sz="2400"/>
            </a:lvl8pPr>
            <a:lvl9pPr lvl="8">
              <a:spcBef>
                <a:spcPts val="0"/>
              </a:spcBef>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ts val="1200"/>
              <a:buChar char="●"/>
              <a:defRPr sz="12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wrap="square" lIns="91425" tIns="91425" rIns="91425" bIns="91425" anchor="ctr" anchorCtr="0"/>
          <a:lstStyle>
            <a:lvl1pPr lvl="0">
              <a:spcBef>
                <a:spcPts val="0"/>
              </a:spcBef>
              <a:buSzPts val="4800"/>
              <a:buNone/>
              <a:defRPr sz="4800"/>
            </a:lvl1pPr>
            <a:lvl2pPr lvl="1">
              <a:spcBef>
                <a:spcPts val="0"/>
              </a:spcBef>
              <a:buSzPts val="4800"/>
              <a:buNone/>
              <a:defRPr sz="4800"/>
            </a:lvl2pPr>
            <a:lvl3pPr lvl="2">
              <a:spcBef>
                <a:spcPts val="0"/>
              </a:spcBef>
              <a:buSzPts val="4800"/>
              <a:buNone/>
              <a:defRPr sz="4800"/>
            </a:lvl3pPr>
            <a:lvl4pPr lvl="3">
              <a:spcBef>
                <a:spcPts val="0"/>
              </a:spcBef>
              <a:buSzPts val="4800"/>
              <a:buNone/>
              <a:defRPr sz="4800"/>
            </a:lvl4pPr>
            <a:lvl5pPr lvl="4">
              <a:spcBef>
                <a:spcPts val="0"/>
              </a:spcBef>
              <a:buSzPts val="4800"/>
              <a:buNone/>
              <a:defRPr sz="4800"/>
            </a:lvl5pPr>
            <a:lvl6pPr lvl="5">
              <a:spcBef>
                <a:spcPts val="0"/>
              </a:spcBef>
              <a:buSzPts val="4800"/>
              <a:buNone/>
              <a:defRPr sz="4800"/>
            </a:lvl6pPr>
            <a:lvl7pPr lvl="6">
              <a:spcBef>
                <a:spcPts val="0"/>
              </a:spcBef>
              <a:buSzPts val="4800"/>
              <a:buNone/>
              <a:defRPr sz="4800"/>
            </a:lvl7pPr>
            <a:lvl8pPr lvl="7">
              <a:spcBef>
                <a:spcPts val="0"/>
              </a:spcBef>
              <a:buSzPts val="4800"/>
              <a:buNone/>
              <a:defRPr sz="4800"/>
            </a:lvl8pPr>
            <a:lvl9pPr lvl="8">
              <a:spcBef>
                <a:spcPts val="0"/>
              </a:spcBef>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lvl="0" indent="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wrap="square" lIns="91425" tIns="91425" rIns="91425" bIns="91425" anchor="b" anchorCtr="0"/>
          <a:lstStyle>
            <a:lvl1pPr lvl="0" algn="ctr">
              <a:spcBef>
                <a:spcPts val="0"/>
              </a:spcBef>
              <a:buSzPts val="4200"/>
              <a:buNone/>
              <a:defRPr sz="4200"/>
            </a:lvl1pPr>
            <a:lvl2pPr lvl="1" algn="ctr">
              <a:spcBef>
                <a:spcPts val="0"/>
              </a:spcBef>
              <a:buSzPts val="4200"/>
              <a:buNone/>
              <a:defRPr sz="4200"/>
            </a:lvl2pPr>
            <a:lvl3pPr lvl="2" algn="ctr">
              <a:spcBef>
                <a:spcPts val="0"/>
              </a:spcBef>
              <a:buSzPts val="4200"/>
              <a:buNone/>
              <a:defRPr sz="4200"/>
            </a:lvl3pPr>
            <a:lvl4pPr lvl="3" algn="ctr">
              <a:spcBef>
                <a:spcPts val="0"/>
              </a:spcBef>
              <a:buSzPts val="4200"/>
              <a:buNone/>
              <a:defRPr sz="4200"/>
            </a:lvl4pPr>
            <a:lvl5pPr lvl="4" algn="ctr">
              <a:spcBef>
                <a:spcPts val="0"/>
              </a:spcBef>
              <a:buSzPts val="4200"/>
              <a:buNone/>
              <a:defRPr sz="4200"/>
            </a:lvl5pPr>
            <a:lvl6pPr lvl="5" algn="ctr">
              <a:spcBef>
                <a:spcPts val="0"/>
              </a:spcBef>
              <a:buSzPts val="4200"/>
              <a:buNone/>
              <a:defRPr sz="4200"/>
            </a:lvl6pPr>
            <a:lvl7pPr lvl="6" algn="ctr">
              <a:spcBef>
                <a:spcPts val="0"/>
              </a:spcBef>
              <a:buSzPts val="4200"/>
              <a:buNone/>
              <a:defRPr sz="4200"/>
            </a:lvl7pPr>
            <a:lvl8pPr lvl="7" algn="ctr">
              <a:spcBef>
                <a:spcPts val="0"/>
              </a:spcBef>
              <a:buSzPts val="4200"/>
              <a:buNone/>
              <a:defRPr sz="4200"/>
            </a:lvl8pPr>
            <a:lvl9pPr lvl="8" algn="ctr">
              <a:spcBef>
                <a:spcPts val="0"/>
              </a:spcBef>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wrap="square" lIns="91425" tIns="91425" rIns="91425" bIns="91425" anchor="ctr"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wrap="square" lIns="91425" tIns="91425" rIns="91425" bIns="91425" anchor="b" anchorCtr="0"/>
          <a:lstStyle>
            <a:lvl1pPr lvl="0" algn="ctr">
              <a:spcBef>
                <a:spcPts val="0"/>
              </a:spcBef>
              <a:buSzPts val="12000"/>
              <a:buNone/>
              <a:defRPr sz="12000"/>
            </a:lvl1pPr>
            <a:lvl2pPr lvl="1" algn="ctr">
              <a:spcBef>
                <a:spcPts val="0"/>
              </a:spcBef>
              <a:buSzPts val="12000"/>
              <a:buNone/>
              <a:defRPr sz="12000"/>
            </a:lvl2pPr>
            <a:lvl3pPr lvl="2" algn="ctr">
              <a:spcBef>
                <a:spcPts val="0"/>
              </a:spcBef>
              <a:buSzPts val="12000"/>
              <a:buNone/>
              <a:defRPr sz="12000"/>
            </a:lvl3pPr>
            <a:lvl4pPr lvl="3" algn="ctr">
              <a:spcBef>
                <a:spcPts val="0"/>
              </a:spcBef>
              <a:buSzPts val="12000"/>
              <a:buNone/>
              <a:defRPr sz="12000"/>
            </a:lvl4pPr>
            <a:lvl5pPr lvl="4" algn="ctr">
              <a:spcBef>
                <a:spcPts val="0"/>
              </a:spcBef>
              <a:buSzPts val="12000"/>
              <a:buNone/>
              <a:defRPr sz="12000"/>
            </a:lvl5pPr>
            <a:lvl6pPr lvl="5" algn="ctr">
              <a:spcBef>
                <a:spcPts val="0"/>
              </a:spcBef>
              <a:buSzPts val="12000"/>
              <a:buNone/>
              <a:defRPr sz="12000"/>
            </a:lvl6pPr>
            <a:lvl7pPr lvl="6" algn="ctr">
              <a:spcBef>
                <a:spcPts val="0"/>
              </a:spcBef>
              <a:buSzPts val="12000"/>
              <a:buNone/>
              <a:defRPr sz="12000"/>
            </a:lvl7pPr>
            <a:lvl8pPr lvl="7" algn="ctr">
              <a:spcBef>
                <a:spcPts val="0"/>
              </a:spcBef>
              <a:buSzPts val="12000"/>
              <a:buNone/>
              <a:defRPr sz="12000"/>
            </a:lvl8pPr>
            <a:lvl9pPr lvl="8" algn="ctr">
              <a:spcBef>
                <a:spcPts val="0"/>
              </a:spcBef>
              <a:buSzPts val="12000"/>
              <a:buNone/>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wrap="square" lIns="91425" tIns="91425" rIns="91425" bIns="91425" anchor="t" anchorCtr="0"/>
          <a:lstStyle>
            <a:lvl1pPr lvl="0" algn="ctr">
              <a:spcBef>
                <a:spcPts val="0"/>
              </a:spcBef>
              <a:buSzPts val="1800"/>
              <a:buChar char="●"/>
              <a:defRPr/>
            </a:lvl1pPr>
            <a:lvl2pPr lvl="1" algn="ctr">
              <a:spcBef>
                <a:spcPts val="0"/>
              </a:spcBef>
              <a:buSzPts val="1400"/>
              <a:buChar char="○"/>
              <a:defRPr/>
            </a:lvl2pPr>
            <a:lvl3pPr lvl="2" algn="ctr">
              <a:spcBef>
                <a:spcPts val="0"/>
              </a:spcBef>
              <a:buSzPts val="1400"/>
              <a:buChar char="■"/>
              <a:defRPr/>
            </a:lvl3pPr>
            <a:lvl4pPr lvl="3" algn="ctr">
              <a:spcBef>
                <a:spcPts val="0"/>
              </a:spcBef>
              <a:buSzPts val="1400"/>
              <a:buChar char="●"/>
              <a:defRPr/>
            </a:lvl4pPr>
            <a:lvl5pPr lvl="4" algn="ctr">
              <a:spcBef>
                <a:spcPts val="0"/>
              </a:spcBef>
              <a:buSzPts val="1400"/>
              <a:buChar char="○"/>
              <a:defRPr/>
            </a:lvl5pPr>
            <a:lvl6pPr lvl="5" algn="ctr">
              <a:spcBef>
                <a:spcPts val="0"/>
              </a:spcBef>
              <a:buSzPts val="1400"/>
              <a:buChar char="■"/>
              <a:defRPr/>
            </a:lvl6pPr>
            <a:lvl7pPr lvl="6" algn="ctr">
              <a:spcBef>
                <a:spcPts val="0"/>
              </a:spcBef>
              <a:buSzPts val="1400"/>
              <a:buChar char="●"/>
              <a:defRPr/>
            </a:lvl7pPr>
            <a:lvl8pPr lvl="7" algn="ctr">
              <a:spcBef>
                <a:spcPts val="0"/>
              </a:spcBef>
              <a:buSzPts val="1400"/>
              <a:buChar char="○"/>
              <a:defRPr/>
            </a:lvl8pPr>
            <a:lvl9pPr lvl="8" algn="ctr">
              <a:spcBef>
                <a:spcPts val="0"/>
              </a:spcBef>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jpe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srcRect/>
          <a:tile tx="0" ty="0" sx="100000" sy="100000" flip="none" algn="tl"/>
        </a:blip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1"/>
              </a:buClr>
              <a:buSzPts val="2800"/>
              <a:buNone/>
              <a:defRPr sz="2800">
                <a:solidFill>
                  <a:schemeClr val="dk1"/>
                </a:solidFill>
              </a:defRPr>
            </a:lvl1pPr>
            <a:lvl2pPr lvl="1">
              <a:spcBef>
                <a:spcPts val="0"/>
              </a:spcBef>
              <a:buClr>
                <a:schemeClr val="dk1"/>
              </a:buClr>
              <a:buSzPts val="2800"/>
              <a:buNone/>
              <a:defRPr sz="2800">
                <a:solidFill>
                  <a:schemeClr val="dk1"/>
                </a:solidFill>
              </a:defRPr>
            </a:lvl2pPr>
            <a:lvl3pPr lvl="2">
              <a:spcBef>
                <a:spcPts val="0"/>
              </a:spcBef>
              <a:buClr>
                <a:schemeClr val="dk1"/>
              </a:buClr>
              <a:buSzPts val="2800"/>
              <a:buNone/>
              <a:defRPr sz="2800">
                <a:solidFill>
                  <a:schemeClr val="dk1"/>
                </a:solidFill>
              </a:defRPr>
            </a:lvl3pPr>
            <a:lvl4pPr lvl="3">
              <a:spcBef>
                <a:spcPts val="0"/>
              </a:spcBef>
              <a:buClr>
                <a:schemeClr val="dk1"/>
              </a:buClr>
              <a:buSzPts val="2800"/>
              <a:buNone/>
              <a:defRPr sz="2800">
                <a:solidFill>
                  <a:schemeClr val="dk1"/>
                </a:solidFill>
              </a:defRPr>
            </a:lvl4pPr>
            <a:lvl5pPr lvl="4">
              <a:spcBef>
                <a:spcPts val="0"/>
              </a:spcBef>
              <a:buClr>
                <a:schemeClr val="dk1"/>
              </a:buClr>
              <a:buSzPts val="2800"/>
              <a:buNone/>
              <a:defRPr sz="2800">
                <a:solidFill>
                  <a:schemeClr val="dk1"/>
                </a:solidFill>
              </a:defRPr>
            </a:lvl5pPr>
            <a:lvl6pPr lvl="5">
              <a:spcBef>
                <a:spcPts val="0"/>
              </a:spcBef>
              <a:buClr>
                <a:schemeClr val="dk1"/>
              </a:buClr>
              <a:buSzPts val="2800"/>
              <a:buNone/>
              <a:defRPr sz="2800">
                <a:solidFill>
                  <a:schemeClr val="dk1"/>
                </a:solidFill>
              </a:defRPr>
            </a:lvl6pPr>
            <a:lvl7pPr lvl="6">
              <a:spcBef>
                <a:spcPts val="0"/>
              </a:spcBef>
              <a:buClr>
                <a:schemeClr val="dk1"/>
              </a:buClr>
              <a:buSzPts val="2800"/>
              <a:buNone/>
              <a:defRPr sz="2800">
                <a:solidFill>
                  <a:schemeClr val="dk1"/>
                </a:solidFill>
              </a:defRPr>
            </a:lvl7pPr>
            <a:lvl8pPr lvl="7">
              <a:spcBef>
                <a:spcPts val="0"/>
              </a:spcBef>
              <a:buClr>
                <a:schemeClr val="dk1"/>
              </a:buClr>
              <a:buSzPts val="2800"/>
              <a:buNone/>
              <a:defRPr sz="2800">
                <a:solidFill>
                  <a:schemeClr val="dk1"/>
                </a:solidFill>
              </a:defRPr>
            </a:lvl8pPr>
            <a:lvl9pPr lvl="8">
              <a:spcBef>
                <a:spcPts val="0"/>
              </a:spcBef>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ts val="1800"/>
              <a:buChar char="●"/>
              <a:defRPr sz="1800">
                <a:solidFill>
                  <a:schemeClr val="dk2"/>
                </a:solidFill>
              </a:defRPr>
            </a:lvl1pPr>
            <a:lvl2pPr lvl="1">
              <a:lnSpc>
                <a:spcPct val="115000"/>
              </a:lnSpc>
              <a:spcBef>
                <a:spcPts val="0"/>
              </a:spcBef>
              <a:spcAft>
                <a:spcPts val="1600"/>
              </a:spcAft>
              <a:buClr>
                <a:schemeClr val="dk2"/>
              </a:buClr>
              <a:buSzPts val="1400"/>
              <a:buChar char="○"/>
              <a:defRPr>
                <a:solidFill>
                  <a:schemeClr val="dk2"/>
                </a:solidFill>
              </a:defRPr>
            </a:lvl2pPr>
            <a:lvl3pPr lvl="2">
              <a:lnSpc>
                <a:spcPct val="115000"/>
              </a:lnSpc>
              <a:spcBef>
                <a:spcPts val="0"/>
              </a:spcBef>
              <a:spcAft>
                <a:spcPts val="1600"/>
              </a:spcAft>
              <a:buClr>
                <a:schemeClr val="dk2"/>
              </a:buClr>
              <a:buSzPts val="1400"/>
              <a:buChar char="■"/>
              <a:defRPr>
                <a:solidFill>
                  <a:schemeClr val="dk2"/>
                </a:solidFill>
              </a:defRPr>
            </a:lvl3pPr>
            <a:lvl4pPr lvl="3">
              <a:lnSpc>
                <a:spcPct val="115000"/>
              </a:lnSpc>
              <a:spcBef>
                <a:spcPts val="0"/>
              </a:spcBef>
              <a:spcAft>
                <a:spcPts val="1600"/>
              </a:spcAft>
              <a:buClr>
                <a:schemeClr val="dk2"/>
              </a:buClr>
              <a:buSzPts val="1400"/>
              <a:buChar char="●"/>
              <a:defRPr>
                <a:solidFill>
                  <a:schemeClr val="dk2"/>
                </a:solidFill>
              </a:defRPr>
            </a:lvl4pPr>
            <a:lvl5pPr lvl="4">
              <a:lnSpc>
                <a:spcPct val="115000"/>
              </a:lnSpc>
              <a:spcBef>
                <a:spcPts val="0"/>
              </a:spcBef>
              <a:spcAft>
                <a:spcPts val="1600"/>
              </a:spcAft>
              <a:buClr>
                <a:schemeClr val="dk2"/>
              </a:buClr>
              <a:buSzPts val="1400"/>
              <a:buChar char="○"/>
              <a:defRPr>
                <a:solidFill>
                  <a:schemeClr val="dk2"/>
                </a:solidFill>
              </a:defRPr>
            </a:lvl5pPr>
            <a:lvl6pPr lvl="5">
              <a:lnSpc>
                <a:spcPct val="115000"/>
              </a:lnSpc>
              <a:spcBef>
                <a:spcPts val="0"/>
              </a:spcBef>
              <a:spcAft>
                <a:spcPts val="1600"/>
              </a:spcAft>
              <a:buClr>
                <a:schemeClr val="dk2"/>
              </a:buClr>
              <a:buSzPts val="1400"/>
              <a:buChar char="■"/>
              <a:defRPr>
                <a:solidFill>
                  <a:schemeClr val="dk2"/>
                </a:solidFill>
              </a:defRPr>
            </a:lvl6pPr>
            <a:lvl7pPr lvl="6">
              <a:lnSpc>
                <a:spcPct val="115000"/>
              </a:lnSpc>
              <a:spcBef>
                <a:spcPts val="0"/>
              </a:spcBef>
              <a:spcAft>
                <a:spcPts val="1600"/>
              </a:spcAft>
              <a:buClr>
                <a:schemeClr val="dk2"/>
              </a:buClr>
              <a:buSzPts val="1400"/>
              <a:buChar char="●"/>
              <a:defRPr>
                <a:solidFill>
                  <a:schemeClr val="dk2"/>
                </a:solidFill>
              </a:defRPr>
            </a:lvl7pPr>
            <a:lvl8pPr lvl="7">
              <a:lnSpc>
                <a:spcPct val="115000"/>
              </a:lnSpc>
              <a:spcBef>
                <a:spcPts val="0"/>
              </a:spcBef>
              <a:spcAft>
                <a:spcPts val="1600"/>
              </a:spcAft>
              <a:buClr>
                <a:schemeClr val="dk2"/>
              </a:buClr>
              <a:buSzPts val="1400"/>
              <a:buChar char="○"/>
              <a:defRPr>
                <a:solidFill>
                  <a:schemeClr val="dk2"/>
                </a:solidFill>
              </a:defRPr>
            </a:lvl8pPr>
            <a:lvl9pPr lvl="8">
              <a:lnSpc>
                <a:spcPct val="115000"/>
              </a:lnSpc>
              <a:spcBef>
                <a:spcPts val="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noAutofit/>
          </a:bodyPr>
          <a:lstStyle/>
          <a:p>
            <a:pPr marL="0" lvl="0" indent="0" algn="r">
              <a:spcBef>
                <a:spcPts val="0"/>
              </a:spcBef>
              <a:buNone/>
            </a:pPr>
            <a:fld id="{00000000-1234-1234-1234-123412341234}" type="slidenum">
              <a:rPr lang="en-GB" sz="1000">
                <a:solidFill>
                  <a:schemeClr val="dk2"/>
                </a:solidFill>
              </a:rPr>
              <a:t>‹#›</a:t>
            </a:fld>
            <a:endParaRPr lang="en-GB"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 Id="rId3" Target="../media/image5.tmp"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 Id="rId3" Target="../media/image7.tmp" Type="http://schemas.openxmlformats.org/officeDocument/2006/relationships/image"/><Relationship Id="rId4"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 Id="rId3"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 Id="rId3"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 Id="rId3"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 Id="rId3" Target="../media/image1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 Id="rId3" Target="../media/image1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 Id="rId3" Target="../media/image17.tmp"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 Id="rId3" Target="../media/image1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 Id="rId3" Target="../media/image1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 Id="rId3" Target="../media/image2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3.xml" Type="http://schemas.openxmlformats.org/officeDocument/2006/relationships/notesSlide"/><Relationship Id="rId3" Target="../media/image21.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744575"/>
            <a:ext cx="8520600" cy="2052600"/>
          </a:xfrm>
          <a:prstGeom prst="rect">
            <a:avLst/>
          </a:prstGeom>
        </p:spPr>
        <p:txBody>
          <a:bodyPr anchor="b" anchorCtr="0" bIns="91425" lIns="91425" rIns="91425" tIns="91425" wrap="square">
            <a:noAutofit/>
          </a:bodyPr>
          <a:lstStyle/>
          <a:p>
            <a:pPr indent="0" lvl="0" marL="0">
              <a:spcBef>
                <a:spcPts val="0"/>
              </a:spcBef>
              <a:buNone/>
            </a:pPr>
            <a:r>
              <a:rPr dirty="0" lang="en-GB" smtClean="0"/>
              <a:t>TCP  Attacks</a:t>
            </a:r>
            <a:endParaRPr dirty="0" lang="en-GB"/>
          </a:p>
        </p:txBody>
      </p:sp>
    </p:spTree>
  </p:cSld>
  <p:clrMapOvr>
    <a:masterClrMapping/>
  </p:clrMapOvr>
  <p:timing>
    <p:tnLst>
      <p:par>
        <p:cTn dur="indefinite" id="1" nodeType="tmRoot" restart="never"/>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Shape 58"/>
        <p:cNvGrpSpPr/>
        <p:nvPr/>
      </p:nvGrpSpPr>
      <p:grpSpPr>
        <a:xfrm>
          <a:off x="0" y="0"/>
          <a:ext cx="0" cy="0"/>
          <a:chOff x="0" y="0"/>
          <a:chExt cx="0" cy="0"/>
        </a:xfrm>
      </p:grpSpPr>
      <p:sp>
        <p:nvSpPr>
          <p:cNvPr id="60" name="Shape 60"/>
          <p:cNvSpPr txBox="1">
            <a:spLocks noGrp="1"/>
          </p:cNvSpPr>
          <p:nvPr>
            <p:ph idx="1" type="body"/>
          </p:nvPr>
        </p:nvSpPr>
        <p:spPr>
          <a:xfrm>
            <a:off x="193288" y="4440429"/>
            <a:ext cx="8520600" cy="525454"/>
          </a:xfrm>
          <a:prstGeom prst="rect">
            <a:avLst/>
          </a:prstGeom>
        </p:spPr>
        <p:txBody>
          <a:bodyPr anchor="t" anchorCtr="0" bIns="91425" lIns="91425" rIns="91425" tIns="91425" wrap="square">
            <a:noAutofit/>
          </a:bodyPr>
          <a:lstStyle/>
          <a:p>
            <a:pPr algn="ctr" lvl="0" marL="114300">
              <a:spcBef>
                <a:spcPts val="0"/>
              </a:spcBef>
              <a:spcAft>
                <a:spcPts val="0"/>
              </a:spcAft>
              <a:buClr>
                <a:srgbClr val="000000"/>
              </a:buClr>
              <a:buSzPts val="1800"/>
              <a:buNone/>
            </a:pPr>
            <a:r>
              <a:rPr dirty="0" lang="en-GB" smtClean="0">
                <a:solidFill>
                  <a:srgbClr val="000000"/>
                </a:solidFill>
              </a:rPr>
              <a:t>Ambassador Bridge Blockade</a:t>
            </a:r>
            <a:endParaRPr dirty="0" lang="en-GB">
              <a:solidFill>
                <a:srgbClr val="000000"/>
              </a:solidFill>
            </a:endParaRPr>
          </a:p>
        </p:txBody>
      </p:sp>
      <p:pic>
        <p:nvPicPr>
          <p:cNvPr id="2" name="Picture 1" descr="A convoy of vehicles with Canadian flags and protest signs blocks a street near a bridge, with groups of people walking and gathering in winter conditions."/>
          <p:cNvPicPr>
            <a:picLocks noChangeAspect="1"/>
          </p:cNvPicPr>
          <p:nvPr/>
        </p:nvPicPr>
        <p:blipFill>
          <a:blip r:embed="rId3"/>
          <a:stretch>
            <a:fillRect/>
          </a:stretch>
        </p:blipFill>
        <p:spPr>
          <a:xfrm>
            <a:off x="1054311" y="267441"/>
            <a:ext cx="6839790" cy="4268029"/>
          </a:xfrm>
          <a:prstGeom prst="rect">
            <a:avLst/>
          </a:prstGeom>
        </p:spPr>
      </p:pic>
      <p:sp>
        <p:nvSpPr>
          <p:cNvPr id="3" name="Slide Number Placeholder 2"/>
          <p:cNvSpPr>
            <a:spLocks noGrp="1"/>
          </p:cNvSpPr>
          <p:nvPr>
            <p:ph idx="12" type="sldNum"/>
          </p:nvPr>
        </p:nvSpPr>
        <p:spPr/>
        <p:txBody>
          <a:bodyPr/>
          <a:lstStyle/>
          <a:p>
            <a:pPr indent="0" lvl="0" marL="0">
              <a:spcBef>
                <a:spcPts val="0"/>
              </a:spcBef>
              <a:buNone/>
            </a:pPr>
            <a:fld id="{00000000-1234-1234-1234-123412341234}" type="slidenum">
              <a:rPr lang="en-GB" smtClean="0"/>
              <a:t>2</a:t>
            </a:fld>
            <a:endParaRPr lang="en-GB"/>
          </a:p>
        </p:txBody>
      </p:sp>
    </p:spTree>
    <p:extLst>
      <p:ext uri="{BB962C8B-B14F-4D97-AF65-F5344CB8AC3E}">
        <p14:creationId xmlns:p14="http://schemas.microsoft.com/office/powerpoint/2010/main" val="713752364"/>
      </p:ext>
    </p:extLst>
  </p:cSld>
  <p:clrMapOvr>
    <a:masterClrMapping/>
  </p:clrMapOvr>
  <p:timing>
    <p:tnLst>
      <p:par>
        <p:cTn dur="indefinite" id="1" nodeType="tmRoot" restart="never"/>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Shape 58"/>
        <p:cNvGrpSpPr/>
        <p:nvPr/>
      </p:nvGrpSpPr>
      <p:grpSpPr>
        <a:xfrm>
          <a:off x="0" y="0"/>
          <a:ext cx="0" cy="0"/>
          <a:chOff x="0" y="0"/>
          <a:chExt cx="0" cy="0"/>
        </a:xfrm>
      </p:grpSpPr>
      <p:sp>
        <p:nvSpPr>
          <p:cNvPr id="60" name="Shape 60"/>
          <p:cNvSpPr txBox="1">
            <a:spLocks noGrp="1"/>
          </p:cNvSpPr>
          <p:nvPr>
            <p:ph idx="1" type="body"/>
          </p:nvPr>
        </p:nvSpPr>
        <p:spPr>
          <a:xfrm>
            <a:off x="693248" y="948543"/>
            <a:ext cx="3878752" cy="511866"/>
          </a:xfrm>
          <a:prstGeom prst="rect">
            <a:avLst/>
          </a:prstGeom>
        </p:spPr>
        <p:txBody>
          <a:bodyPr anchor="t" anchorCtr="0" bIns="91425" lIns="91425" rIns="91425" tIns="91425" wrap="square">
            <a:noAutofit/>
          </a:bodyPr>
          <a:lstStyle/>
          <a:p>
            <a:pPr indent="-342900" lvl="0" marL="457200">
              <a:spcBef>
                <a:spcPts val="0"/>
              </a:spcBef>
              <a:spcAft>
                <a:spcPts val="0"/>
              </a:spcAft>
              <a:buClr>
                <a:srgbClr val="000000"/>
              </a:buClr>
              <a:buSzPts val="1800"/>
              <a:buChar char="●"/>
            </a:pPr>
            <a:r>
              <a:rPr dirty="0" lang="en-GB" smtClean="0">
                <a:solidFill>
                  <a:srgbClr val="000000"/>
                </a:solidFill>
              </a:rPr>
              <a:t>Denial of Service (</a:t>
            </a:r>
            <a:r>
              <a:rPr dirty="0" err="1" lang="en-GB" smtClean="0">
                <a:solidFill>
                  <a:srgbClr val="000000"/>
                </a:solidFill>
              </a:rPr>
              <a:t>DoS</a:t>
            </a:r>
            <a:r>
              <a:rPr dirty="0" lang="en-GB" smtClean="0">
                <a:solidFill>
                  <a:srgbClr val="000000"/>
                </a:solidFill>
              </a:rPr>
              <a:t>) Attack</a:t>
            </a:r>
            <a:endParaRPr dirty="0" lang="en-GB">
              <a:solidFill>
                <a:srgbClr val="000000"/>
              </a:solidFill>
            </a:endParaRPr>
          </a:p>
        </p:txBody>
      </p:sp>
      <p:pic>
        <p:nvPicPr>
          <p:cNvPr id="3" name="Picture 2" descr="Eight red cartoon monsters surround a server, sending yellow lightning bolts toward it, representing a cyber attack."/>
          <p:cNvPicPr>
            <a:picLocks noChangeAspect="1"/>
          </p:cNvPicPr>
          <p:nvPr/>
        </p:nvPicPr>
        <p:blipFill>
          <a:blip r:embed="rId3"/>
          <a:stretch>
            <a:fillRect/>
          </a:stretch>
        </p:blipFill>
        <p:spPr>
          <a:xfrm>
            <a:off x="6035854" y="578984"/>
            <a:ext cx="2047875" cy="2362200"/>
          </a:xfrm>
          <a:prstGeom prst="rect">
            <a:avLst/>
          </a:prstGeom>
        </p:spPr>
      </p:pic>
      <p:sp>
        <p:nvSpPr>
          <p:cNvPr id="8" name="Shape 60"/>
          <p:cNvSpPr txBox="1">
            <a:spLocks/>
          </p:cNvSpPr>
          <p:nvPr/>
        </p:nvSpPr>
        <p:spPr>
          <a:xfrm>
            <a:off x="674612" y="2587664"/>
            <a:ext cx="6053848" cy="1443316"/>
          </a:xfrm>
          <a:prstGeom prst="rect">
            <a:avLst/>
          </a:prstGeom>
          <a:noFill/>
          <a:ln>
            <a:noFill/>
          </a:ln>
        </p:spPr>
        <p:txBody>
          <a:bodyPr anchor="t" anchorCtr="0" bIns="91425" lIns="91425" rIns="91425" tIns="91425" wrap="square">
            <a:noAutofit/>
          </a:bodyPr>
          <a:lstStyle>
            <a:defPPr algn="l" lvl="0" marR="0" rtl="0">
              <a:lnSpc>
                <a:spcPct val="100000"/>
              </a:lnSpc>
              <a:spcBef>
                <a:spcPts val="0"/>
              </a:spcBef>
              <a:spcAft>
                <a:spcPts val="0"/>
              </a:spcAft>
            </a:defPPr>
            <a:lvl1pPr algn="l" lvl="0" marR="0" rtl="0">
              <a:lnSpc>
                <a:spcPct val="115000"/>
              </a:lnSpc>
              <a:spcBef>
                <a:spcPts val="0"/>
              </a:spcBef>
              <a:spcAft>
                <a:spcPts val="1600"/>
              </a:spcAft>
              <a:buClr>
                <a:schemeClr val="dk2"/>
              </a:buClr>
              <a:buSzPts val="1800"/>
              <a:buChar char="●"/>
              <a:defRPr b="0" cap="none" i="0" strike="noStrike" sz="1800" u="none">
                <a:solidFill>
                  <a:schemeClr val="dk2"/>
                </a:solidFill>
                <a:latin typeface="Arial"/>
                <a:ea typeface="Arial"/>
                <a:cs typeface="Arial"/>
                <a:sym typeface="Arial"/>
              </a:defRPr>
            </a:lvl1pPr>
            <a:lvl2pPr algn="l" lvl="1"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2pPr>
            <a:lvl3pPr algn="l" lvl="2"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3pPr>
            <a:lvl4pPr algn="l" lvl="3"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4pPr>
            <a:lvl5pPr algn="l" lvl="4"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5pPr>
            <a:lvl6pPr algn="l" lvl="5"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6pPr>
            <a:lvl7pPr algn="l" lvl="6"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7pPr>
            <a:lvl8pPr algn="l" lvl="7"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8pPr>
            <a:lvl9pPr algn="l" lvl="8"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9pPr>
          </a:lstStyle>
          <a:p>
            <a:pPr indent="-342900" marL="457200">
              <a:spcAft>
                <a:spcPts val="0"/>
              </a:spcAft>
              <a:buClr>
                <a:srgbClr val="000000"/>
              </a:buClr>
            </a:pPr>
            <a:r>
              <a:rPr dirty="0" lang="en-GB" smtClean="0">
                <a:solidFill>
                  <a:srgbClr val="000000"/>
                </a:solidFill>
              </a:rPr>
              <a:t>Specific </a:t>
            </a:r>
            <a:r>
              <a:rPr dirty="0" err="1" lang="en-GB" smtClean="0">
                <a:solidFill>
                  <a:srgbClr val="000000"/>
                </a:solidFill>
              </a:rPr>
              <a:t>DoS</a:t>
            </a:r>
            <a:r>
              <a:rPr dirty="0" lang="en-GB" smtClean="0">
                <a:solidFill>
                  <a:srgbClr val="000000"/>
                </a:solidFill>
              </a:rPr>
              <a:t> Attack: </a:t>
            </a:r>
            <a:r>
              <a:rPr dirty="0" lang="en-GB">
                <a:solidFill>
                  <a:srgbClr val="000000"/>
                </a:solidFill>
              </a:rPr>
              <a:t>SYN Flooding Attack</a:t>
            </a:r>
            <a:endParaRPr dirty="0" lang="en-GB" smtClean="0">
              <a:solidFill>
                <a:srgbClr val="000000"/>
              </a:solidFill>
            </a:endParaRPr>
          </a:p>
          <a:p>
            <a:pPr marL="114300">
              <a:spcAft>
                <a:spcPts val="0"/>
              </a:spcAft>
              <a:buClr>
                <a:srgbClr val="000000"/>
              </a:buClr>
              <a:buFontTx/>
              <a:buNone/>
            </a:pPr>
            <a:r>
              <a:rPr dirty="0" lang="en-GB" smtClean="0">
                <a:solidFill>
                  <a:srgbClr val="000000"/>
                </a:solidFill>
              </a:rPr>
              <a:t>      -- Technical details</a:t>
            </a:r>
          </a:p>
          <a:p>
            <a:pPr marL="114300">
              <a:spcAft>
                <a:spcPts val="0"/>
              </a:spcAft>
              <a:buClr>
                <a:srgbClr val="000000"/>
              </a:buClr>
              <a:buFontTx/>
              <a:buNone/>
            </a:pPr>
            <a:r>
              <a:rPr dirty="0" lang="en-GB" smtClean="0">
                <a:solidFill>
                  <a:srgbClr val="000000"/>
                </a:solidFill>
              </a:rPr>
              <a:t>      -- C and Python Experiment on telnet servers</a:t>
            </a:r>
          </a:p>
          <a:p>
            <a:pPr marL="114300">
              <a:spcAft>
                <a:spcPts val="0"/>
              </a:spcAft>
              <a:buClr>
                <a:srgbClr val="000000"/>
              </a:buClr>
              <a:buFontTx/>
              <a:buNone/>
            </a:pPr>
            <a:r>
              <a:rPr dirty="0" lang="en-GB" smtClean="0">
                <a:solidFill>
                  <a:srgbClr val="000000"/>
                </a:solidFill>
              </a:rPr>
              <a:t>      -- Counter Measure</a:t>
            </a:r>
          </a:p>
          <a:p>
            <a:pPr marL="114300">
              <a:spcAft>
                <a:spcPts val="0"/>
              </a:spcAft>
              <a:buClr>
                <a:srgbClr val="000000"/>
              </a:buClr>
              <a:buFontTx/>
              <a:buNone/>
            </a:pPr>
            <a:r>
              <a:rPr dirty="0" lang="en-GB" smtClean="0">
                <a:solidFill>
                  <a:srgbClr val="000000"/>
                </a:solidFill>
              </a:rPr>
              <a:t>	</a:t>
            </a:r>
            <a:endParaRPr dirty="0" lang="en-GB">
              <a:solidFill>
                <a:srgbClr val="000000"/>
              </a:solidFill>
            </a:endParaRP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3</a:t>
            </a:fld>
            <a:endParaRPr lang="en-GB"/>
          </a:p>
        </p:txBody>
      </p:sp>
    </p:spTree>
    <p:extLst>
      <p:ext uri="{BB962C8B-B14F-4D97-AF65-F5344CB8AC3E}">
        <p14:creationId xmlns:p14="http://schemas.microsoft.com/office/powerpoint/2010/main" val="77408814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8"/>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Shape 58"/>
        <p:cNvGrpSpPr/>
        <p:nvPr/>
      </p:nvGrpSpPr>
      <p:grpSpPr>
        <a:xfrm>
          <a:off x="0" y="0"/>
          <a:ext cx="0" cy="0"/>
          <a:chOff x="0" y="0"/>
          <a:chExt cx="0" cy="0"/>
        </a:xfrm>
      </p:grpSpPr>
      <p:sp>
        <p:nvSpPr>
          <p:cNvPr id="60" name="Shape 60"/>
          <p:cNvSpPr txBox="1">
            <a:spLocks noGrp="1"/>
          </p:cNvSpPr>
          <p:nvPr>
            <p:ph idx="1" type="body"/>
          </p:nvPr>
        </p:nvSpPr>
        <p:spPr>
          <a:xfrm>
            <a:off x="693248" y="948543"/>
            <a:ext cx="5250352" cy="511866"/>
          </a:xfrm>
          <a:prstGeom prst="rect">
            <a:avLst/>
          </a:prstGeom>
        </p:spPr>
        <p:txBody>
          <a:bodyPr anchor="t" anchorCtr="0" bIns="91425" lIns="91425" rIns="91425" tIns="91425" wrap="square">
            <a:noAutofit/>
          </a:bodyPr>
          <a:lstStyle/>
          <a:p>
            <a:pPr indent="-342900" lvl="0" marL="457200">
              <a:spcBef>
                <a:spcPts val="0"/>
              </a:spcBef>
              <a:spcAft>
                <a:spcPts val="0"/>
              </a:spcAft>
              <a:buClr>
                <a:srgbClr val="000000"/>
              </a:buClr>
              <a:buSzPts val="1800"/>
              <a:buChar char="●"/>
            </a:pPr>
            <a:r>
              <a:rPr dirty="0" lang="en-GB" smtClean="0">
                <a:solidFill>
                  <a:srgbClr val="000000"/>
                </a:solidFill>
              </a:rPr>
              <a:t>SYN flooding attack works on TCP server</a:t>
            </a:r>
            <a:endParaRPr dirty="0" lang="en-GB">
              <a:solidFill>
                <a:srgbClr val="000000"/>
              </a:solidFill>
            </a:endParaRPr>
          </a:p>
        </p:txBody>
      </p:sp>
      <p:sp>
        <p:nvSpPr>
          <p:cNvPr id="8" name="Shape 60"/>
          <p:cNvSpPr txBox="1">
            <a:spLocks/>
          </p:cNvSpPr>
          <p:nvPr/>
        </p:nvSpPr>
        <p:spPr>
          <a:xfrm>
            <a:off x="682230" y="1688503"/>
            <a:ext cx="8270995" cy="1394061"/>
          </a:xfrm>
          <a:prstGeom prst="rect">
            <a:avLst/>
          </a:prstGeom>
          <a:noFill/>
          <a:ln>
            <a:noFill/>
          </a:ln>
        </p:spPr>
        <p:txBody>
          <a:bodyPr anchor="t" anchorCtr="0" bIns="91425" lIns="91425" rIns="91425" tIns="91425" wrap="square">
            <a:noAutofit/>
          </a:bodyPr>
          <a:lstStyle>
            <a:defPPr algn="l" lvl="0" marR="0" rtl="0">
              <a:lnSpc>
                <a:spcPct val="100000"/>
              </a:lnSpc>
              <a:spcBef>
                <a:spcPts val="0"/>
              </a:spcBef>
              <a:spcAft>
                <a:spcPts val="0"/>
              </a:spcAft>
            </a:defPPr>
            <a:lvl1pPr algn="l" lvl="0" marR="0" rtl="0">
              <a:lnSpc>
                <a:spcPct val="115000"/>
              </a:lnSpc>
              <a:spcBef>
                <a:spcPts val="0"/>
              </a:spcBef>
              <a:spcAft>
                <a:spcPts val="1600"/>
              </a:spcAft>
              <a:buClr>
                <a:schemeClr val="dk2"/>
              </a:buClr>
              <a:buSzPts val="1800"/>
              <a:buChar char="●"/>
              <a:defRPr b="0" cap="none" i="0" strike="noStrike" sz="1800" u="none">
                <a:solidFill>
                  <a:schemeClr val="dk2"/>
                </a:solidFill>
                <a:latin typeface="Arial"/>
                <a:ea typeface="Arial"/>
                <a:cs typeface="Arial"/>
                <a:sym typeface="Arial"/>
              </a:defRPr>
            </a:lvl1pPr>
            <a:lvl2pPr algn="l" lvl="1"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2pPr>
            <a:lvl3pPr algn="l" lvl="2"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3pPr>
            <a:lvl4pPr algn="l" lvl="3"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4pPr>
            <a:lvl5pPr algn="l" lvl="4"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5pPr>
            <a:lvl6pPr algn="l" lvl="5"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6pPr>
            <a:lvl7pPr algn="l" lvl="6"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7pPr>
            <a:lvl8pPr algn="l" lvl="7"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8pPr>
            <a:lvl9pPr algn="l" lvl="8" marR="0" rtl="0">
              <a:lnSpc>
                <a:spcPct val="115000"/>
              </a:lnSpc>
              <a:spcBef>
                <a:spcPts val="0"/>
              </a:spcBef>
              <a:spcAft>
                <a:spcPts val="1600"/>
              </a:spcAft>
              <a:buClr>
                <a:schemeClr val="dk2"/>
              </a:buClr>
              <a:buSzPts val="1400"/>
              <a:buChar char="■"/>
              <a:defRPr b="0" cap="none" i="0" strike="noStrike" sz="1400" u="none">
                <a:solidFill>
                  <a:schemeClr val="dk2"/>
                </a:solidFill>
                <a:latin typeface="Arial"/>
                <a:ea typeface="Arial"/>
                <a:cs typeface="Arial"/>
                <a:sym typeface="Arial"/>
              </a:defRPr>
            </a:lvl9pPr>
          </a:lstStyle>
          <a:p>
            <a:pPr indent="-342900" marL="457200">
              <a:spcAft>
                <a:spcPts val="0"/>
              </a:spcAft>
              <a:buClr>
                <a:srgbClr val="000000"/>
              </a:buClr>
            </a:pPr>
            <a:r>
              <a:rPr dirty="0" lang="en-GB" smtClean="0">
                <a:solidFill>
                  <a:srgbClr val="000000"/>
                </a:solidFill>
              </a:rPr>
              <a:t>TCP connection start with __?___ protocol:</a:t>
            </a:r>
          </a:p>
          <a:p>
            <a:pPr marL="114300">
              <a:spcAft>
                <a:spcPts val="0"/>
              </a:spcAft>
              <a:buClr>
                <a:srgbClr val="000000"/>
              </a:buClr>
              <a:buFontTx/>
              <a:buNone/>
            </a:pPr>
            <a:r>
              <a:rPr dirty="0" lang="en-GB" smtClean="0">
                <a:solidFill>
                  <a:srgbClr val="000000"/>
                </a:solidFill>
              </a:rPr>
              <a:t>      -- 3-way handshake protocol</a:t>
            </a:r>
          </a:p>
          <a:p>
            <a:pPr marL="114300">
              <a:spcAft>
                <a:spcPts val="0"/>
              </a:spcAft>
              <a:buClr>
                <a:srgbClr val="000000"/>
              </a:buClr>
              <a:buNone/>
            </a:pPr>
            <a:r>
              <a:rPr dirty="0" lang="en-GB">
                <a:solidFill>
                  <a:srgbClr val="000000"/>
                </a:solidFill>
              </a:rPr>
              <a:t> </a:t>
            </a:r>
            <a:r>
              <a:rPr dirty="0" lang="en-GB" smtClean="0">
                <a:solidFill>
                  <a:srgbClr val="000000"/>
                </a:solidFill>
              </a:rPr>
              <a:t>     -- it establishes the connection between client and server            </a:t>
            </a:r>
          </a:p>
          <a:p>
            <a:pPr marL="114300">
              <a:spcAft>
                <a:spcPts val="0"/>
              </a:spcAft>
              <a:buClr>
                <a:srgbClr val="000000"/>
              </a:buClr>
              <a:buNone/>
            </a:pPr>
            <a:r>
              <a:rPr dirty="0" lang="en-GB">
                <a:solidFill>
                  <a:srgbClr val="000000"/>
                </a:solidFill>
              </a:rPr>
              <a:t> </a:t>
            </a:r>
            <a:r>
              <a:rPr dirty="0" lang="en-GB" smtClean="0">
                <a:solidFill>
                  <a:srgbClr val="000000"/>
                </a:solidFill>
              </a:rPr>
              <a:t>     -- SYN flooding attack is to prevent client from completing this protocol   	</a:t>
            </a:r>
            <a:endParaRPr dirty="0" lang="en-GB">
              <a:solidFill>
                <a:srgbClr val="000000"/>
              </a:solidFill>
            </a:endParaRP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4</a:t>
            </a:fld>
            <a:endParaRPr lang="en-GB"/>
          </a:p>
        </p:txBody>
      </p:sp>
    </p:spTree>
    <p:extLst>
      <p:ext uri="{BB962C8B-B14F-4D97-AF65-F5344CB8AC3E}">
        <p14:creationId xmlns:p14="http://schemas.microsoft.com/office/powerpoint/2010/main" val="310800309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8">
                                            <p:txEl>
                                              <p:pRg end="1" st="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8">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8">
                                            <p:txEl>
                                              <p:pRg end="3" st="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311700" y="438098"/>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smtClean="0"/>
              <a:t>Review on TCP Packet Header </a:t>
            </a:r>
            <a:endParaRPr dirty="0" lang="en-GB"/>
          </a:p>
        </p:txBody>
      </p:sp>
      <p:pic>
        <p:nvPicPr>
          <p:cNvPr id="126" name="Shape 126" descr="&quot;Diagram of a TCP header format showing fields such as source port, destination port, sequence number, acknowledgment number, header length, reserved bits, control flags, window size, checksum, urgent pointer, and options, with bit positions labeled.&quot;"/>
          <p:cNvPicPr preferRelativeResize="0"/>
          <p:nvPr/>
        </p:nvPicPr>
        <p:blipFill>
          <a:blip r:embed="rId3">
            <a:alphaModFix/>
          </a:blip>
          <a:stretch>
            <a:fillRect/>
          </a:stretch>
        </p:blipFill>
        <p:spPr>
          <a:xfrm>
            <a:off x="175263" y="964160"/>
            <a:ext cx="5009824" cy="2720792"/>
          </a:xfrm>
          <a:prstGeom prst="rect">
            <a:avLst/>
          </a:prstGeom>
          <a:noFill/>
          <a:ln>
            <a:noFill/>
          </a:ln>
        </p:spPr>
      </p:pic>
      <p:sp>
        <p:nvSpPr>
          <p:cNvPr id="127" name="Shape 127"/>
          <p:cNvSpPr txBox="1"/>
          <p:nvPr/>
        </p:nvSpPr>
        <p:spPr>
          <a:xfrm>
            <a:off x="5156225" y="1101420"/>
            <a:ext cx="3930900" cy="3112361"/>
          </a:xfrm>
          <a:prstGeom prst="rect">
            <a:avLst/>
          </a:prstGeom>
          <a:noFill/>
          <a:ln>
            <a:noFill/>
          </a:ln>
        </p:spPr>
        <p:txBody>
          <a:bodyPr anchor="t" anchorCtr="0" bIns="91425" lIns="91425" rIns="91425" tIns="91425" wrap="square">
            <a:noAutofit/>
          </a:bodyPr>
          <a:lstStyle/>
          <a:p>
            <a:pPr indent="0" lvl="0" marL="0">
              <a:spcBef>
                <a:spcPts val="0"/>
              </a:spcBef>
              <a:buNone/>
            </a:pPr>
            <a:r>
              <a:rPr dirty="0" i="1" lang="en-GB" sz="1800"/>
              <a:t>TCP Segment: TCP Header + </a:t>
            </a:r>
            <a:r>
              <a:rPr b="1" dirty="0" i="1" lang="en-GB" sz="1800"/>
              <a:t>Data</a:t>
            </a:r>
            <a:r>
              <a:rPr dirty="0" i="1" lang="en-GB" sz="1800"/>
              <a:t>.</a:t>
            </a:r>
            <a:r>
              <a:rPr dirty="0" lang="en-GB" sz="1800"/>
              <a:t> </a:t>
            </a:r>
          </a:p>
          <a:p>
            <a:pPr indent="0" lvl="0" marL="0">
              <a:spcBef>
                <a:spcPts val="0"/>
              </a:spcBef>
              <a:buNone/>
            </a:pPr>
            <a:endParaRPr dirty="0" sz="1800"/>
          </a:p>
          <a:p>
            <a:pPr indent="0" lvl="0" marL="0">
              <a:spcBef>
                <a:spcPts val="0"/>
              </a:spcBef>
              <a:buNone/>
            </a:pPr>
            <a:r>
              <a:rPr dirty="0" i="1" lang="en-GB" sz="1800" u="sng"/>
              <a:t>Source and Destination port (16 bits each)</a:t>
            </a:r>
            <a:r>
              <a:rPr dirty="0" lang="en-GB" sz="1800" u="sng"/>
              <a:t>:</a:t>
            </a:r>
            <a:r>
              <a:rPr dirty="0" lang="en-GB" sz="1800"/>
              <a:t> </a:t>
            </a:r>
            <a:r>
              <a:rPr dirty="0" lang="en-GB" smtClean="0" sz="1800"/>
              <a:t> sample server port #.</a:t>
            </a:r>
          </a:p>
          <a:p>
            <a:pPr indent="0" lvl="0" marL="0">
              <a:spcBef>
                <a:spcPts val="0"/>
              </a:spcBef>
              <a:buNone/>
            </a:pPr>
            <a:r>
              <a:rPr b="1" dirty="0" lang="en-GB" smtClean="0" sz="1800"/>
              <a:t>telnet</a:t>
            </a:r>
            <a:r>
              <a:rPr dirty="0" lang="en-GB" smtClean="0" sz="1800"/>
              <a:t>: 23; </a:t>
            </a:r>
            <a:r>
              <a:rPr b="1" dirty="0" lang="en-GB" smtClean="0" sz="1800"/>
              <a:t>SSH</a:t>
            </a:r>
            <a:r>
              <a:rPr dirty="0" lang="en-GB" smtClean="0" sz="1800"/>
              <a:t>: 22; </a:t>
            </a:r>
            <a:r>
              <a:rPr b="1" dirty="0" lang="en-GB" smtClean="0" sz="1800"/>
              <a:t>HTTP</a:t>
            </a:r>
            <a:r>
              <a:rPr dirty="0" lang="en-GB" smtClean="0" sz="1800"/>
              <a:t>: 80; </a:t>
            </a:r>
            <a:r>
              <a:rPr b="1" dirty="0" lang="en-GB" smtClean="0" sz="1800"/>
              <a:t>HTTPS</a:t>
            </a:r>
            <a:r>
              <a:rPr dirty="0" lang="en-GB" smtClean="0" sz="1800"/>
              <a:t>: 443 </a:t>
            </a:r>
            <a:endParaRPr dirty="0" lang="en-GB" sz="1800"/>
          </a:p>
          <a:p>
            <a:pPr indent="0" lvl="0" marL="0">
              <a:spcBef>
                <a:spcPts val="0"/>
              </a:spcBef>
              <a:buNone/>
            </a:pPr>
            <a:endParaRPr dirty="0" sz="1800"/>
          </a:p>
          <a:p>
            <a:pPr indent="0" lvl="0" marL="0">
              <a:spcBef>
                <a:spcPts val="0"/>
              </a:spcBef>
              <a:buNone/>
            </a:pPr>
            <a:r>
              <a:rPr dirty="0" i="1" lang="en-GB" sz="1800" u="sng"/>
              <a:t>Sequence number (32 bits) </a:t>
            </a:r>
            <a:r>
              <a:rPr dirty="0" lang="en-GB" sz="1800" u="sng"/>
              <a:t>: </a:t>
            </a:r>
            <a:endParaRPr dirty="0" lang="en-GB" smtClean="0" sz="1800" u="sng"/>
          </a:p>
          <a:p>
            <a:pPr indent="-285750" lvl="0" marL="285750">
              <a:spcBef>
                <a:spcPts val="0"/>
              </a:spcBef>
              <a:buFontTx/>
              <a:buChar char="-"/>
            </a:pPr>
            <a:r>
              <a:rPr dirty="0" lang="en-GB" smtClean="0" sz="1800"/>
              <a:t>To sort packets from sender</a:t>
            </a:r>
          </a:p>
          <a:p>
            <a:pPr indent="-285750" lvl="0" marL="285750">
              <a:spcBef>
                <a:spcPts val="0"/>
              </a:spcBef>
              <a:buFontTx/>
              <a:buChar char="-"/>
            </a:pPr>
            <a:r>
              <a:rPr dirty="0" lang="en-GB" smtClean="0" sz="1800"/>
              <a:t> Initial packet has </a:t>
            </a:r>
            <a:r>
              <a:rPr dirty="0" err="1" lang="en-GB" smtClean="0" sz="1800"/>
              <a:t>seq</a:t>
            </a:r>
            <a:r>
              <a:rPr dirty="0" lang="en-GB" smtClean="0" sz="1800"/>
              <a:t>#=random</a:t>
            </a:r>
          </a:p>
        </p:txBody>
      </p:sp>
      <p:sp>
        <p:nvSpPr>
          <p:cNvPr id="128" name="Shape 128"/>
          <p:cNvSpPr txBox="1"/>
          <p:nvPr/>
        </p:nvSpPr>
        <p:spPr>
          <a:xfrm>
            <a:off x="255275" y="3638314"/>
            <a:ext cx="4849800" cy="1531500"/>
          </a:xfrm>
          <a:prstGeom prst="rect">
            <a:avLst/>
          </a:prstGeom>
          <a:noFill/>
          <a:ln>
            <a:noFill/>
          </a:ln>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i="1" lang="en-GB" sz="1800" u="sng">
                <a:solidFill>
                  <a:schemeClr val="dk1"/>
                </a:solidFill>
              </a:rPr>
              <a:t>Acknowledgement number (32 bits)</a:t>
            </a:r>
            <a:r>
              <a:rPr dirty="0" lang="en-GB" sz="1800" u="sng">
                <a:solidFill>
                  <a:schemeClr val="dk1"/>
                </a:solidFill>
              </a:rPr>
              <a:t>: </a:t>
            </a:r>
            <a:endParaRPr dirty="0" lang="en-GB" smtClean="0" sz="1800" u="sng">
              <a:solidFill>
                <a:schemeClr val="dk1"/>
              </a:solidFill>
            </a:endParaRPr>
          </a:p>
          <a:p>
            <a:pPr indent="-69850" lvl="0" marL="0">
              <a:spcBef>
                <a:spcPts val="0"/>
              </a:spcBef>
              <a:buClr>
                <a:schemeClr val="dk1"/>
              </a:buClr>
              <a:buSzPts val="1100"/>
              <a:buFont typeface="Arial"/>
              <a:buNone/>
            </a:pPr>
            <a:r>
              <a:rPr dirty="0" lang="en-GB" smtClean="0" sz="1800">
                <a:solidFill>
                  <a:schemeClr val="dk1"/>
                </a:solidFill>
              </a:rPr>
              <a:t>Acknowledge number=100:   This tells the sender  “I want to receive your next packet with </a:t>
            </a:r>
            <a:r>
              <a:rPr dirty="0" err="1" lang="en-GB" smtClean="0" sz="1800">
                <a:solidFill>
                  <a:schemeClr val="dk1"/>
                </a:solidFill>
              </a:rPr>
              <a:t>seq</a:t>
            </a:r>
            <a:r>
              <a:rPr dirty="0" lang="en-GB" smtClean="0" sz="1800">
                <a:solidFill>
                  <a:schemeClr val="dk1"/>
                </a:solidFill>
              </a:rPr>
              <a:t> # 100”. </a:t>
            </a:r>
            <a:endParaRPr dirty="0" lang="en-GB" sz="1800">
              <a:solidFill>
                <a:schemeClr val="dk1"/>
              </a:solidFill>
            </a:endParaRP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5</a:t>
            </a:fld>
            <a:endParaRPr lang="en-GB"/>
          </a:p>
        </p:txBody>
      </p:sp>
    </p:spTree>
    <p:extLst>
      <p:ext uri="{BB962C8B-B14F-4D97-AF65-F5344CB8AC3E}">
        <p14:creationId xmlns:p14="http://schemas.microsoft.com/office/powerpoint/2010/main" val="107680780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127">
                                            <p:txEl>
                                              <p:pRg end="5" st="5"/>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127">
                                            <p:txEl>
                                              <p:pRg end="6" st="6"/>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128">
                                            <p:txEl>
                                              <p:pRg end="1" st="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Shape 132"/>
        <p:cNvGrpSpPr/>
        <p:nvPr/>
      </p:nvGrpSpPr>
      <p:grpSpPr>
        <a:xfrm>
          <a:off x="0" y="0"/>
          <a:ext cx="0" cy="0"/>
          <a:chOff x="0" y="0"/>
          <a:chExt cx="0" cy="0"/>
        </a:xfrm>
      </p:grpSpPr>
      <p:sp>
        <p:nvSpPr>
          <p:cNvPr id="133" name="Shape 133"/>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Flag bits(</a:t>
            </a:r>
            <a:r>
              <a:rPr dirty="0" lang="en-GB" smtClean="0" sz="1800"/>
              <a:t>URG | ACK | PSH | RST | SYN | FIN</a:t>
            </a:r>
            <a:r>
              <a:rPr dirty="0" lang="en-GB" smtClean="0"/>
              <a:t>) </a:t>
            </a:r>
            <a:endParaRPr dirty="0" lang="en-GB"/>
          </a:p>
        </p:txBody>
      </p:sp>
      <p:sp>
        <p:nvSpPr>
          <p:cNvPr id="134" name="Shape 134"/>
          <p:cNvSpPr txBox="1">
            <a:spLocks noGrp="1"/>
          </p:cNvSpPr>
          <p:nvPr>
            <p:ph idx="1" type="body"/>
          </p:nvPr>
        </p:nvSpPr>
        <p:spPr>
          <a:xfrm>
            <a:off x="311700" y="1152475"/>
            <a:ext cx="8520600" cy="1163128"/>
          </a:xfrm>
          <a:prstGeom prst="rect">
            <a:avLst/>
          </a:prstGeom>
        </p:spPr>
        <p:txBody>
          <a:bodyPr anchor="t" anchorCtr="0" bIns="91425" lIns="91425" rIns="91425" tIns="91425" wrap="square">
            <a:noAutofit/>
          </a:bodyPr>
          <a:lstStyle/>
          <a:p>
            <a:pPr indent="-285750" marL="285750"/>
            <a:r>
              <a:rPr dirty="0" lang="en-GB" smtClean="0">
                <a:solidFill>
                  <a:srgbClr val="007099"/>
                </a:solidFill>
              </a:rPr>
              <a:t>SYN=1</a:t>
            </a:r>
            <a:r>
              <a:rPr dirty="0" lang="en-GB" smtClean="0">
                <a:solidFill>
                  <a:srgbClr val="000000"/>
                </a:solidFill>
              </a:rPr>
              <a:t> indicates that it is the </a:t>
            </a:r>
            <a:r>
              <a:rPr b="1" dirty="0" lang="en-GB" smtClean="0">
                <a:solidFill>
                  <a:srgbClr val="000000"/>
                </a:solidFill>
              </a:rPr>
              <a:t>first</a:t>
            </a:r>
            <a:r>
              <a:rPr dirty="0" lang="en-GB" smtClean="0">
                <a:solidFill>
                  <a:srgbClr val="000000"/>
                </a:solidFill>
              </a:rPr>
              <a:t> packet (</a:t>
            </a:r>
            <a:r>
              <a:rPr dirty="0" lang="en-GB" smtClean="0">
                <a:solidFill>
                  <a:srgbClr val="D60000"/>
                </a:solidFill>
              </a:rPr>
              <a:t>SYN packet</a:t>
            </a:r>
            <a:r>
              <a:rPr dirty="0" lang="en-GB" smtClean="0">
                <a:solidFill>
                  <a:srgbClr val="000000"/>
                </a:solidFill>
              </a:rPr>
              <a:t>) in TCP connection  </a:t>
            </a:r>
          </a:p>
          <a:p>
            <a:pPr indent="-285750" marL="285750"/>
            <a:r>
              <a:rPr dirty="0" lang="en-GB" smtClean="0">
                <a:solidFill>
                  <a:srgbClr val="00749E"/>
                </a:solidFill>
              </a:rPr>
              <a:t>SYN=1 &amp; ACK=1</a:t>
            </a:r>
            <a:r>
              <a:rPr dirty="0" lang="en-GB" smtClean="0">
                <a:solidFill>
                  <a:srgbClr val="000000"/>
                </a:solidFill>
              </a:rPr>
              <a:t> indicates it is the reply </a:t>
            </a:r>
            <a:r>
              <a:rPr dirty="0" lang="en-GB">
                <a:solidFill>
                  <a:srgbClr val="000000"/>
                </a:solidFill>
              </a:rPr>
              <a:t>(</a:t>
            </a:r>
            <a:r>
              <a:rPr dirty="0" lang="en-GB">
                <a:solidFill>
                  <a:srgbClr val="DB0000"/>
                </a:solidFill>
              </a:rPr>
              <a:t>SYN-ACK </a:t>
            </a:r>
            <a:r>
              <a:rPr dirty="0" lang="en-GB" smtClean="0">
                <a:solidFill>
                  <a:srgbClr val="DB0000"/>
                </a:solidFill>
              </a:rPr>
              <a:t>packet</a:t>
            </a:r>
            <a:r>
              <a:rPr dirty="0" lang="en-GB" smtClean="0">
                <a:solidFill>
                  <a:srgbClr val="000000"/>
                </a:solidFill>
              </a:rPr>
              <a:t>) </a:t>
            </a:r>
            <a:r>
              <a:rPr dirty="0" lang="en-GB">
                <a:solidFill>
                  <a:srgbClr val="000000"/>
                </a:solidFill>
              </a:rPr>
              <a:t>to </a:t>
            </a:r>
            <a:r>
              <a:rPr dirty="0" lang="en-GB" smtClean="0">
                <a:solidFill>
                  <a:srgbClr val="000000"/>
                </a:solidFill>
              </a:rPr>
              <a:t>SYN packet</a:t>
            </a:r>
            <a:endParaRPr dirty="0" lang="en-GB">
              <a:solidFill>
                <a:srgbClr val="000000"/>
              </a:solidFill>
            </a:endParaRP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6</a:t>
            </a:fld>
            <a:endParaRPr lang="en-GB"/>
          </a:p>
        </p:txBody>
      </p:sp>
    </p:spTree>
    <p:extLst>
      <p:ext uri="{BB962C8B-B14F-4D97-AF65-F5344CB8AC3E}">
        <p14:creationId xmlns:p14="http://schemas.microsoft.com/office/powerpoint/2010/main" val="1488231082"/>
      </p:ext>
    </p:extLst>
  </p:cSld>
  <p:clrMapOvr>
    <a:masterClrMapping/>
  </p:clrMapOvr>
  <p:timing>
    <p:tnLst>
      <p:par>
        <p:cTn dur="indefinite" id="1" nodeType="tmRoot" restart="never"/>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lang="en-GB"/>
              <a:t>TCP 3-way Handshake Protocol</a:t>
            </a:r>
          </a:p>
        </p:txBody>
      </p:sp>
      <p:sp>
        <p:nvSpPr>
          <p:cNvPr id="147" name="Shape 147"/>
          <p:cNvSpPr txBox="1"/>
          <p:nvPr/>
        </p:nvSpPr>
        <p:spPr>
          <a:xfrm>
            <a:off x="3828825" y="1076034"/>
            <a:ext cx="5003475" cy="3817699"/>
          </a:xfrm>
          <a:prstGeom prst="rect">
            <a:avLst/>
          </a:prstGeom>
          <a:noFill/>
          <a:ln>
            <a:noFill/>
          </a:ln>
        </p:spPr>
        <p:txBody>
          <a:bodyPr anchor="t" anchorCtr="0" bIns="91425" lIns="91425" rIns="91425" tIns="91425" wrap="square">
            <a:noAutofit/>
          </a:bodyPr>
          <a:lstStyle/>
          <a:p>
            <a:pPr lvl="0">
              <a:spcBef>
                <a:spcPts val="0"/>
              </a:spcBef>
              <a:spcAft>
                <a:spcPts val="0"/>
              </a:spcAft>
              <a:buSzPts val="1800"/>
            </a:pPr>
            <a:r>
              <a:rPr b="1" dirty="0" lang="en-GB" sz="1800"/>
              <a:t>SYN Packet: </a:t>
            </a:r>
          </a:p>
          <a:p>
            <a:pPr indent="-285750" lvl="0" marL="285750">
              <a:spcBef>
                <a:spcPts val="0"/>
              </a:spcBef>
              <a:spcAft>
                <a:spcPts val="0"/>
              </a:spcAft>
              <a:buSzPts val="1800"/>
              <a:buFont charset="0" panose="020B0604020202020204" pitchFamily="34" typeface="Arial"/>
              <a:buChar char="•"/>
            </a:pPr>
            <a:r>
              <a:rPr dirty="0" lang="en-GB" smtClean="0" sz="1600"/>
              <a:t>client </a:t>
            </a:r>
            <a:r>
              <a:rPr dirty="0" lang="en-GB" sz="1600"/>
              <a:t>sends </a:t>
            </a:r>
            <a:r>
              <a:rPr dirty="0" lang="en-GB" smtClean="0" sz="1600"/>
              <a:t>SYN </a:t>
            </a:r>
            <a:r>
              <a:rPr dirty="0" lang="en-GB" sz="1600"/>
              <a:t>packet to </a:t>
            </a:r>
            <a:r>
              <a:rPr dirty="0" lang="en-GB" smtClean="0" sz="1600"/>
              <a:t>server with a </a:t>
            </a:r>
            <a:r>
              <a:rPr dirty="0" lang="en-GB" smtClean="0" sz="1600">
                <a:solidFill>
                  <a:srgbClr val="A80000"/>
                </a:solidFill>
              </a:rPr>
              <a:t>purely random</a:t>
            </a:r>
            <a:r>
              <a:rPr dirty="0" lang="en-GB" smtClean="0" sz="1600"/>
              <a:t> </a:t>
            </a:r>
            <a:r>
              <a:rPr dirty="0" err="1" lang="en-GB" smtClean="0" sz="1600"/>
              <a:t>seq</a:t>
            </a:r>
            <a:r>
              <a:rPr dirty="0" lang="en-GB" smtClean="0" sz="1600"/>
              <a:t># x.</a:t>
            </a:r>
            <a:endParaRPr dirty="0" lang="en-GB" sz="1600"/>
          </a:p>
          <a:p>
            <a:pPr indent="0" lvl="0" marL="0" rtl="0">
              <a:spcBef>
                <a:spcPts val="0"/>
              </a:spcBef>
              <a:buNone/>
            </a:pPr>
            <a:endParaRPr dirty="0" sz="1800"/>
          </a:p>
          <a:p>
            <a:pPr indent="0" lvl="0" marL="0">
              <a:spcBef>
                <a:spcPts val="0"/>
              </a:spcBef>
              <a:buNone/>
            </a:pPr>
            <a:r>
              <a:rPr b="1" dirty="0" lang="en-GB" sz="1800"/>
              <a:t>SYN-ACK Packet:</a:t>
            </a:r>
          </a:p>
          <a:p>
            <a:pPr indent="-285750" lvl="0" marL="400050" rtl="0">
              <a:spcBef>
                <a:spcPts val="0"/>
              </a:spcBef>
              <a:buSzPts val="1800"/>
              <a:buFont charset="0" panose="020B0604020202020204" pitchFamily="34" typeface="Arial"/>
              <a:buChar char="•"/>
            </a:pPr>
            <a:r>
              <a:rPr dirty="0" lang="en-GB" smtClean="0" sz="1600"/>
              <a:t>server replies with the SYN-ACK packet having a </a:t>
            </a:r>
            <a:r>
              <a:rPr dirty="0" lang="en-GB" smtClean="0" sz="1600">
                <a:solidFill>
                  <a:srgbClr val="A80000"/>
                </a:solidFill>
              </a:rPr>
              <a:t>purely random</a:t>
            </a:r>
            <a:r>
              <a:rPr dirty="0" lang="en-GB" smtClean="0" sz="1600"/>
              <a:t> </a:t>
            </a:r>
            <a:r>
              <a:rPr dirty="0" err="1" lang="en-GB" smtClean="0" sz="1600"/>
              <a:t>seq</a:t>
            </a:r>
            <a:r>
              <a:rPr dirty="0" lang="en-GB" smtClean="0" sz="1600"/>
              <a:t> # y.</a:t>
            </a:r>
            <a:endParaRPr dirty="0" lang="en-GB" sz="1600"/>
          </a:p>
          <a:p>
            <a:pPr indent="-342900" lvl="0" marL="457200" rtl="0">
              <a:spcBef>
                <a:spcPts val="0"/>
              </a:spcBef>
              <a:buSzPts val="1800"/>
              <a:buChar char="●"/>
            </a:pPr>
            <a:endParaRPr dirty="0" lang="en-GB" sz="1800"/>
          </a:p>
          <a:p>
            <a:pPr lvl="0"/>
            <a:r>
              <a:rPr b="1" dirty="0" lang="en-GB" sz="1800"/>
              <a:t>ACK Packet</a:t>
            </a:r>
          </a:p>
          <a:p>
            <a:pPr indent="-285750" lvl="0" marL="400050">
              <a:buSzPts val="1800"/>
              <a:buFont charset="0" panose="020B0604020202020204" pitchFamily="34" typeface="Arial"/>
              <a:buChar char="•"/>
            </a:pPr>
            <a:r>
              <a:rPr dirty="0" lang="en-GB" sz="1600"/>
              <a:t>Client sends out ACK packet to conclude the handshake</a:t>
            </a:r>
          </a:p>
        </p:txBody>
      </p:sp>
      <p:pic>
        <p:nvPicPr>
          <p:cNvPr descr="Screen Clipping"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733" y="1354880"/>
            <a:ext cx="3104493" cy="2910798"/>
          </a:xfrm>
          <a:prstGeom prst="rect">
            <a:avLst/>
          </a:prstGeom>
        </p:spPr>
      </p:pic>
      <p:sp>
        <p:nvSpPr>
          <p:cNvPr id="3" name="Slide Number Placeholder 2"/>
          <p:cNvSpPr>
            <a:spLocks noGrp="1"/>
          </p:cNvSpPr>
          <p:nvPr>
            <p:ph idx="12" type="sldNum"/>
          </p:nvPr>
        </p:nvSpPr>
        <p:spPr/>
        <p:txBody>
          <a:bodyPr/>
          <a:lstStyle/>
          <a:p>
            <a:pPr indent="0" lvl="0" marL="0">
              <a:spcBef>
                <a:spcPts val="0"/>
              </a:spcBef>
              <a:buNone/>
            </a:pPr>
            <a:fld id="{00000000-1234-1234-1234-123412341234}" type="slidenum">
              <a:rPr lang="en-GB" smtClean="0"/>
              <a:t>7</a:t>
            </a:fld>
            <a:endParaRPr lang="en-GB"/>
          </a:p>
        </p:txBody>
      </p:sp>
    </p:spTree>
    <p:extLst>
      <p:ext uri="{BB962C8B-B14F-4D97-AF65-F5344CB8AC3E}">
        <p14:creationId xmlns:p14="http://schemas.microsoft.com/office/powerpoint/2010/main" val="3518839594"/>
      </p:ext>
    </p:extLst>
  </p:cSld>
  <p:clrMapOvr>
    <a:masterClrMapping/>
  </p:clrMapOvr>
  <p:timing>
    <p:tnLst>
      <p:par>
        <p:cTn dur="indefinite" id="1" nodeType="tmRoot" restart="never"/>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26" name="Rectangle 25"/>
          <p:cNvSpPr/>
          <p:nvPr/>
        </p:nvSpPr>
        <p:spPr>
          <a:xfrm>
            <a:off x="6665035" y="3385272"/>
            <a:ext cx="2084260" cy="13365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CA"/>
          </a:p>
        </p:txBody>
      </p:sp>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a:t>TCP 3-way Handshake </a:t>
            </a:r>
            <a:r>
              <a:rPr dirty="0" lang="en-GB" smtClean="0"/>
              <a:t>Protocol (more details) </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5" name="Straight Arrow Connector 4"/>
          <p:cNvCxnSpPr/>
          <p:nvPr/>
        </p:nvCxnSpPr>
        <p:spPr>
          <a:xfrm>
            <a:off x="1013076" y="2473485"/>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1468" y="2126759"/>
            <a:ext cx="1138066"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=x</a:t>
            </a:r>
            <a:endParaRPr dirty="0" lang="en-CA"/>
          </a:p>
        </p:txBody>
      </p:sp>
      <p:cxnSp>
        <p:nvCxnSpPr>
          <p:cNvPr id="10" name="Straight Arrow Connector 9"/>
          <p:cNvCxnSpPr/>
          <p:nvPr/>
        </p:nvCxnSpPr>
        <p:spPr>
          <a:xfrm>
            <a:off x="1053645" y="3342932"/>
            <a:ext cx="1901163" cy="6578"/>
          </a:xfrm>
          <a:prstGeom prst="straightConnector1">
            <a:avLst/>
          </a:prstGeom>
          <a:ln>
            <a:solidFill>
              <a:schemeClr val="tx1"/>
            </a:solidFill>
            <a:headEnd len="med" type="triangle" w="med"/>
            <a:tailEnd len="med" type="none" w="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9185" y="3030194"/>
            <a:ext cx="2215828"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=y, ACK=x+1</a:t>
            </a:r>
            <a:endParaRPr dirty="0" lang="en-CA"/>
          </a:p>
        </p:txBody>
      </p:sp>
      <p:cxnSp>
        <p:nvCxnSpPr>
          <p:cNvPr id="12" name="Straight Arrow Connector 11"/>
          <p:cNvCxnSpPr/>
          <p:nvPr/>
        </p:nvCxnSpPr>
        <p:spPr>
          <a:xfrm>
            <a:off x="1067902" y="4212379"/>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9224" y="3899641"/>
            <a:ext cx="1839758" cy="307777"/>
          </a:xfrm>
          <a:prstGeom prst="rect">
            <a:avLst/>
          </a:prstGeom>
          <a:noFill/>
          <a:ln>
            <a:noFill/>
          </a:ln>
        </p:spPr>
        <p:txBody>
          <a:bodyPr rtlCol="0" wrap="square">
            <a:spAutoFit/>
          </a:bodyPr>
          <a:lstStyle/>
          <a:p>
            <a:r>
              <a:rPr dirty="0" lang="en-CA" smtClean="0"/>
              <a:t>ACK=y+1, </a:t>
            </a:r>
            <a:r>
              <a:rPr dirty="0" err="1" lang="en-CA" smtClean="0"/>
              <a:t>seq</a:t>
            </a:r>
            <a:r>
              <a:rPr dirty="0" lang="en-CA" smtClean="0"/>
              <a:t>=x+1</a:t>
            </a:r>
            <a:endParaRPr dirty="0" lang="en-CA"/>
          </a:p>
        </p:txBody>
      </p:sp>
      <p:sp>
        <p:nvSpPr>
          <p:cNvPr id="14" name="Rectangle 13"/>
          <p:cNvSpPr/>
          <p:nvPr/>
        </p:nvSpPr>
        <p:spPr>
          <a:xfrm>
            <a:off x="5173930" y="1603508"/>
            <a:ext cx="3644443" cy="14209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CA"/>
          </a:p>
        </p:txBody>
      </p:sp>
      <p:sp>
        <p:nvSpPr>
          <p:cNvPr id="8" name="Rectangle 7"/>
          <p:cNvSpPr/>
          <p:nvPr/>
        </p:nvSpPr>
        <p:spPr>
          <a:xfrm>
            <a:off x="3368152" y="2040405"/>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a:p>
            <a:pPr algn="ctr"/>
            <a:r>
              <a:rPr dirty="0" lang="en-CA" sz="1100">
                <a:solidFill>
                  <a:schemeClr val="tx1"/>
                </a:solidFill>
              </a:rPr>
              <a:t>y</a:t>
            </a:r>
          </a:p>
        </p:txBody>
      </p:sp>
      <p:sp>
        <p:nvSpPr>
          <p:cNvPr id="15" name="Rectangle 14"/>
          <p:cNvSpPr/>
          <p:nvPr/>
        </p:nvSpPr>
        <p:spPr>
          <a:xfrm>
            <a:off x="6092707" y="184415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sIP4</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sport4</a:t>
            </a:r>
          </a:p>
          <a:p>
            <a:pPr algn="ctr"/>
            <a:r>
              <a:rPr dirty="0" lang="en-CA" smtClean="0" sz="1050">
                <a:solidFill>
                  <a:schemeClr val="tx1"/>
                </a:solidFill>
              </a:rPr>
              <a:t>dport4</a:t>
            </a:r>
          </a:p>
          <a:p>
            <a:pPr algn="ctr"/>
            <a:r>
              <a:rPr dirty="0" lang="en-CA" smtClean="0" sz="1050">
                <a:solidFill>
                  <a:schemeClr val="tx1"/>
                </a:solidFill>
              </a:rPr>
              <a:t>x4</a:t>
            </a:r>
          </a:p>
          <a:p>
            <a:pPr algn="ctr"/>
            <a:r>
              <a:rPr dirty="0" lang="en-CA" smtClean="0" sz="1050">
                <a:solidFill>
                  <a:schemeClr val="tx1"/>
                </a:solidFill>
              </a:rPr>
              <a:t>y4</a:t>
            </a:r>
            <a:endParaRPr dirty="0" lang="en-CA" sz="1050">
              <a:solidFill>
                <a:schemeClr val="tx1"/>
              </a:solidFill>
            </a:endParaRPr>
          </a:p>
        </p:txBody>
      </p:sp>
      <p:sp>
        <p:nvSpPr>
          <p:cNvPr id="16" name="Rectangle 15"/>
          <p:cNvSpPr/>
          <p:nvPr/>
        </p:nvSpPr>
        <p:spPr>
          <a:xfrm>
            <a:off x="6784533" y="183209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sIP3</a:t>
            </a:r>
          </a:p>
          <a:p>
            <a:pPr algn="ctr"/>
            <a:r>
              <a:rPr dirty="0" lang="en-CA" smtClean="0" sz="1050">
                <a:solidFill>
                  <a:schemeClr val="tx1"/>
                </a:solidFill>
              </a:rPr>
              <a:t>dIP3</a:t>
            </a:r>
          </a:p>
          <a:p>
            <a:pPr algn="ctr"/>
            <a:r>
              <a:rPr dirty="0" lang="en-CA" smtClean="0" sz="1050">
                <a:solidFill>
                  <a:schemeClr val="tx1"/>
                </a:solidFill>
              </a:rPr>
              <a:t>sport3</a:t>
            </a:r>
          </a:p>
          <a:p>
            <a:pPr algn="ctr"/>
            <a:r>
              <a:rPr dirty="0" lang="en-CA" smtClean="0" sz="1050">
                <a:solidFill>
                  <a:schemeClr val="tx1"/>
                </a:solidFill>
              </a:rPr>
              <a:t>dport3</a:t>
            </a:r>
          </a:p>
          <a:p>
            <a:pPr algn="ctr"/>
            <a:r>
              <a:rPr dirty="0" lang="en-CA" smtClean="0" sz="1050">
                <a:solidFill>
                  <a:schemeClr val="tx1"/>
                </a:solidFill>
              </a:rPr>
              <a:t>x3</a:t>
            </a:r>
          </a:p>
          <a:p>
            <a:pPr algn="ctr"/>
            <a:r>
              <a:rPr dirty="0" lang="en-CA" smtClean="0" sz="1050">
                <a:solidFill>
                  <a:schemeClr val="tx1"/>
                </a:solidFill>
              </a:rPr>
              <a:t>y3</a:t>
            </a:r>
            <a:endParaRPr dirty="0" lang="en-CA" sz="1050">
              <a:solidFill>
                <a:schemeClr val="tx1"/>
              </a:solidFill>
            </a:endParaRPr>
          </a:p>
        </p:txBody>
      </p:sp>
      <p:sp>
        <p:nvSpPr>
          <p:cNvPr id="17" name="Rectangle 16"/>
          <p:cNvSpPr/>
          <p:nvPr/>
        </p:nvSpPr>
        <p:spPr>
          <a:xfrm>
            <a:off x="7463203" y="1833200"/>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sIP2</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sport2</a:t>
            </a:r>
          </a:p>
          <a:p>
            <a:pPr algn="ctr"/>
            <a:r>
              <a:rPr dirty="0" lang="en-CA" smtClean="0" sz="1050">
                <a:solidFill>
                  <a:schemeClr val="tx1"/>
                </a:solidFill>
              </a:rPr>
              <a:t>dport2</a:t>
            </a:r>
          </a:p>
          <a:p>
            <a:pPr algn="ctr"/>
            <a:r>
              <a:rPr dirty="0" lang="en-CA" smtClean="0" sz="1050">
                <a:solidFill>
                  <a:schemeClr val="tx1"/>
                </a:solidFill>
              </a:rPr>
              <a:t>x2</a:t>
            </a:r>
          </a:p>
          <a:p>
            <a:pPr algn="ctr"/>
            <a:r>
              <a:rPr dirty="0" lang="en-CA" smtClean="0" sz="1050">
                <a:solidFill>
                  <a:schemeClr val="tx1"/>
                </a:solidFill>
              </a:rPr>
              <a:t>y2</a:t>
            </a:r>
            <a:endParaRPr dirty="0" lang="en-CA" sz="1050">
              <a:solidFill>
                <a:schemeClr val="tx1"/>
              </a:solidFill>
            </a:endParaRPr>
          </a:p>
        </p:txBody>
      </p:sp>
      <p:sp>
        <p:nvSpPr>
          <p:cNvPr id="18" name="Rectangle 17"/>
          <p:cNvSpPr/>
          <p:nvPr/>
        </p:nvSpPr>
        <p:spPr>
          <a:xfrm>
            <a:off x="8135313" y="1821147"/>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sIP1</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sport1</a:t>
            </a:r>
          </a:p>
          <a:p>
            <a:pPr algn="ctr"/>
            <a:r>
              <a:rPr dirty="0" lang="en-CA" smtClean="0" sz="1050">
                <a:solidFill>
                  <a:schemeClr val="tx1"/>
                </a:solidFill>
              </a:rPr>
              <a:t>dport1</a:t>
            </a:r>
          </a:p>
          <a:p>
            <a:pPr algn="ctr"/>
            <a:r>
              <a:rPr dirty="0" lang="en-CA" smtClean="0" sz="1050">
                <a:solidFill>
                  <a:schemeClr val="tx1"/>
                </a:solidFill>
              </a:rPr>
              <a:t>x1</a:t>
            </a:r>
          </a:p>
          <a:p>
            <a:pPr algn="ctr"/>
            <a:r>
              <a:rPr dirty="0" lang="en-CA" smtClean="0" sz="1050">
                <a:solidFill>
                  <a:schemeClr val="tx1"/>
                </a:solidFill>
              </a:rPr>
              <a:t>y1</a:t>
            </a:r>
            <a:endParaRPr dirty="0" lang="en-CA" sz="1050">
              <a:solidFill>
                <a:schemeClr val="tx1"/>
              </a:solidFill>
            </a:endParaRPr>
          </a:p>
        </p:txBody>
      </p:sp>
      <p:sp>
        <p:nvSpPr>
          <p:cNvPr id="9" name="TextBox 8"/>
          <p:cNvSpPr txBox="1"/>
          <p:nvPr/>
        </p:nvSpPr>
        <p:spPr>
          <a:xfrm>
            <a:off x="8141890" y="1605131"/>
            <a:ext cx="705000" cy="261610"/>
          </a:xfrm>
          <a:prstGeom prst="rect">
            <a:avLst/>
          </a:prstGeom>
          <a:noFill/>
        </p:spPr>
        <p:txBody>
          <a:bodyPr rtlCol="0" wrap="square">
            <a:spAutoFit/>
          </a:bodyPr>
          <a:lstStyle/>
          <a:p>
            <a:r>
              <a:rPr b="1" dirty="0" lang="en-CA" smtClean="0" sz="1100"/>
              <a:t>client1</a:t>
            </a:r>
            <a:endParaRPr b="1" dirty="0" lang="en-CA" sz="1100"/>
          </a:p>
        </p:txBody>
      </p:sp>
      <p:sp>
        <p:nvSpPr>
          <p:cNvPr id="20" name="TextBox 19"/>
          <p:cNvSpPr txBox="1"/>
          <p:nvPr/>
        </p:nvSpPr>
        <p:spPr>
          <a:xfrm>
            <a:off x="7439094" y="1606229"/>
            <a:ext cx="705000" cy="261610"/>
          </a:xfrm>
          <a:prstGeom prst="rect">
            <a:avLst/>
          </a:prstGeom>
          <a:noFill/>
        </p:spPr>
        <p:txBody>
          <a:bodyPr rtlCol="0" wrap="square">
            <a:spAutoFit/>
          </a:bodyPr>
          <a:lstStyle/>
          <a:p>
            <a:r>
              <a:rPr b="1" dirty="0" lang="en-CA" smtClean="0" sz="1100"/>
              <a:t>client2</a:t>
            </a:r>
            <a:endParaRPr b="1" dirty="0" lang="en-CA" sz="1100"/>
          </a:p>
        </p:txBody>
      </p:sp>
      <p:sp>
        <p:nvSpPr>
          <p:cNvPr id="21" name="TextBox 20"/>
          <p:cNvSpPr txBox="1"/>
          <p:nvPr/>
        </p:nvSpPr>
        <p:spPr>
          <a:xfrm>
            <a:off x="6756032" y="1607325"/>
            <a:ext cx="705000" cy="261610"/>
          </a:xfrm>
          <a:prstGeom prst="rect">
            <a:avLst/>
          </a:prstGeom>
          <a:noFill/>
        </p:spPr>
        <p:txBody>
          <a:bodyPr rtlCol="0" wrap="square">
            <a:spAutoFit/>
          </a:bodyPr>
          <a:lstStyle/>
          <a:p>
            <a:r>
              <a:rPr b="1" dirty="0" lang="en-CA" smtClean="0" sz="1100"/>
              <a:t>client3</a:t>
            </a:r>
            <a:endParaRPr b="1" dirty="0" lang="en-CA" sz="1100"/>
          </a:p>
        </p:txBody>
      </p:sp>
      <p:sp>
        <p:nvSpPr>
          <p:cNvPr id="22" name="TextBox 21"/>
          <p:cNvSpPr txBox="1"/>
          <p:nvPr/>
        </p:nvSpPr>
        <p:spPr>
          <a:xfrm>
            <a:off x="6098192" y="1608425"/>
            <a:ext cx="679783" cy="261610"/>
          </a:xfrm>
          <a:prstGeom prst="rect">
            <a:avLst/>
          </a:prstGeom>
          <a:noFill/>
        </p:spPr>
        <p:txBody>
          <a:bodyPr rtlCol="0" wrap="square">
            <a:spAutoFit/>
          </a:bodyPr>
          <a:lstStyle/>
          <a:p>
            <a:r>
              <a:rPr b="1" dirty="0" lang="en-CA" smtClean="0" sz="1100"/>
              <a:t>client4</a:t>
            </a:r>
            <a:endParaRPr b="1" dirty="0" lang="en-CA" sz="1100"/>
          </a:p>
        </p:txBody>
      </p:sp>
      <p:sp>
        <p:nvSpPr>
          <p:cNvPr id="24" name="TextBox 23"/>
          <p:cNvSpPr txBox="1"/>
          <p:nvPr/>
        </p:nvSpPr>
        <p:spPr>
          <a:xfrm>
            <a:off x="3356095" y="1806871"/>
            <a:ext cx="679783" cy="261610"/>
          </a:xfrm>
          <a:prstGeom prst="rect">
            <a:avLst/>
          </a:prstGeom>
          <a:noFill/>
        </p:spPr>
        <p:txBody>
          <a:bodyPr rtlCol="0" wrap="square">
            <a:spAutoFit/>
          </a:bodyPr>
          <a:lstStyle/>
          <a:p>
            <a:r>
              <a:rPr b="1" dirty="0" lang="en-CA" smtClean="0" sz="1100"/>
              <a:t>client5</a:t>
            </a:r>
            <a:endParaRPr b="1" dirty="0" lang="en-CA" sz="1100"/>
          </a:p>
        </p:txBody>
      </p:sp>
      <p:sp>
        <p:nvSpPr>
          <p:cNvPr id="19" name="TextBox 18"/>
          <p:cNvSpPr txBox="1"/>
          <p:nvPr/>
        </p:nvSpPr>
        <p:spPr>
          <a:xfrm>
            <a:off x="6651873" y="1282790"/>
            <a:ext cx="1257572" cy="307777"/>
          </a:xfrm>
          <a:prstGeom prst="rect">
            <a:avLst/>
          </a:prstGeom>
          <a:noFill/>
        </p:spPr>
        <p:txBody>
          <a:bodyPr rtlCol="0" wrap="square">
            <a:spAutoFit/>
          </a:bodyPr>
          <a:lstStyle/>
          <a:p>
            <a:r>
              <a:rPr dirty="0" lang="en-CA" smtClean="0"/>
              <a:t>SYN queue</a:t>
            </a:r>
            <a:endParaRPr dirty="0" lang="en-CA"/>
          </a:p>
        </p:txBody>
      </p:sp>
      <p:sp>
        <p:nvSpPr>
          <p:cNvPr id="23" name="TextBox 22"/>
          <p:cNvSpPr txBox="1"/>
          <p:nvPr/>
        </p:nvSpPr>
        <p:spPr>
          <a:xfrm>
            <a:off x="7065216" y="4716725"/>
            <a:ext cx="1447254" cy="307777"/>
          </a:xfrm>
          <a:prstGeom prst="rect">
            <a:avLst/>
          </a:prstGeom>
          <a:noFill/>
        </p:spPr>
        <p:txBody>
          <a:bodyPr rtlCol="0" wrap="square">
            <a:spAutoFit/>
          </a:bodyPr>
          <a:lstStyle/>
          <a:p>
            <a:r>
              <a:rPr dirty="0" lang="en-CA" smtClean="0"/>
              <a:t>accept queue</a:t>
            </a:r>
            <a:endParaRPr dirty="0" lang="en-CA"/>
          </a:p>
        </p:txBody>
      </p:sp>
      <p:sp>
        <p:nvSpPr>
          <p:cNvPr id="25" name="TextBox 24"/>
          <p:cNvSpPr txBox="1"/>
          <p:nvPr/>
        </p:nvSpPr>
        <p:spPr>
          <a:xfrm>
            <a:off x="3169858" y="4562836"/>
            <a:ext cx="974545" cy="307777"/>
          </a:xfrm>
          <a:prstGeom prst="rect">
            <a:avLst/>
          </a:prstGeom>
          <a:solidFill>
            <a:srgbClr val="FFFF00"/>
          </a:solidFill>
        </p:spPr>
        <p:txBody>
          <a:bodyPr rtlCol="0" wrap="square">
            <a:spAutoFit/>
          </a:bodyPr>
          <a:lstStyle/>
          <a:p>
            <a:pPr algn="ctr"/>
            <a:r>
              <a:rPr dirty="0" err="1" lang="en-CA" smtClean="0"/>
              <a:t>NewSock</a:t>
            </a:r>
            <a:endParaRPr dirty="0" lang="en-CA"/>
          </a:p>
        </p:txBody>
      </p:sp>
      <p:cxnSp>
        <p:nvCxnSpPr>
          <p:cNvPr id="28" name="Straight Arrow Connector 27"/>
          <p:cNvCxnSpPr/>
          <p:nvPr/>
        </p:nvCxnSpPr>
        <p:spPr>
          <a:xfrm>
            <a:off x="1067902" y="4716725"/>
            <a:ext cx="1846337" cy="0"/>
          </a:xfrm>
          <a:prstGeom prst="straightConnector1">
            <a:avLst/>
          </a:prstGeom>
          <a:ln w="38100">
            <a:solidFill>
              <a:schemeClr val="tx1"/>
            </a:solidFill>
            <a:headEnd len="med" type="triangle" w="med"/>
            <a:tailEnd len="med" type="triangle" w="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138067" y="4447012"/>
            <a:ext cx="1811267" cy="307777"/>
          </a:xfrm>
          <a:prstGeom prst="rect">
            <a:avLst/>
          </a:prstGeom>
          <a:noFill/>
        </p:spPr>
        <p:txBody>
          <a:bodyPr rtlCol="0" wrap="square">
            <a:spAutoFit/>
          </a:bodyPr>
          <a:lstStyle/>
          <a:p>
            <a:r>
              <a:rPr dirty="0" lang="en-CA" smtClean="0"/>
              <a:t>real communication </a:t>
            </a:r>
            <a:endParaRPr dirty="0" lang="en-CA"/>
          </a:p>
        </p:txBody>
      </p:sp>
      <p:sp>
        <p:nvSpPr>
          <p:cNvPr id="30" name="TextBox 29"/>
          <p:cNvSpPr txBox="1"/>
          <p:nvPr/>
        </p:nvSpPr>
        <p:spPr>
          <a:xfrm>
            <a:off x="4565423" y="4552265"/>
            <a:ext cx="1500972" cy="307777"/>
          </a:xfrm>
          <a:prstGeom prst="rect">
            <a:avLst/>
          </a:prstGeom>
          <a:noFill/>
        </p:spPr>
        <p:txBody>
          <a:bodyPr rtlCol="0" wrap="square">
            <a:spAutoFit/>
          </a:bodyPr>
          <a:lstStyle/>
          <a:p>
            <a:r>
              <a:rPr dirty="0" err="1" lang="en-CA" smtClean="0"/>
              <a:t>server.accept</a:t>
            </a:r>
            <a:r>
              <a:rPr dirty="0" lang="en-CA" smtClean="0"/>
              <a:t>()</a:t>
            </a:r>
            <a:endParaRPr dirty="0" lang="en-CA"/>
          </a:p>
        </p:txBody>
      </p:sp>
      <p:cxnSp>
        <p:nvCxnSpPr>
          <p:cNvPr id="32" name="Straight Arrow Connector 31"/>
          <p:cNvCxnSpPr>
            <a:stCxn id="30" idx="1"/>
            <a:endCxn id="25" idx="3"/>
          </p:cNvCxnSpPr>
          <p:nvPr/>
        </p:nvCxnSpPr>
        <p:spPr>
          <a:xfrm flipH="1">
            <a:off x="4144403" y="4706154"/>
            <a:ext cx="421020" cy="10571"/>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H="1">
            <a:off x="4035878" y="1343100"/>
            <a:ext cx="463759" cy="933032"/>
          </a:xfrm>
          <a:prstGeom prst="line">
            <a:avLst/>
          </a:prstGeom>
          <a:ln w="28575">
            <a:solidFill>
              <a:schemeClr val="tx1"/>
            </a:solidFill>
            <a:prstDash val="dash"/>
            <a:headEnd len="med" type="none" w="med"/>
            <a:tailEnd len="med" type="arrow" w="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345671" y="990178"/>
            <a:ext cx="3583588" cy="307777"/>
          </a:xfrm>
          <a:prstGeom prst="rect">
            <a:avLst/>
          </a:prstGeom>
          <a:noFill/>
        </p:spPr>
        <p:txBody>
          <a:bodyPr rtlCol="0" wrap="square">
            <a:spAutoFit/>
          </a:bodyPr>
          <a:lstStyle/>
          <a:p>
            <a:r>
              <a:rPr dirty="0" lang="en-CA" smtClean="0"/>
              <a:t>Transmission control block (TCB)</a:t>
            </a:r>
            <a:endParaRPr dirty="0" lang="en-CA"/>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8</a:t>
            </a:fld>
            <a:endParaRPr lang="en-GB"/>
          </a:p>
        </p:txBody>
      </p:sp>
    </p:spTree>
    <p:extLst>
      <p:ext uri="{BB962C8B-B14F-4D97-AF65-F5344CB8AC3E}">
        <p14:creationId xmlns:p14="http://schemas.microsoft.com/office/powerpoint/2010/main" val="45019329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8"/>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24"/>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4"/>
                                        </p:tgtEl>
                                        <p:attrNameLst>
                                          <p:attrName>style.visibility</p:attrName>
                                        </p:attrNameLst>
                                      </p:cBhvr>
                                      <p:to>
                                        <p:strVal val="visible"/>
                                      </p:to>
                                    </p:set>
                                  </p:childTnLst>
                                  <p:subTnLst>
                                    <p:set>
                                      <p:cBhvr override="childStyle">
                                        <p:cTn afterEffect="1" display="0" dur="1" fill="hold" masterRel="nextClick"/>
                                        <p:tgtEl>
                                          <p:spTgt spid="4"/>
                                        </p:tgtEl>
                                        <p:attrNameLst>
                                          <p:attrName>style.visibility</p:attrName>
                                        </p:attrNameLst>
                                      </p:cBhvr>
                                      <p:to>
                                        <p:strVal val="hidden"/>
                                      </p:to>
                                    </p:set>
                                  </p:subTnLst>
                                </p:cTn>
                              </p:par>
                              <p:par>
                                <p:cTn fill="hold" grpId="0" id="13" nodeType="withEffect" presetClass="entr" presetID="1" presetSubtype="0">
                                  <p:stCondLst>
                                    <p:cond delay="0"/>
                                  </p:stCondLst>
                                  <p:childTnLst>
                                    <p:set>
                                      <p:cBhvr>
                                        <p:cTn dur="1" fill="hold" id="14">
                                          <p:stCondLst>
                                            <p:cond delay="0"/>
                                          </p:stCondLst>
                                        </p:cTn>
                                        <p:tgtEl>
                                          <p:spTgt spid="27"/>
                                        </p:tgtEl>
                                        <p:attrNameLst>
                                          <p:attrName>style.visibility</p:attrName>
                                        </p:attrNameLst>
                                      </p:cBhvr>
                                      <p:to>
                                        <p:strVal val="visible"/>
                                      </p:to>
                                    </p:set>
                                  </p:childTnLst>
                                  <p:subTnLst>
                                    <p:set>
                                      <p:cBhvr override="childStyle">
                                        <p:cTn afterEffect="1" display="0" dur="1" fill="hold" masterRel="nextClick"/>
                                        <p:tgtEl>
                                          <p:spTgt spid="27"/>
                                        </p:tgtEl>
                                        <p:attrNameLst>
                                          <p:attrName>style.visibility</p:attrName>
                                        </p:attrNameLst>
                                      </p:cBhvr>
                                      <p:to>
                                        <p:strVal val="hidden"/>
                                      </p:to>
                                    </p:set>
                                  </p:sub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14"/>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15"/>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16"/>
                                        </p:tgtEl>
                                        <p:attrNameLst>
                                          <p:attrName>style.visibility</p:attrName>
                                        </p:attrNameLst>
                                      </p:cBhvr>
                                      <p:to>
                                        <p:strVal val="visible"/>
                                      </p:to>
                                    </p:set>
                                  </p:childTnLst>
                                </p:cTn>
                              </p:par>
                              <p:par>
                                <p:cTn fill="hold" grpId="0" id="23" nodeType="withEffect" presetClass="entr" presetID="1" presetSubtype="0">
                                  <p:stCondLst>
                                    <p:cond delay="0"/>
                                  </p:stCondLst>
                                  <p:childTnLst>
                                    <p:set>
                                      <p:cBhvr>
                                        <p:cTn dur="1" fill="hold" id="24">
                                          <p:stCondLst>
                                            <p:cond delay="0"/>
                                          </p:stCondLst>
                                        </p:cTn>
                                        <p:tgtEl>
                                          <p:spTgt spid="17"/>
                                        </p:tgtEl>
                                        <p:attrNameLst>
                                          <p:attrName>style.visibility</p:attrName>
                                        </p:attrNameLst>
                                      </p:cBhvr>
                                      <p:to>
                                        <p:strVal val="visible"/>
                                      </p:to>
                                    </p:set>
                                  </p:childTnLst>
                                </p:cTn>
                              </p:par>
                              <p:par>
                                <p:cTn fill="hold" grpId="0" id="25" nodeType="withEffect" presetClass="entr" presetID="1" presetSubtype="0">
                                  <p:stCondLst>
                                    <p:cond delay="0"/>
                                  </p:stCondLst>
                                  <p:childTnLst>
                                    <p:set>
                                      <p:cBhvr>
                                        <p:cTn dur="1" fill="hold" id="26">
                                          <p:stCondLst>
                                            <p:cond delay="0"/>
                                          </p:stCondLst>
                                        </p:cTn>
                                        <p:tgtEl>
                                          <p:spTgt spid="18"/>
                                        </p:tgtEl>
                                        <p:attrNameLst>
                                          <p:attrName>style.visibility</p:attrName>
                                        </p:attrNameLst>
                                      </p:cBhvr>
                                      <p:to>
                                        <p:strVal val="visible"/>
                                      </p:to>
                                    </p:set>
                                  </p:childTnLst>
                                </p:cTn>
                              </p:par>
                              <p:par>
                                <p:cTn fill="hold" grpId="0" id="27" nodeType="withEffect" presetClass="entr" presetID="1" presetSubtype="0">
                                  <p:stCondLst>
                                    <p:cond delay="0"/>
                                  </p:stCondLst>
                                  <p:childTnLst>
                                    <p:set>
                                      <p:cBhvr>
                                        <p:cTn dur="1" fill="hold" id="28">
                                          <p:stCondLst>
                                            <p:cond delay="0"/>
                                          </p:stCondLst>
                                        </p:cTn>
                                        <p:tgtEl>
                                          <p:spTgt spid="9"/>
                                        </p:tgtEl>
                                        <p:attrNameLst>
                                          <p:attrName>style.visibility</p:attrName>
                                        </p:attrNameLst>
                                      </p:cBhvr>
                                      <p:to>
                                        <p:strVal val="visible"/>
                                      </p:to>
                                    </p:set>
                                  </p:childTnLst>
                                </p:cTn>
                              </p:par>
                              <p:par>
                                <p:cTn fill="hold" grpId="0" id="29" nodeType="withEffect" presetClass="entr" presetID="1" presetSubtype="0">
                                  <p:stCondLst>
                                    <p:cond delay="0"/>
                                  </p:stCondLst>
                                  <p:childTnLst>
                                    <p:set>
                                      <p:cBhvr>
                                        <p:cTn dur="1" fill="hold" id="30">
                                          <p:stCondLst>
                                            <p:cond delay="0"/>
                                          </p:stCondLst>
                                        </p:cTn>
                                        <p:tgtEl>
                                          <p:spTgt spid="20"/>
                                        </p:tgtEl>
                                        <p:attrNameLst>
                                          <p:attrName>style.visibility</p:attrName>
                                        </p:attrNameLst>
                                      </p:cBhvr>
                                      <p:to>
                                        <p:strVal val="visible"/>
                                      </p:to>
                                    </p:set>
                                  </p:childTnLst>
                                </p:cTn>
                              </p:par>
                              <p:par>
                                <p:cTn fill="hold" grpId="0" id="31" nodeType="withEffect" presetClass="entr" presetID="1" presetSubtype="0">
                                  <p:stCondLst>
                                    <p:cond delay="0"/>
                                  </p:stCondLst>
                                  <p:childTnLst>
                                    <p:set>
                                      <p:cBhvr>
                                        <p:cTn dur="1" fill="hold" id="32">
                                          <p:stCondLst>
                                            <p:cond delay="0"/>
                                          </p:stCondLst>
                                        </p:cTn>
                                        <p:tgtEl>
                                          <p:spTgt spid="21"/>
                                        </p:tgtEl>
                                        <p:attrNameLst>
                                          <p:attrName>style.visibility</p:attrName>
                                        </p:attrNameLst>
                                      </p:cBhvr>
                                      <p:to>
                                        <p:strVal val="visible"/>
                                      </p:to>
                                    </p:set>
                                  </p:childTnLst>
                                </p:cTn>
                              </p:par>
                              <p:par>
                                <p:cTn fill="hold" grpId="0" id="33" nodeType="withEffect" presetClass="entr" presetID="1" presetSubtype="0">
                                  <p:stCondLst>
                                    <p:cond delay="0"/>
                                  </p:stCondLst>
                                  <p:childTnLst>
                                    <p:set>
                                      <p:cBhvr>
                                        <p:cTn dur="1" fill="hold" id="34">
                                          <p:stCondLst>
                                            <p:cond delay="0"/>
                                          </p:stCondLst>
                                        </p:cTn>
                                        <p:tgtEl>
                                          <p:spTgt spid="22"/>
                                        </p:tgtEl>
                                        <p:attrNameLst>
                                          <p:attrName>style.visibility</p:attrName>
                                        </p:attrNameLst>
                                      </p:cBhvr>
                                      <p:to>
                                        <p:strVal val="visible"/>
                                      </p:to>
                                    </p:set>
                                  </p:childTnLst>
                                </p:cTn>
                              </p:par>
                              <p:par>
                                <p:cTn fill="hold" grpId="0" id="35" nodeType="withEffect" presetClass="entr" presetID="1" presetSubtype="0">
                                  <p:stCondLst>
                                    <p:cond delay="0"/>
                                  </p:stCondLst>
                                  <p:childTnLst>
                                    <p:set>
                                      <p:cBhvr>
                                        <p:cTn dur="1" fill="hold" id="36">
                                          <p:stCondLst>
                                            <p:cond delay="0"/>
                                          </p:stCondLst>
                                        </p:cTn>
                                        <p:tgtEl>
                                          <p:spTgt spid="19"/>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accel="50000" decel="50000" fill="hold" grpId="1" id="39" nodeType="clickEffect" presetClass="path" presetID="63" presetSubtype="0">
                                  <p:stCondLst>
                                    <p:cond delay="0"/>
                                  </p:stCondLst>
                                  <p:childTnLst>
                                    <p:animMotion origin="layout" path="M 4.44444E-6 -3.95062E-6 L 0.22951 -0.0358 " pathEditMode="relative" ptsTypes="AA" rAng="0">
                                      <p:cBhvr>
                                        <p:cTn dur="2000" fill="hold" id="40"/>
                                        <p:tgtEl>
                                          <p:spTgt spid="8"/>
                                        </p:tgtEl>
                                        <p:attrNameLst>
                                          <p:attrName>ppt_x</p:attrName>
                                          <p:attrName>ppt_y</p:attrName>
                                        </p:attrNameLst>
                                      </p:cBhvr>
                                      <p:rCtr x="11476" y="-1790"/>
                                    </p:animMotion>
                                  </p:childTnLst>
                                </p:cTn>
                              </p:par>
                              <p:par>
                                <p:cTn accel="50000" decel="50000" fill="hold" grpId="1" id="41" nodeType="withEffect" presetClass="path" presetID="63" presetSubtype="0">
                                  <p:stCondLst>
                                    <p:cond delay="0"/>
                                  </p:stCondLst>
                                  <p:childTnLst>
                                    <p:animMotion origin="layout" path="M -0.01511 0.00062 L 0.22743 -0.04012 " pathEditMode="relative" ptsTypes="AA" rAng="0">
                                      <p:cBhvr>
                                        <p:cTn dur="2000" fill="hold" id="42"/>
                                        <p:tgtEl>
                                          <p:spTgt spid="24"/>
                                        </p:tgtEl>
                                        <p:attrNameLst>
                                          <p:attrName>ppt_x</p:attrName>
                                          <p:attrName>ppt_y</p:attrName>
                                        </p:attrNameLst>
                                      </p:cBhvr>
                                      <p:rCtr x="12118" y="-2037"/>
                                    </p:animMotion>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10"/>
                                        </p:tgtEl>
                                        <p:attrNameLst>
                                          <p:attrName>style.visibility</p:attrName>
                                        </p:attrNameLst>
                                      </p:cBhvr>
                                      <p:to>
                                        <p:strVal val="visible"/>
                                      </p:to>
                                    </p:set>
                                  </p:childTnLst>
                                </p:cTn>
                              </p:par>
                              <p:par>
                                <p:cTn fill="hold" grpId="0" id="47" nodeType="withEffect" presetClass="entr" presetID="1" presetSubtype="0">
                                  <p:stCondLst>
                                    <p:cond delay="0"/>
                                  </p:stCondLst>
                                  <p:childTnLst>
                                    <p:set>
                                      <p:cBhvr>
                                        <p:cTn dur="1" fill="hold" id="48">
                                          <p:stCondLst>
                                            <p:cond delay="0"/>
                                          </p:stCondLst>
                                        </p:cTn>
                                        <p:tgtEl>
                                          <p:spTgt spid="11"/>
                                        </p:tgtEl>
                                        <p:attrNameLst>
                                          <p:attrName>style.visibility</p:attrName>
                                        </p:attrNameLst>
                                      </p:cBhvr>
                                      <p:to>
                                        <p:strVal val="visible"/>
                                      </p:to>
                                    </p:set>
                                  </p:childTnLst>
                                </p:cTn>
                              </p:par>
                            </p:childTnLst>
                          </p:cTn>
                        </p:par>
                      </p:childTnLst>
                    </p:cTn>
                  </p:par>
                  <p:par>
                    <p:cTn fill="hold" id="49">
                      <p:stCondLst>
                        <p:cond delay="indefinite"/>
                      </p:stCondLst>
                      <p:childTnLst>
                        <p:par>
                          <p:cTn fill="hold" id="50">
                            <p:stCondLst>
                              <p:cond delay="0"/>
                            </p:stCondLst>
                            <p:childTnLst>
                              <p:par>
                                <p:cTn fill="hold" id="51" nodeType="clickEffect" presetClass="entr" presetID="1" presetSubtype="0">
                                  <p:stCondLst>
                                    <p:cond delay="0"/>
                                  </p:stCondLst>
                                  <p:childTnLst>
                                    <p:set>
                                      <p:cBhvr>
                                        <p:cTn dur="1" fill="hold" id="52">
                                          <p:stCondLst>
                                            <p:cond delay="0"/>
                                          </p:stCondLst>
                                        </p:cTn>
                                        <p:tgtEl>
                                          <p:spTgt spid="12"/>
                                        </p:tgtEl>
                                        <p:attrNameLst>
                                          <p:attrName>style.visibility</p:attrName>
                                        </p:attrNameLst>
                                      </p:cBhvr>
                                      <p:to>
                                        <p:strVal val="visible"/>
                                      </p:to>
                                    </p:set>
                                  </p:childTnLst>
                                </p:cTn>
                              </p:par>
                              <p:par>
                                <p:cTn fill="hold" grpId="0" id="53" nodeType="withEffect" presetClass="entr" presetID="1" presetSubtype="0">
                                  <p:stCondLst>
                                    <p:cond delay="0"/>
                                  </p:stCondLst>
                                  <p:childTnLst>
                                    <p:set>
                                      <p:cBhvr>
                                        <p:cTn dur="1" fill="hold" id="54">
                                          <p:stCondLst>
                                            <p:cond delay="0"/>
                                          </p:stCondLst>
                                        </p:cTn>
                                        <p:tgtEl>
                                          <p:spTgt spid="13"/>
                                        </p:tgtEl>
                                        <p:attrNameLst>
                                          <p:attrName>style.visibility</p:attrName>
                                        </p:attrNameLst>
                                      </p:cBhvr>
                                      <p:to>
                                        <p:strVal val="visible"/>
                                      </p:to>
                                    </p:set>
                                  </p:childTnLst>
                                </p:cTn>
                              </p:par>
                            </p:childTnLst>
                          </p:cTn>
                        </p:par>
                      </p:childTnLst>
                    </p:cTn>
                  </p:par>
                  <p:par>
                    <p:cTn fill="hold" id="55">
                      <p:stCondLst>
                        <p:cond delay="indefinite"/>
                      </p:stCondLst>
                      <p:childTnLst>
                        <p:par>
                          <p:cTn fill="hold" id="56">
                            <p:stCondLst>
                              <p:cond delay="0"/>
                            </p:stCondLst>
                            <p:childTnLst>
                              <p:par>
                                <p:cTn fill="hold" grpId="0" id="57" nodeType="clickEffect" presetClass="entr" presetID="1" presetSubtype="0">
                                  <p:stCondLst>
                                    <p:cond delay="0"/>
                                  </p:stCondLst>
                                  <p:childTnLst>
                                    <p:set>
                                      <p:cBhvr>
                                        <p:cTn dur="1" fill="hold" id="58">
                                          <p:stCondLst>
                                            <p:cond delay="0"/>
                                          </p:stCondLst>
                                        </p:cTn>
                                        <p:tgtEl>
                                          <p:spTgt spid="26"/>
                                        </p:tgtEl>
                                        <p:attrNameLst>
                                          <p:attrName>style.visibility</p:attrName>
                                        </p:attrNameLst>
                                      </p:cBhvr>
                                      <p:to>
                                        <p:strVal val="visible"/>
                                      </p:to>
                                    </p:set>
                                  </p:childTnLst>
                                </p:cTn>
                              </p:par>
                              <p:par>
                                <p:cTn fill="hold" grpId="0" id="59" nodeType="withEffect" presetClass="entr" presetID="1" presetSubtype="0">
                                  <p:stCondLst>
                                    <p:cond delay="0"/>
                                  </p:stCondLst>
                                  <p:childTnLst>
                                    <p:set>
                                      <p:cBhvr>
                                        <p:cTn dur="1" fill="hold" id="60">
                                          <p:stCondLst>
                                            <p:cond delay="0"/>
                                          </p:stCondLst>
                                        </p:cTn>
                                        <p:tgtEl>
                                          <p:spTgt spid="23"/>
                                        </p:tgtEl>
                                        <p:attrNameLst>
                                          <p:attrName>style.visibility</p:attrName>
                                        </p:attrNameLst>
                                      </p:cBhvr>
                                      <p:to>
                                        <p:strVal val="visible"/>
                                      </p:to>
                                    </p:set>
                                  </p:childTnLst>
                                </p:cTn>
                              </p:par>
                            </p:childTnLst>
                          </p:cTn>
                        </p:par>
                      </p:childTnLst>
                    </p:cTn>
                  </p:par>
                  <p:par>
                    <p:cTn fill="hold" id="61">
                      <p:stCondLst>
                        <p:cond delay="indefinite"/>
                      </p:stCondLst>
                      <p:childTnLst>
                        <p:par>
                          <p:cTn fill="hold" id="62">
                            <p:stCondLst>
                              <p:cond delay="0"/>
                            </p:stCondLst>
                            <p:childTnLst>
                              <p:par>
                                <p:cTn accel="50000" decel="50000" fill="hold" grpId="2" id="63" nodeType="clickEffect" presetClass="path" presetID="49" presetSubtype="0">
                                  <p:stCondLst>
                                    <p:cond delay="0"/>
                                  </p:stCondLst>
                                  <p:childTnLst>
                                    <p:animMotion origin="layout" path="M 0.26406 0.06451 L 0.51406 0.31451 " pathEditMode="relative" ptsTypes="AA" rAng="0">
                                      <p:cBhvr>
                                        <p:cTn dur="2000" fill="hold" id="64"/>
                                        <p:tgtEl>
                                          <p:spTgt spid="8"/>
                                        </p:tgtEl>
                                        <p:attrNameLst>
                                          <p:attrName>ppt_x</p:attrName>
                                          <p:attrName>ppt_y</p:attrName>
                                        </p:attrNameLst>
                                      </p:cBhvr>
                                      <p:rCtr x="12500" y="12500"/>
                                    </p:animMotion>
                                  </p:childTnLst>
                                </p:cTn>
                              </p:par>
                              <p:par>
                                <p:cTn accel="50000" decel="50000" fill="hold" grpId="2" id="65" nodeType="withEffect" presetClass="path" presetID="49" presetSubtype="0">
                                  <p:stCondLst>
                                    <p:cond delay="0"/>
                                  </p:stCondLst>
                                  <p:childTnLst>
                                    <p:animMotion origin="layout" path="M 0.26215 0.06513 L 0.51215 0.31513 " pathEditMode="relative" ptsTypes="AA" rAng="0">
                                      <p:cBhvr>
                                        <p:cTn dur="2000" fill="hold" id="66"/>
                                        <p:tgtEl>
                                          <p:spTgt spid="24"/>
                                        </p:tgtEl>
                                        <p:attrNameLst>
                                          <p:attrName>ppt_x</p:attrName>
                                          <p:attrName>ppt_y</p:attrName>
                                        </p:attrNameLst>
                                      </p:cBhvr>
                                      <p:rCtr x="12500" y="12500"/>
                                    </p:animMotion>
                                  </p:childTnLst>
                                </p:cTn>
                              </p:par>
                            </p:childTnLst>
                          </p:cTn>
                        </p:par>
                      </p:childTnLst>
                    </p:cTn>
                  </p:par>
                  <p:par>
                    <p:cTn fill="hold" id="67">
                      <p:stCondLst>
                        <p:cond delay="indefinite"/>
                      </p:stCondLst>
                      <p:childTnLst>
                        <p:par>
                          <p:cTn fill="hold" id="68">
                            <p:stCondLst>
                              <p:cond delay="0"/>
                            </p:stCondLst>
                            <p:childTnLst>
                              <p:par>
                                <p:cTn fill="hold" grpId="0" id="69" nodeType="clickEffect" presetClass="entr" presetID="1" presetSubtype="0">
                                  <p:stCondLst>
                                    <p:cond delay="0"/>
                                  </p:stCondLst>
                                  <p:childTnLst>
                                    <p:set>
                                      <p:cBhvr>
                                        <p:cTn dur="1" fill="hold" id="70">
                                          <p:stCondLst>
                                            <p:cond delay="0"/>
                                          </p:stCondLst>
                                        </p:cTn>
                                        <p:tgtEl>
                                          <p:spTgt spid="25"/>
                                        </p:tgtEl>
                                        <p:attrNameLst>
                                          <p:attrName>style.visibility</p:attrName>
                                        </p:attrNameLst>
                                      </p:cBhvr>
                                      <p:to>
                                        <p:strVal val="visible"/>
                                      </p:to>
                                    </p:set>
                                  </p:childTnLst>
                                </p:cTn>
                              </p:par>
                              <p:par>
                                <p:cTn fill="hold" grpId="0" id="71" nodeType="withEffect" presetClass="entr" presetID="1" presetSubtype="0">
                                  <p:stCondLst>
                                    <p:cond delay="0"/>
                                  </p:stCondLst>
                                  <p:childTnLst>
                                    <p:set>
                                      <p:cBhvr>
                                        <p:cTn dur="1" fill="hold" id="72">
                                          <p:stCondLst>
                                            <p:cond delay="0"/>
                                          </p:stCondLst>
                                        </p:cTn>
                                        <p:tgtEl>
                                          <p:spTgt spid="30"/>
                                        </p:tgtEl>
                                        <p:attrNameLst>
                                          <p:attrName>style.visibility</p:attrName>
                                        </p:attrNameLst>
                                      </p:cBhvr>
                                      <p:to>
                                        <p:strVal val="visible"/>
                                      </p:to>
                                    </p:set>
                                  </p:childTnLst>
                                </p:cTn>
                              </p:par>
                              <p:par>
                                <p:cTn fill="hold" id="73" nodeType="withEffect" presetClass="entr" presetID="1" presetSubtype="0">
                                  <p:stCondLst>
                                    <p:cond delay="0"/>
                                  </p:stCondLst>
                                  <p:childTnLst>
                                    <p:set>
                                      <p:cBhvr>
                                        <p:cTn dur="1" fill="hold" id="74">
                                          <p:stCondLst>
                                            <p:cond delay="0"/>
                                          </p:stCondLst>
                                        </p:cTn>
                                        <p:tgtEl>
                                          <p:spTgt spid="32"/>
                                        </p:tgtEl>
                                        <p:attrNameLst>
                                          <p:attrName>style.visibility</p:attrName>
                                        </p:attrNameLst>
                                      </p:cBhvr>
                                      <p:to>
                                        <p:strVal val="visible"/>
                                      </p:to>
                                    </p:set>
                                  </p:childTnLst>
                                </p:cTn>
                              </p:par>
                            </p:childTnLst>
                          </p:cTn>
                        </p:par>
                      </p:childTnLst>
                    </p:cTn>
                  </p:par>
                  <p:par>
                    <p:cTn fill="hold" id="75">
                      <p:stCondLst>
                        <p:cond delay="indefinite"/>
                      </p:stCondLst>
                      <p:childTnLst>
                        <p:par>
                          <p:cTn fill="hold" id="76">
                            <p:stCondLst>
                              <p:cond delay="0"/>
                            </p:stCondLst>
                            <p:childTnLst>
                              <p:par>
                                <p:cTn fill="hold" grpId="3" id="77" nodeType="clickEffect" presetClass="exit" presetID="2" presetSubtype="4">
                                  <p:stCondLst>
                                    <p:cond delay="0"/>
                                  </p:stCondLst>
                                  <p:childTnLst>
                                    <p:anim calcmode="lin" valueType="num">
                                      <p:cBhvr additive="base">
                                        <p:cTn dur="500" id="78"/>
                                        <p:tgtEl>
                                          <p:spTgt spid="8"/>
                                        </p:tgtEl>
                                        <p:attrNameLst>
                                          <p:attrName>ppt_x</p:attrName>
                                        </p:attrNameLst>
                                      </p:cBhvr>
                                      <p:tavLst>
                                        <p:tav tm="0">
                                          <p:val>
                                            <p:strVal val="ppt_x"/>
                                          </p:val>
                                        </p:tav>
                                        <p:tav tm="100000">
                                          <p:val>
                                            <p:strVal val="ppt_x"/>
                                          </p:val>
                                        </p:tav>
                                      </p:tavLst>
                                    </p:anim>
                                    <p:anim calcmode="lin" valueType="num">
                                      <p:cBhvr additive="base">
                                        <p:cTn dur="500" id="79"/>
                                        <p:tgtEl>
                                          <p:spTgt spid="8"/>
                                        </p:tgtEl>
                                        <p:attrNameLst>
                                          <p:attrName>ppt_y</p:attrName>
                                        </p:attrNameLst>
                                      </p:cBhvr>
                                      <p:tavLst>
                                        <p:tav tm="0">
                                          <p:val>
                                            <p:strVal val="ppt_y"/>
                                          </p:val>
                                        </p:tav>
                                        <p:tav tm="100000">
                                          <p:val>
                                            <p:strVal val="1+ppt_h/2"/>
                                          </p:val>
                                        </p:tav>
                                      </p:tavLst>
                                    </p:anim>
                                    <p:set>
                                      <p:cBhvr>
                                        <p:cTn dur="1" fill="hold" id="80">
                                          <p:stCondLst>
                                            <p:cond delay="499"/>
                                          </p:stCondLst>
                                        </p:cTn>
                                        <p:tgtEl>
                                          <p:spTgt spid="8"/>
                                        </p:tgtEl>
                                        <p:attrNameLst>
                                          <p:attrName>style.visibility</p:attrName>
                                        </p:attrNameLst>
                                      </p:cBhvr>
                                      <p:to>
                                        <p:strVal val="hidden"/>
                                      </p:to>
                                    </p:set>
                                  </p:childTnLst>
                                </p:cTn>
                              </p:par>
                              <p:par>
                                <p:cTn fill="hold" grpId="3" id="81" nodeType="withEffect" presetClass="exit" presetID="2" presetSubtype="4">
                                  <p:stCondLst>
                                    <p:cond delay="0"/>
                                  </p:stCondLst>
                                  <p:childTnLst>
                                    <p:anim calcmode="lin" valueType="num">
                                      <p:cBhvr additive="base">
                                        <p:cTn dur="500" id="82"/>
                                        <p:tgtEl>
                                          <p:spTgt spid="24"/>
                                        </p:tgtEl>
                                        <p:attrNameLst>
                                          <p:attrName>ppt_x</p:attrName>
                                        </p:attrNameLst>
                                      </p:cBhvr>
                                      <p:tavLst>
                                        <p:tav tm="0">
                                          <p:val>
                                            <p:strVal val="ppt_x"/>
                                          </p:val>
                                        </p:tav>
                                        <p:tav tm="100000">
                                          <p:val>
                                            <p:strVal val="ppt_x"/>
                                          </p:val>
                                        </p:tav>
                                      </p:tavLst>
                                    </p:anim>
                                    <p:anim calcmode="lin" valueType="num">
                                      <p:cBhvr additive="base">
                                        <p:cTn dur="500" id="83"/>
                                        <p:tgtEl>
                                          <p:spTgt spid="24"/>
                                        </p:tgtEl>
                                        <p:attrNameLst>
                                          <p:attrName>ppt_y</p:attrName>
                                        </p:attrNameLst>
                                      </p:cBhvr>
                                      <p:tavLst>
                                        <p:tav tm="0">
                                          <p:val>
                                            <p:strVal val="ppt_y"/>
                                          </p:val>
                                        </p:tav>
                                        <p:tav tm="100000">
                                          <p:val>
                                            <p:strVal val="1+ppt_h/2"/>
                                          </p:val>
                                        </p:tav>
                                      </p:tavLst>
                                    </p:anim>
                                    <p:set>
                                      <p:cBhvr>
                                        <p:cTn dur="1" fill="hold" id="84">
                                          <p:stCondLst>
                                            <p:cond delay="499"/>
                                          </p:stCondLst>
                                        </p:cTn>
                                        <p:tgtEl>
                                          <p:spTgt spid="24"/>
                                        </p:tgtEl>
                                        <p:attrNameLst>
                                          <p:attrName>style.visibility</p:attrName>
                                        </p:attrNameLst>
                                      </p:cBhvr>
                                      <p:to>
                                        <p:strVal val="hidden"/>
                                      </p:to>
                                    </p:set>
                                  </p:childTnLst>
                                </p:cTn>
                              </p:par>
                            </p:childTnLst>
                          </p:cTn>
                        </p:par>
                      </p:childTnLst>
                    </p:cTn>
                  </p:par>
                  <p:par>
                    <p:cTn fill="hold" id="85">
                      <p:stCondLst>
                        <p:cond delay="indefinite"/>
                      </p:stCondLst>
                      <p:childTnLst>
                        <p:par>
                          <p:cTn fill="hold" id="86">
                            <p:stCondLst>
                              <p:cond delay="0"/>
                            </p:stCondLst>
                            <p:childTnLst>
                              <p:par>
                                <p:cTn fill="hold" id="87" nodeType="clickEffect" presetClass="entr" presetID="1" presetSubtype="0">
                                  <p:stCondLst>
                                    <p:cond delay="0"/>
                                  </p:stCondLst>
                                  <p:childTnLst>
                                    <p:set>
                                      <p:cBhvr>
                                        <p:cTn dur="1" fill="hold" id="88">
                                          <p:stCondLst>
                                            <p:cond delay="0"/>
                                          </p:stCondLst>
                                        </p:cTn>
                                        <p:tgtEl>
                                          <p:spTgt spid="28"/>
                                        </p:tgtEl>
                                        <p:attrNameLst>
                                          <p:attrName>style.visibility</p:attrName>
                                        </p:attrNameLst>
                                      </p:cBhvr>
                                      <p:to>
                                        <p:strVal val="visible"/>
                                      </p:to>
                                    </p:set>
                                  </p:childTnLst>
                                </p:cTn>
                              </p:par>
                              <p:par>
                                <p:cTn fill="hold" grpId="0" id="89" nodeType="withEffect" presetClass="entr" presetID="1" presetSubtype="0">
                                  <p:stCondLst>
                                    <p:cond delay="0"/>
                                  </p:stCondLst>
                                  <p:childTnLst>
                                    <p:set>
                                      <p:cBhvr>
                                        <p:cTn dur="1" fill="hold" id="90">
                                          <p:stCondLst>
                                            <p:cond delay="0"/>
                                          </p:stCondLst>
                                        </p:cTn>
                                        <p:tgtEl>
                                          <p:spTgt spid="29"/>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26"/>
      <p:bldP grpId="0" spid="11"/>
      <p:bldP grpId="0" spid="13"/>
      <p:bldP animBg="1" grpId="0" spid="14"/>
      <p:bldP animBg="1" grpId="0" spid="8"/>
      <p:bldP animBg="1" grpId="1" spid="8"/>
      <p:bldP animBg="1" grpId="2" spid="8"/>
      <p:bldP animBg="1" grpId="3" spid="8"/>
      <p:bldP animBg="1" grpId="0" spid="15"/>
      <p:bldP animBg="1" grpId="0" spid="16"/>
      <p:bldP animBg="1" grpId="0" spid="17"/>
      <p:bldP animBg="1" grpId="0" spid="18"/>
      <p:bldP grpId="0" spid="9"/>
      <p:bldP grpId="0" spid="20"/>
      <p:bldP grpId="0" spid="21"/>
      <p:bldP grpId="0" spid="22"/>
      <p:bldP grpId="0" spid="24"/>
      <p:bldP grpId="1" spid="24"/>
      <p:bldP grpId="2" spid="24"/>
      <p:bldP grpId="3" spid="24"/>
      <p:bldP grpId="0" spid="19"/>
      <p:bldP grpId="0" spid="23"/>
      <p:bldP animBg="1" grpId="0" spid="25"/>
      <p:bldP grpId="0" spid="29"/>
      <p:bldP grpId="0" spid="30"/>
      <p:bldP grpId="0" spid="27"/>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pic>
        <p:nvPicPr>
          <p:cNvPr id="32" name="Picture 31" descr="&quot;net.ipv4.tcp_syn_retries = 6 with 'retries' highlighted in red&quot;"/>
          <p:cNvPicPr>
            <a:picLocks noChangeAspect="1"/>
          </p:cNvPicPr>
          <p:nvPr/>
        </p:nvPicPr>
        <p:blipFill>
          <a:blip r:embed="rId3"/>
          <a:stretch>
            <a:fillRect/>
          </a:stretch>
        </p:blipFill>
        <p:spPr>
          <a:xfrm>
            <a:off x="6093263" y="3830405"/>
            <a:ext cx="2898321" cy="255734"/>
          </a:xfrm>
          <a:prstGeom prst="rect">
            <a:avLst/>
          </a:prstGeom>
        </p:spPr>
      </p:pic>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a:t>TCP 3-way Handshake </a:t>
            </a:r>
            <a:r>
              <a:rPr dirty="0" lang="en-GB" smtClean="0"/>
              <a:t>Protocol (more details) </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5" name="Straight Arrow Connector 4"/>
          <p:cNvCxnSpPr/>
          <p:nvPr/>
        </p:nvCxnSpPr>
        <p:spPr>
          <a:xfrm>
            <a:off x="1013076" y="2473485"/>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1468" y="2126759"/>
            <a:ext cx="1138066"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=x</a:t>
            </a:r>
            <a:endParaRPr dirty="0" lang="en-CA"/>
          </a:p>
        </p:txBody>
      </p:sp>
      <p:cxnSp>
        <p:nvCxnSpPr>
          <p:cNvPr id="10" name="Straight Arrow Connector 9"/>
          <p:cNvCxnSpPr/>
          <p:nvPr/>
        </p:nvCxnSpPr>
        <p:spPr>
          <a:xfrm>
            <a:off x="1053645" y="3342932"/>
            <a:ext cx="1901163" cy="6578"/>
          </a:xfrm>
          <a:prstGeom prst="straightConnector1">
            <a:avLst/>
          </a:prstGeom>
          <a:ln>
            <a:solidFill>
              <a:schemeClr val="tx1"/>
            </a:solidFill>
            <a:headEnd len="med" type="triangle" w="med"/>
            <a:tailEnd len="med" type="none" w="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9185" y="3030194"/>
            <a:ext cx="2215828"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=y, ACK=x+1</a:t>
            </a:r>
            <a:endParaRPr dirty="0" lang="en-CA"/>
          </a:p>
        </p:txBody>
      </p:sp>
      <p:sp>
        <p:nvSpPr>
          <p:cNvPr id="14" name="Rectangle 13"/>
          <p:cNvSpPr/>
          <p:nvPr/>
        </p:nvSpPr>
        <p:spPr>
          <a:xfrm>
            <a:off x="5104852" y="1559085"/>
            <a:ext cx="3644443" cy="14209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CA"/>
          </a:p>
        </p:txBody>
      </p:sp>
      <p:sp>
        <p:nvSpPr>
          <p:cNvPr id="8" name="Rectangle 7"/>
          <p:cNvSpPr/>
          <p:nvPr/>
        </p:nvSpPr>
        <p:spPr>
          <a:xfrm>
            <a:off x="5440344" y="1843056"/>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a:p>
            <a:pPr algn="ctr"/>
            <a:r>
              <a:rPr dirty="0" lang="en-CA" sz="1100">
                <a:solidFill>
                  <a:schemeClr val="tx1"/>
                </a:solidFill>
              </a:rPr>
              <a:t>y</a:t>
            </a:r>
          </a:p>
        </p:txBody>
      </p:sp>
      <p:sp>
        <p:nvSpPr>
          <p:cNvPr id="15" name="Rectangle 14"/>
          <p:cNvSpPr/>
          <p:nvPr/>
        </p:nvSpPr>
        <p:spPr>
          <a:xfrm>
            <a:off x="6092707" y="184415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sIP4</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sport4</a:t>
            </a:r>
          </a:p>
          <a:p>
            <a:pPr algn="ctr"/>
            <a:r>
              <a:rPr dirty="0" lang="en-CA" smtClean="0" sz="1050">
                <a:solidFill>
                  <a:schemeClr val="tx1"/>
                </a:solidFill>
              </a:rPr>
              <a:t>dport4</a:t>
            </a:r>
          </a:p>
          <a:p>
            <a:pPr algn="ctr"/>
            <a:r>
              <a:rPr dirty="0" lang="en-CA" smtClean="0" sz="1050">
                <a:solidFill>
                  <a:schemeClr val="tx1"/>
                </a:solidFill>
              </a:rPr>
              <a:t>x4</a:t>
            </a:r>
          </a:p>
          <a:p>
            <a:pPr algn="ctr"/>
            <a:r>
              <a:rPr dirty="0" lang="en-CA" smtClean="0" sz="1050">
                <a:solidFill>
                  <a:schemeClr val="tx1"/>
                </a:solidFill>
              </a:rPr>
              <a:t>y4</a:t>
            </a:r>
            <a:endParaRPr dirty="0" lang="en-CA" sz="1050">
              <a:solidFill>
                <a:schemeClr val="tx1"/>
              </a:solidFill>
            </a:endParaRPr>
          </a:p>
        </p:txBody>
      </p:sp>
      <p:sp>
        <p:nvSpPr>
          <p:cNvPr id="16" name="Rectangle 15"/>
          <p:cNvSpPr/>
          <p:nvPr/>
        </p:nvSpPr>
        <p:spPr>
          <a:xfrm>
            <a:off x="6784533" y="183209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sIP3</a:t>
            </a:r>
          </a:p>
          <a:p>
            <a:pPr algn="ctr"/>
            <a:r>
              <a:rPr dirty="0" lang="en-CA" smtClean="0" sz="1050">
                <a:solidFill>
                  <a:schemeClr val="tx1"/>
                </a:solidFill>
              </a:rPr>
              <a:t>dIP3</a:t>
            </a:r>
          </a:p>
          <a:p>
            <a:pPr algn="ctr"/>
            <a:r>
              <a:rPr dirty="0" lang="en-CA" smtClean="0" sz="1050">
                <a:solidFill>
                  <a:schemeClr val="tx1"/>
                </a:solidFill>
              </a:rPr>
              <a:t>sport3</a:t>
            </a:r>
          </a:p>
          <a:p>
            <a:pPr algn="ctr"/>
            <a:r>
              <a:rPr dirty="0" lang="en-CA" smtClean="0" sz="1050">
                <a:solidFill>
                  <a:schemeClr val="tx1"/>
                </a:solidFill>
              </a:rPr>
              <a:t>dport3</a:t>
            </a:r>
          </a:p>
          <a:p>
            <a:pPr algn="ctr"/>
            <a:r>
              <a:rPr dirty="0" lang="en-CA" smtClean="0" sz="1050">
                <a:solidFill>
                  <a:schemeClr val="tx1"/>
                </a:solidFill>
              </a:rPr>
              <a:t>x3</a:t>
            </a:r>
          </a:p>
          <a:p>
            <a:pPr algn="ctr"/>
            <a:r>
              <a:rPr dirty="0" lang="en-CA" smtClean="0" sz="1050">
                <a:solidFill>
                  <a:schemeClr val="tx1"/>
                </a:solidFill>
              </a:rPr>
              <a:t>y3</a:t>
            </a:r>
            <a:endParaRPr dirty="0" lang="en-CA" sz="1050">
              <a:solidFill>
                <a:schemeClr val="tx1"/>
              </a:solidFill>
            </a:endParaRPr>
          </a:p>
        </p:txBody>
      </p:sp>
      <p:sp>
        <p:nvSpPr>
          <p:cNvPr id="17" name="Rectangle 16"/>
          <p:cNvSpPr/>
          <p:nvPr/>
        </p:nvSpPr>
        <p:spPr>
          <a:xfrm>
            <a:off x="7463203" y="1833200"/>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sIP2</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sport2</a:t>
            </a:r>
          </a:p>
          <a:p>
            <a:pPr algn="ctr"/>
            <a:r>
              <a:rPr dirty="0" lang="en-CA" smtClean="0" sz="1050">
                <a:solidFill>
                  <a:schemeClr val="tx1"/>
                </a:solidFill>
              </a:rPr>
              <a:t>dport2</a:t>
            </a:r>
          </a:p>
          <a:p>
            <a:pPr algn="ctr"/>
            <a:r>
              <a:rPr dirty="0" lang="en-CA" smtClean="0" sz="1050">
                <a:solidFill>
                  <a:schemeClr val="tx1"/>
                </a:solidFill>
              </a:rPr>
              <a:t>x2</a:t>
            </a:r>
          </a:p>
          <a:p>
            <a:pPr algn="ctr"/>
            <a:r>
              <a:rPr dirty="0" lang="en-CA" smtClean="0" sz="1050">
                <a:solidFill>
                  <a:schemeClr val="tx1"/>
                </a:solidFill>
              </a:rPr>
              <a:t>y2</a:t>
            </a:r>
            <a:endParaRPr dirty="0" lang="en-CA" sz="1050">
              <a:solidFill>
                <a:schemeClr val="tx1"/>
              </a:solidFill>
            </a:endParaRPr>
          </a:p>
        </p:txBody>
      </p:sp>
      <p:sp>
        <p:nvSpPr>
          <p:cNvPr id="18" name="Rectangle 17"/>
          <p:cNvSpPr/>
          <p:nvPr/>
        </p:nvSpPr>
        <p:spPr>
          <a:xfrm>
            <a:off x="8135313" y="1821147"/>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sIP1</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sport1</a:t>
            </a:r>
          </a:p>
          <a:p>
            <a:pPr algn="ctr"/>
            <a:r>
              <a:rPr dirty="0" lang="en-CA" smtClean="0" sz="1050">
                <a:solidFill>
                  <a:schemeClr val="tx1"/>
                </a:solidFill>
              </a:rPr>
              <a:t>dport1</a:t>
            </a:r>
          </a:p>
          <a:p>
            <a:pPr algn="ctr"/>
            <a:r>
              <a:rPr dirty="0" lang="en-CA" smtClean="0" sz="1050">
                <a:solidFill>
                  <a:schemeClr val="tx1"/>
                </a:solidFill>
              </a:rPr>
              <a:t>x1</a:t>
            </a:r>
          </a:p>
          <a:p>
            <a:pPr algn="ctr"/>
            <a:r>
              <a:rPr dirty="0" lang="en-CA" smtClean="0" sz="1050">
                <a:solidFill>
                  <a:schemeClr val="tx1"/>
                </a:solidFill>
              </a:rPr>
              <a:t>y1</a:t>
            </a:r>
            <a:endParaRPr dirty="0" lang="en-CA" sz="1050">
              <a:solidFill>
                <a:schemeClr val="tx1"/>
              </a:solidFill>
            </a:endParaRPr>
          </a:p>
        </p:txBody>
      </p:sp>
      <p:sp>
        <p:nvSpPr>
          <p:cNvPr id="9" name="TextBox 8"/>
          <p:cNvSpPr txBox="1"/>
          <p:nvPr/>
        </p:nvSpPr>
        <p:spPr>
          <a:xfrm>
            <a:off x="8141890" y="1605131"/>
            <a:ext cx="705000" cy="261610"/>
          </a:xfrm>
          <a:prstGeom prst="rect">
            <a:avLst/>
          </a:prstGeom>
          <a:noFill/>
        </p:spPr>
        <p:txBody>
          <a:bodyPr rtlCol="0" wrap="square">
            <a:spAutoFit/>
          </a:bodyPr>
          <a:lstStyle/>
          <a:p>
            <a:r>
              <a:rPr b="1" dirty="0" lang="en-CA" smtClean="0" sz="1100"/>
              <a:t>client1</a:t>
            </a:r>
            <a:endParaRPr b="1" dirty="0" lang="en-CA" sz="1100"/>
          </a:p>
        </p:txBody>
      </p:sp>
      <p:sp>
        <p:nvSpPr>
          <p:cNvPr id="20" name="TextBox 19"/>
          <p:cNvSpPr txBox="1"/>
          <p:nvPr/>
        </p:nvSpPr>
        <p:spPr>
          <a:xfrm>
            <a:off x="7439094" y="1606229"/>
            <a:ext cx="705000" cy="261610"/>
          </a:xfrm>
          <a:prstGeom prst="rect">
            <a:avLst/>
          </a:prstGeom>
          <a:noFill/>
        </p:spPr>
        <p:txBody>
          <a:bodyPr rtlCol="0" wrap="square">
            <a:spAutoFit/>
          </a:bodyPr>
          <a:lstStyle/>
          <a:p>
            <a:r>
              <a:rPr b="1" dirty="0" lang="en-CA" smtClean="0" sz="1100"/>
              <a:t>client2</a:t>
            </a:r>
            <a:endParaRPr b="1" dirty="0" lang="en-CA" sz="1100"/>
          </a:p>
        </p:txBody>
      </p:sp>
      <p:sp>
        <p:nvSpPr>
          <p:cNvPr id="21" name="TextBox 20"/>
          <p:cNvSpPr txBox="1"/>
          <p:nvPr/>
        </p:nvSpPr>
        <p:spPr>
          <a:xfrm>
            <a:off x="6756032" y="1607325"/>
            <a:ext cx="705000" cy="261610"/>
          </a:xfrm>
          <a:prstGeom prst="rect">
            <a:avLst/>
          </a:prstGeom>
          <a:noFill/>
        </p:spPr>
        <p:txBody>
          <a:bodyPr rtlCol="0" wrap="square">
            <a:spAutoFit/>
          </a:bodyPr>
          <a:lstStyle/>
          <a:p>
            <a:r>
              <a:rPr b="1" dirty="0" lang="en-CA" smtClean="0" sz="1100"/>
              <a:t>client3</a:t>
            </a:r>
            <a:endParaRPr b="1" dirty="0" lang="en-CA" sz="1100"/>
          </a:p>
        </p:txBody>
      </p:sp>
      <p:sp>
        <p:nvSpPr>
          <p:cNvPr id="22" name="TextBox 21"/>
          <p:cNvSpPr txBox="1"/>
          <p:nvPr/>
        </p:nvSpPr>
        <p:spPr>
          <a:xfrm>
            <a:off x="6098192" y="1608425"/>
            <a:ext cx="679783" cy="261610"/>
          </a:xfrm>
          <a:prstGeom prst="rect">
            <a:avLst/>
          </a:prstGeom>
          <a:noFill/>
        </p:spPr>
        <p:txBody>
          <a:bodyPr rtlCol="0" wrap="square">
            <a:spAutoFit/>
          </a:bodyPr>
          <a:lstStyle/>
          <a:p>
            <a:r>
              <a:rPr b="1" dirty="0" lang="en-CA" smtClean="0" sz="1100"/>
              <a:t>client4</a:t>
            </a:r>
            <a:endParaRPr b="1" dirty="0" lang="en-CA" sz="1100"/>
          </a:p>
        </p:txBody>
      </p:sp>
      <p:sp>
        <p:nvSpPr>
          <p:cNvPr id="24" name="TextBox 23"/>
          <p:cNvSpPr txBox="1"/>
          <p:nvPr/>
        </p:nvSpPr>
        <p:spPr>
          <a:xfrm>
            <a:off x="5428287" y="1609522"/>
            <a:ext cx="679783" cy="261610"/>
          </a:xfrm>
          <a:prstGeom prst="rect">
            <a:avLst/>
          </a:prstGeom>
          <a:noFill/>
        </p:spPr>
        <p:txBody>
          <a:bodyPr rtlCol="0" wrap="square">
            <a:spAutoFit/>
          </a:bodyPr>
          <a:lstStyle/>
          <a:p>
            <a:r>
              <a:rPr b="1" dirty="0" lang="en-CA" smtClean="0" sz="1100"/>
              <a:t>client5</a:t>
            </a:r>
            <a:endParaRPr b="1" dirty="0" lang="en-CA" sz="1100"/>
          </a:p>
        </p:txBody>
      </p:sp>
      <p:sp>
        <p:nvSpPr>
          <p:cNvPr id="19" name="TextBox 18"/>
          <p:cNvSpPr txBox="1"/>
          <p:nvPr/>
        </p:nvSpPr>
        <p:spPr>
          <a:xfrm>
            <a:off x="6651873" y="1282790"/>
            <a:ext cx="1257572" cy="307777"/>
          </a:xfrm>
          <a:prstGeom prst="rect">
            <a:avLst/>
          </a:prstGeom>
          <a:noFill/>
        </p:spPr>
        <p:txBody>
          <a:bodyPr rtlCol="0" wrap="square">
            <a:spAutoFit/>
          </a:bodyPr>
          <a:lstStyle/>
          <a:p>
            <a:r>
              <a:rPr dirty="0" lang="en-CA" smtClean="0"/>
              <a:t>SYN queue</a:t>
            </a:r>
            <a:endParaRPr dirty="0" lang="en-CA"/>
          </a:p>
        </p:txBody>
      </p:sp>
      <p:sp>
        <p:nvSpPr>
          <p:cNvPr id="2" name="TextBox 1"/>
          <p:cNvSpPr txBox="1"/>
          <p:nvPr/>
        </p:nvSpPr>
        <p:spPr>
          <a:xfrm>
            <a:off x="3210267" y="3337971"/>
            <a:ext cx="1440673" cy="307777"/>
          </a:xfrm>
          <a:prstGeom prst="rect">
            <a:avLst/>
          </a:prstGeom>
          <a:noFill/>
        </p:spPr>
        <p:txBody>
          <a:bodyPr rtlCol="0" wrap="square">
            <a:spAutoFit/>
          </a:bodyPr>
          <a:lstStyle/>
          <a:p>
            <a:r>
              <a:rPr dirty="0" lang="en-CA" smtClean="0"/>
              <a:t>No ACK back?</a:t>
            </a:r>
            <a:endParaRPr dirty="0" lang="en-CA"/>
          </a:p>
        </p:txBody>
      </p:sp>
      <p:sp>
        <p:nvSpPr>
          <p:cNvPr id="4" name="TextBox 3"/>
          <p:cNvSpPr txBox="1"/>
          <p:nvPr/>
        </p:nvSpPr>
        <p:spPr>
          <a:xfrm>
            <a:off x="1309108" y="3282633"/>
            <a:ext cx="1532771" cy="276999"/>
          </a:xfrm>
          <a:prstGeom prst="rect">
            <a:avLst/>
          </a:prstGeom>
          <a:noFill/>
        </p:spPr>
        <p:txBody>
          <a:bodyPr rtlCol="0" wrap="square">
            <a:spAutoFit/>
          </a:bodyPr>
          <a:lstStyle/>
          <a:p>
            <a:r>
              <a:rPr dirty="0" lang="en-CA" smtClean="0" sz="1200"/>
              <a:t>retransmission</a:t>
            </a:r>
            <a:endParaRPr dirty="0" lang="en-CA" sz="1200"/>
          </a:p>
        </p:txBody>
      </p:sp>
      <p:cxnSp>
        <p:nvCxnSpPr>
          <p:cNvPr id="33" name="Straight Arrow Connector 32"/>
          <p:cNvCxnSpPr>
            <a:stCxn id="2" idx="1"/>
          </p:cNvCxnSpPr>
          <p:nvPr/>
        </p:nvCxnSpPr>
        <p:spPr>
          <a:xfrm flipH="1" flipV="1">
            <a:off x="2427436" y="3491859"/>
            <a:ext cx="782831"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282629" y="3822060"/>
            <a:ext cx="5338857" cy="523220"/>
          </a:xfrm>
          <a:prstGeom prst="rect">
            <a:avLst/>
          </a:prstGeom>
          <a:noFill/>
        </p:spPr>
        <p:txBody>
          <a:bodyPr rtlCol="0" wrap="square">
            <a:spAutoFit/>
          </a:bodyPr>
          <a:lstStyle/>
          <a:p>
            <a:pPr indent="-285750" marL="285750">
              <a:buFont charset="0" panose="020B0604020202020204" pitchFamily="34" typeface="Arial"/>
              <a:buChar char="•"/>
            </a:pPr>
            <a:r>
              <a:rPr dirty="0" lang="en-CA" smtClean="0"/>
              <a:t>SEED Ubuntu has 6 </a:t>
            </a:r>
            <a:r>
              <a:rPr dirty="0" err="1" lang="en-CA" smtClean="0"/>
              <a:t>retrans</a:t>
            </a:r>
            <a:r>
              <a:rPr dirty="0" lang="en-CA" smtClean="0"/>
              <a:t>:  </a:t>
            </a:r>
          </a:p>
          <a:p>
            <a:pPr indent="-285750" marL="285750">
              <a:buFont charset="0" panose="020B0604020202020204" pitchFamily="34" typeface="Arial"/>
              <a:buChar char="•"/>
            </a:pPr>
            <a:r>
              <a:rPr dirty="0" err="1" lang="en-CA" smtClean="0"/>
              <a:t>Retrans</a:t>
            </a:r>
            <a:r>
              <a:rPr dirty="0" lang="en-CA" smtClean="0"/>
              <a:t> makes the connection record stay long in SYN queue </a:t>
            </a:r>
            <a:endParaRPr dirty="0" lang="en-CA"/>
          </a:p>
        </p:txBody>
      </p:sp>
      <p:sp>
        <p:nvSpPr>
          <p:cNvPr id="35" name="TextBox 34"/>
          <p:cNvSpPr txBox="1"/>
          <p:nvPr/>
        </p:nvSpPr>
        <p:spPr>
          <a:xfrm>
            <a:off x="3079792" y="3078699"/>
            <a:ext cx="2176363" cy="307777"/>
          </a:xfrm>
          <a:prstGeom prst="rect">
            <a:avLst/>
          </a:prstGeom>
          <a:noFill/>
        </p:spPr>
        <p:txBody>
          <a:bodyPr rtlCol="0" wrap="square">
            <a:spAutoFit/>
          </a:bodyPr>
          <a:lstStyle/>
          <a:p>
            <a:r>
              <a:rPr dirty="0" lang="en-CA" smtClean="0"/>
              <a:t>  Half-open connection </a:t>
            </a:r>
            <a:endParaRPr dirty="0" lang="en-CA"/>
          </a:p>
        </p:txBody>
      </p:sp>
      <p:cxnSp>
        <p:nvCxnSpPr>
          <p:cNvPr id="26" name="Straight Arrow Connector 25"/>
          <p:cNvCxnSpPr/>
          <p:nvPr/>
        </p:nvCxnSpPr>
        <p:spPr>
          <a:xfrm>
            <a:off x="1067902" y="4212379"/>
            <a:ext cx="1901163" cy="6578"/>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69224" y="3899641"/>
            <a:ext cx="1839758" cy="307777"/>
          </a:xfrm>
          <a:prstGeom prst="rect">
            <a:avLst/>
          </a:prstGeom>
          <a:noFill/>
          <a:ln>
            <a:noFill/>
          </a:ln>
        </p:spPr>
        <p:txBody>
          <a:bodyPr rtlCol="0" wrap="square">
            <a:spAutoFit/>
          </a:bodyPr>
          <a:lstStyle/>
          <a:p>
            <a:pPr algn="ctr"/>
            <a:r>
              <a:rPr dirty="0" lang="en-CA" smtClean="0"/>
              <a:t>ACK</a:t>
            </a:r>
            <a:endParaRPr dirty="0" lang="en-CA"/>
          </a:p>
        </p:txBody>
      </p:sp>
      <p:cxnSp>
        <p:nvCxnSpPr>
          <p:cNvPr id="25" name="Straight Connector 24"/>
          <p:cNvCxnSpPr/>
          <p:nvPr/>
        </p:nvCxnSpPr>
        <p:spPr>
          <a:xfrm flipV="1">
            <a:off x="1309108" y="3822060"/>
            <a:ext cx="1005921" cy="6701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flipV="1">
            <a:off x="1444171" y="3899641"/>
            <a:ext cx="1075363" cy="6651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5885543" y="2828717"/>
            <a:ext cx="892432" cy="1300597"/>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idx="12" type="sldNum"/>
          </p:nvPr>
        </p:nvSpPr>
        <p:spPr/>
        <p:txBody>
          <a:bodyPr/>
          <a:lstStyle/>
          <a:p>
            <a:pPr indent="0" lvl="0" marL="0">
              <a:spcBef>
                <a:spcPts val="0"/>
              </a:spcBef>
              <a:buNone/>
            </a:pPr>
            <a:fld id="{00000000-1234-1234-1234-123412341234}" type="slidenum">
              <a:rPr lang="en-GB" smtClean="0"/>
              <a:t>9</a:t>
            </a:fld>
            <a:endParaRPr lang="en-GB"/>
          </a:p>
        </p:txBody>
      </p:sp>
    </p:spTree>
    <p:extLst>
      <p:ext uri="{BB962C8B-B14F-4D97-AF65-F5344CB8AC3E}">
        <p14:creationId xmlns:p14="http://schemas.microsoft.com/office/powerpoint/2010/main" val="174880052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6"/>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27"/>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25"/>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29"/>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 presetSubtype="0">
                                  <p:stCondLst>
                                    <p:cond delay="0"/>
                                  </p:stCondLst>
                                  <p:childTnLst>
                                    <p:set>
                                      <p:cBhvr>
                                        <p:cTn dur="1" fill="hold" id="16">
                                          <p:stCondLst>
                                            <p:cond delay="0"/>
                                          </p:stCondLst>
                                        </p:cTn>
                                        <p:tgtEl>
                                          <p:spTgt spid="2"/>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33"/>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4"/>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34">
                                            <p:txEl>
                                              <p:pRg end="0" st="0"/>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2"/>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4">
                                            <p:txEl>
                                              <p:pRg end="1" st="1"/>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31"/>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grpId="0" spid="4"/>
      <p:bldP grpId="0" spid="27"/>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Shape 158"/>
        <p:cNvGrpSpPr/>
        <p:nvPr/>
      </p:nvGrpSpPr>
      <p:grpSpPr>
        <a:xfrm>
          <a:off x="0" y="0"/>
          <a:ext cx="0" cy="0"/>
          <a:chOff x="0" y="0"/>
          <a:chExt cx="0" cy="0"/>
        </a:xfrm>
      </p:grpSpPr>
      <p:pic>
        <p:nvPicPr>
          <p:cNvPr descr="Screen Clipping"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399" y="1329599"/>
            <a:ext cx="3237185" cy="2852934"/>
          </a:xfrm>
          <a:prstGeom prst="rect">
            <a:avLst/>
          </a:prstGeom>
        </p:spPr>
      </p:pic>
      <p:sp>
        <p:nvSpPr>
          <p:cNvPr id="159" name="Shape 159"/>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lang="en-GB"/>
              <a:t>SYN Flooding Attack</a:t>
            </a:r>
          </a:p>
        </p:txBody>
      </p:sp>
      <p:sp>
        <p:nvSpPr>
          <p:cNvPr id="160" name="Shape 160"/>
          <p:cNvSpPr txBox="1">
            <a:spLocks noGrp="1"/>
          </p:cNvSpPr>
          <p:nvPr>
            <p:ph idx="1" type="body"/>
          </p:nvPr>
        </p:nvSpPr>
        <p:spPr>
          <a:xfrm>
            <a:off x="311701" y="1402457"/>
            <a:ext cx="5168120" cy="2551172"/>
          </a:xfrm>
          <a:prstGeom prst="rect">
            <a:avLst/>
          </a:prstGeom>
        </p:spPr>
        <p:txBody>
          <a:bodyPr anchor="t" anchorCtr="0" bIns="91425" lIns="91425" rIns="91425" tIns="91425" wrap="square">
            <a:noAutofit/>
          </a:bodyPr>
          <a:lstStyle/>
          <a:p>
            <a:pPr indent="0" lvl="0" marL="0">
              <a:spcBef>
                <a:spcPts val="0"/>
              </a:spcBef>
              <a:buNone/>
            </a:pPr>
            <a:r>
              <a:rPr b="1" dirty="0" lang="en-GB">
                <a:solidFill>
                  <a:srgbClr val="000000"/>
                </a:solidFill>
              </a:rPr>
              <a:t>Idea : </a:t>
            </a:r>
            <a:endParaRPr b="1" dirty="0" lang="en-GB" smtClean="0">
              <a:solidFill>
                <a:srgbClr val="000000"/>
              </a:solidFill>
            </a:endParaRPr>
          </a:p>
          <a:p>
            <a:pPr indent="-285750" marL="285750"/>
            <a:r>
              <a:rPr dirty="0" lang="en-GB" smtClean="0">
                <a:solidFill>
                  <a:srgbClr val="000000"/>
                </a:solidFill>
              </a:rPr>
              <a:t>Send a </a:t>
            </a:r>
            <a:r>
              <a:rPr b="1" dirty="0" lang="en-GB" smtClean="0">
                <a:solidFill>
                  <a:srgbClr val="000000"/>
                </a:solidFill>
              </a:rPr>
              <a:t>lot</a:t>
            </a:r>
            <a:r>
              <a:rPr dirty="0" lang="en-GB" smtClean="0">
                <a:solidFill>
                  <a:srgbClr val="000000"/>
                </a:solidFill>
              </a:rPr>
              <a:t> of SYN packets to server; do not answer SYN-ACK packets.</a:t>
            </a:r>
          </a:p>
          <a:p>
            <a:pPr indent="-285750" marL="285750"/>
            <a:r>
              <a:rPr dirty="0" lang="en-GB" smtClean="0">
                <a:solidFill>
                  <a:srgbClr val="000000"/>
                </a:solidFill>
              </a:rPr>
              <a:t>many TCB records stay in SYN queue long and makes the queue full quickly.</a:t>
            </a:r>
          </a:p>
          <a:p>
            <a:pPr indent="-285750" marL="285750"/>
            <a:r>
              <a:rPr dirty="0" lang="en-CA" smtClean="0">
                <a:solidFill>
                  <a:srgbClr val="000000"/>
                </a:solidFill>
              </a:rPr>
              <a:t>When a new client sends SYN packet, server will not answer as no space in SYN</a:t>
            </a:r>
            <a:r>
              <a:rPr dirty="0" lang="en-GB" smtClean="0">
                <a:solidFill>
                  <a:srgbClr val="000000"/>
                </a:solidFill>
              </a:rPr>
              <a:t> queue for his TCB record.   </a:t>
            </a:r>
            <a:endParaRPr dirty="0" lang="en-GB">
              <a:solidFill>
                <a:srgbClr val="000000"/>
              </a:solidFill>
            </a:endParaRPr>
          </a:p>
        </p:txBody>
      </p:sp>
      <p:sp>
        <p:nvSpPr>
          <p:cNvPr id="3" name="Rectangle 2"/>
          <p:cNvSpPr/>
          <p:nvPr/>
        </p:nvSpPr>
        <p:spPr>
          <a:xfrm rot="5400000">
            <a:off x="7933873" y="2782373"/>
            <a:ext cx="1341997" cy="2242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200">
                <a:solidFill>
                  <a:schemeClr val="tx1"/>
                </a:solidFill>
              </a:rPr>
              <a:t>SYN queue</a:t>
            </a:r>
            <a:endParaRPr dirty="0" lang="en-CA" sz="1200">
              <a:solidFill>
                <a:schemeClr val="tx1"/>
              </a:solidFill>
            </a:endParaRPr>
          </a:p>
        </p:txBody>
      </p:sp>
      <p:sp>
        <p:nvSpPr>
          <p:cNvPr id="4" name="TextBox 3"/>
          <p:cNvSpPr txBox="1"/>
          <p:nvPr/>
        </p:nvSpPr>
        <p:spPr>
          <a:xfrm>
            <a:off x="5791828" y="4511633"/>
            <a:ext cx="2249713" cy="307777"/>
          </a:xfrm>
          <a:prstGeom prst="rect">
            <a:avLst/>
          </a:prstGeom>
          <a:noFill/>
        </p:spPr>
        <p:txBody>
          <a:bodyPr rtlCol="0" wrap="square">
            <a:spAutoFit/>
          </a:bodyPr>
          <a:lstStyle/>
          <a:p>
            <a:r>
              <a:rPr b="1" dirty="0" lang="en-CA" smtClean="0"/>
              <a:t>Ubuntu default size=128</a:t>
            </a:r>
            <a:endParaRPr b="1" dirty="0" lang="en-CA"/>
          </a:p>
        </p:txBody>
      </p:sp>
      <p:cxnSp>
        <p:nvCxnSpPr>
          <p:cNvPr id="6" name="Straight Arrow Connector 5"/>
          <p:cNvCxnSpPr/>
          <p:nvPr/>
        </p:nvCxnSpPr>
        <p:spPr>
          <a:xfrm flipV="1">
            <a:off x="7053943" y="3264202"/>
            <a:ext cx="1330251" cy="1401319"/>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pic>
        <p:nvPicPr>
          <p:cNvPr id="10" name="Picture 9" descr="&quot;net.ipv4.tcp_max_syn_backlog = 128 with 'backlog' highlighted in red text.&quot;"/>
          <p:cNvPicPr>
            <a:picLocks noChangeAspect="1"/>
          </p:cNvPicPr>
          <p:nvPr/>
        </p:nvPicPr>
        <p:blipFill>
          <a:blip r:embed="rId4"/>
          <a:stretch>
            <a:fillRect/>
          </a:stretch>
        </p:blipFill>
        <p:spPr>
          <a:xfrm>
            <a:off x="4940287" y="4819410"/>
            <a:ext cx="3779261" cy="253320"/>
          </a:xfrm>
          <a:prstGeom prst="rect">
            <a:avLst/>
          </a:prstGeom>
        </p:spPr>
      </p:pic>
      <p:sp>
        <p:nvSpPr>
          <p:cNvPr id="7" name="Slide Number Placeholder 6"/>
          <p:cNvSpPr>
            <a:spLocks noGrp="1"/>
          </p:cNvSpPr>
          <p:nvPr>
            <p:ph idx="12" type="sldNum"/>
          </p:nvPr>
        </p:nvSpPr>
        <p:spPr/>
        <p:txBody>
          <a:bodyPr/>
          <a:lstStyle/>
          <a:p>
            <a:pPr indent="0" lvl="0" marL="0">
              <a:spcBef>
                <a:spcPts val="0"/>
              </a:spcBef>
              <a:buNone/>
            </a:pPr>
            <a:fld id="{00000000-1234-1234-1234-123412341234}" type="slidenum">
              <a:rPr lang="en-GB" smtClean="0"/>
              <a:t>10</a:t>
            </a:fld>
            <a:endParaRPr lang="en-GB"/>
          </a:p>
        </p:txBody>
      </p:sp>
      <p:sp>
        <p:nvSpPr>
          <p:cNvPr id="8" name="TextBox 7"/>
          <p:cNvSpPr txBox="1"/>
          <p:nvPr/>
        </p:nvSpPr>
        <p:spPr>
          <a:xfrm>
            <a:off x="5920423" y="2894507"/>
            <a:ext cx="1091288" cy="1169551"/>
          </a:xfrm>
          <a:prstGeom prst="rect">
            <a:avLst/>
          </a:prstGeom>
          <a:solidFill>
            <a:srgbClr val="FFC000"/>
          </a:solidFill>
        </p:spPr>
        <p:txBody>
          <a:bodyPr rtlCol="0" wrap="square">
            <a:spAutoFit/>
          </a:bodyPr>
          <a:lstStyle/>
          <a:p>
            <a:endParaRPr dirty="0" lang="en-CA" smtClean="0"/>
          </a:p>
          <a:p>
            <a:endParaRPr dirty="0" lang="en-CA" smtClean="0"/>
          </a:p>
          <a:p>
            <a:r>
              <a:rPr dirty="0" lang="en-CA" smtClean="0"/>
              <a:t>Attacker</a:t>
            </a:r>
          </a:p>
          <a:p>
            <a:endParaRPr dirty="0" lang="en-CA" smtClean="0"/>
          </a:p>
          <a:p>
            <a:endParaRPr dirty="0" lang="en-CA"/>
          </a:p>
        </p:txBody>
      </p:sp>
      <p:sp>
        <p:nvSpPr>
          <p:cNvPr id="5" name="Freeform 4"/>
          <p:cNvSpPr/>
          <p:nvPr/>
        </p:nvSpPr>
        <p:spPr>
          <a:xfrm>
            <a:off x="6966544" y="2931886"/>
            <a:ext cx="1074997" cy="561254"/>
          </a:xfrm>
          <a:custGeom>
            <a:avLst/>
            <a:gdLst>
              <a:gd fmla="*/ 361813 w 1382594" name="connsiteX0"/>
              <a:gd fmla="*/ 33976 h 573406" name="connsiteY0"/>
              <a:gd fmla="*/ 361813 w 1382594" name="connsiteX1"/>
              <a:gd fmla="*/ 33976 h 573406" name="connsiteY1"/>
              <a:gd fmla="*/ 296029 w 1382594" name="connsiteX2"/>
              <a:gd fmla="*/ 40554 h 573406" name="connsiteY2"/>
              <a:gd fmla="*/ 269715 w 1382594" name="connsiteX3"/>
              <a:gd fmla="*/ 53711 h 573406" name="connsiteY3"/>
              <a:gd fmla="*/ 230244 w 1382594" name="connsiteX4"/>
              <a:gd fmla="*/ 66868 h 573406" name="connsiteY4"/>
              <a:gd fmla="*/ 210509 w 1382594" name="connsiteX5"/>
              <a:gd fmla="*/ 80025 h 573406" name="connsiteY5"/>
              <a:gd fmla="*/ 184196 w 1382594" name="connsiteX6"/>
              <a:gd fmla="*/ 86603 h 573406" name="connsiteY6"/>
              <a:gd fmla="*/ 164460 w 1382594" name="connsiteX7"/>
              <a:gd fmla="*/ 93181 h 573406" name="connsiteY7"/>
              <a:gd fmla="*/ 118411 w 1382594" name="connsiteX8"/>
              <a:gd fmla="*/ 119495 h 573406" name="connsiteY8"/>
              <a:gd fmla="*/ 85519 w 1382594" name="connsiteX9"/>
              <a:gd fmla="*/ 145809 h 573406" name="connsiteY9"/>
              <a:gd fmla="*/ 65784 w 1382594" name="connsiteX10"/>
              <a:gd fmla="*/ 165544 h 573406" name="connsiteY10"/>
              <a:gd fmla="*/ 52627 w 1382594" name="connsiteX11"/>
              <a:gd fmla="*/ 185279 h 573406" name="connsiteY11"/>
              <a:gd fmla="*/ 32892 w 1382594" name="connsiteX12"/>
              <a:gd fmla="*/ 191858 h 573406" name="connsiteY12"/>
              <a:gd fmla="*/ 13157 w 1382594" name="connsiteX13"/>
              <a:gd fmla="*/ 244485 h 573406" name="connsiteY13"/>
              <a:gd fmla="*/ 0 w 1382594" name="connsiteX14"/>
              <a:gd fmla="*/ 283956 h 573406" name="connsiteY14"/>
              <a:gd fmla="*/ 6578 w 1382594" name="connsiteX15"/>
              <a:gd fmla="*/ 382632 h 573406" name="connsiteY15"/>
              <a:gd fmla="*/ 46049 w 1382594" name="connsiteX16"/>
              <a:gd fmla="*/ 415524 h 573406" name="connsiteY16"/>
              <a:gd fmla="*/ 65784 w 1382594" name="connsiteX17"/>
              <a:gd fmla="*/ 428681 h 573406" name="connsiteY17"/>
              <a:gd fmla="*/ 111833 w 1382594" name="connsiteX18"/>
              <a:gd fmla="*/ 441838 h 573406" name="connsiteY18"/>
              <a:gd fmla="*/ 138147 w 1382594" name="connsiteX19"/>
              <a:gd fmla="*/ 454994 h 573406" name="connsiteY19"/>
              <a:gd fmla="*/ 190774 w 1382594" name="connsiteX20"/>
              <a:gd fmla="*/ 474730 h 573406" name="connsiteY20"/>
              <a:gd fmla="*/ 223666 w 1382594" name="connsiteX21"/>
              <a:gd fmla="*/ 507622 h 573406" name="connsiteY21"/>
              <a:gd fmla="*/ 256558 w 1382594" name="connsiteX22"/>
              <a:gd fmla="*/ 540514 h 573406" name="connsiteY22"/>
              <a:gd fmla="*/ 302607 w 1382594" name="connsiteX23"/>
              <a:gd fmla="*/ 553671 h 573406" name="connsiteY23"/>
              <a:gd fmla="*/ 394705 w 1382594" name="connsiteX24"/>
              <a:gd fmla="*/ 566827 h 573406" name="connsiteY24"/>
              <a:gd fmla="*/ 434175 w 1382594" name="connsiteX25"/>
              <a:gd fmla="*/ 573406 h 573406" name="connsiteY25"/>
              <a:gd fmla="*/ 546009 w 1382594" name="connsiteX26"/>
              <a:gd fmla="*/ 566827 h 573406" name="connsiteY26"/>
              <a:gd fmla="*/ 565744 w 1382594" name="connsiteX27"/>
              <a:gd fmla="*/ 560249 h 573406" name="connsiteY27"/>
              <a:gd fmla="*/ 618371 w 1382594" name="connsiteX28"/>
              <a:gd fmla="*/ 527357 h 573406" name="connsiteY28"/>
              <a:gd fmla="*/ 670998 w 1382594" name="connsiteX29"/>
              <a:gd fmla="*/ 507622 h 573406" name="connsiteY29"/>
              <a:gd fmla="*/ 690734 w 1382594" name="connsiteX30"/>
              <a:gd fmla="*/ 494465 h 573406" name="connsiteY30"/>
              <a:gd fmla="*/ 710469 w 1382594" name="connsiteX31"/>
              <a:gd fmla="*/ 487886 h 573406" name="connsiteY31"/>
              <a:gd fmla="*/ 743361 w 1382594" name="connsiteX32"/>
              <a:gd fmla="*/ 448416 h 573406" name="connsiteY32"/>
              <a:gd fmla="*/ 776253 w 1382594" name="connsiteX33"/>
              <a:gd fmla="*/ 435259 h 573406" name="connsiteY33"/>
              <a:gd fmla="*/ 828880 w 1382594" name="connsiteX34"/>
              <a:gd fmla="*/ 408945 h 573406" name="connsiteY34"/>
              <a:gd fmla="*/ 868351 w 1382594" name="connsiteX35"/>
              <a:gd fmla="*/ 395789 h 573406" name="connsiteY35"/>
              <a:gd fmla="*/ 901243 w 1382594" name="connsiteX36"/>
              <a:gd fmla="*/ 382632 h 573406" name="connsiteY36"/>
              <a:gd fmla="*/ 920978 w 1382594" name="connsiteX37"/>
              <a:gd fmla="*/ 376053 h 573406" name="connsiteY37"/>
              <a:gd fmla="*/ 960449 w 1382594" name="connsiteX38"/>
              <a:gd fmla="*/ 349740 h 573406" name="connsiteY38"/>
              <a:gd fmla="*/ 993341 w 1382594" name="connsiteX39"/>
              <a:gd fmla="*/ 330004 h 573406" name="connsiteY39"/>
              <a:gd fmla="*/ 1013076 w 1382594" name="connsiteX40"/>
              <a:gd fmla="*/ 316848 h 573406" name="connsiteY40"/>
              <a:gd fmla="*/ 1032811 w 1382594" name="connsiteX41"/>
              <a:gd fmla="*/ 310269 h 573406" name="connsiteY41"/>
              <a:gd fmla="*/ 1059125 w 1382594" name="connsiteX42"/>
              <a:gd fmla="*/ 297112 h 573406" name="connsiteY42"/>
              <a:gd fmla="*/ 1098596 w 1382594" name="connsiteX43"/>
              <a:gd fmla="*/ 283956 h 573406" name="connsiteY43"/>
              <a:gd fmla="*/ 1124909 w 1382594" name="connsiteX44"/>
              <a:gd fmla="*/ 264220 h 573406" name="connsiteY44"/>
              <a:gd fmla="*/ 1144644 w 1382594" name="connsiteX45"/>
              <a:gd fmla="*/ 257642 h 573406" name="connsiteY45"/>
              <a:gd fmla="*/ 1164380 w 1382594" name="connsiteX46"/>
              <a:gd fmla="*/ 237907 h 573406" name="connsiteY46"/>
              <a:gd fmla="*/ 1210429 w 1382594" name="connsiteX47"/>
              <a:gd fmla="*/ 218171 h 573406" name="connsiteY47"/>
              <a:gd fmla="*/ 1236742 w 1382594" name="connsiteX48"/>
              <a:gd fmla="*/ 205015 h 573406" name="connsiteY48"/>
              <a:gd fmla="*/ 1256478 w 1382594" name="connsiteX49"/>
              <a:gd fmla="*/ 191858 h 573406" name="connsiteY49"/>
              <a:gd fmla="*/ 1335419 w 1382594" name="connsiteX50"/>
              <a:gd fmla="*/ 172122 h 573406" name="connsiteY50"/>
              <a:gd fmla="*/ 1374889 w 1382594" name="connsiteX51"/>
              <a:gd fmla="*/ 152387 h 573406" name="connsiteY51"/>
              <a:gd fmla="*/ 1381468 w 1382594" name="connsiteX52"/>
              <a:gd fmla="*/ 132652 h 573406" name="connsiteY52"/>
              <a:gd fmla="*/ 1355154 w 1382594" name="connsiteX53"/>
              <a:gd fmla="*/ 126074 h 573406" name="connsiteY53"/>
              <a:gd fmla="*/ 1295948 w 1382594" name="connsiteX54"/>
              <a:gd fmla="*/ 106338 h 573406" name="connsiteY54"/>
              <a:gd fmla="*/ 1236742 w 1382594" name="connsiteX55"/>
              <a:gd fmla="*/ 93181 h 573406" name="connsiteY55"/>
              <a:gd fmla="*/ 809145 w 1382594" name="connsiteX56"/>
              <a:gd fmla="*/ 86603 h 573406" name="connsiteY56"/>
              <a:gd fmla="*/ 565744 w 1382594" name="connsiteX57"/>
              <a:gd fmla="*/ 66868 h 573406" name="connsiteY57"/>
              <a:gd fmla="*/ 546009 w 1382594" name="connsiteX58"/>
              <a:gd fmla="*/ 60289 h 573406" name="connsiteY58"/>
              <a:gd fmla="*/ 513116 w 1382594" name="connsiteX59"/>
              <a:gd fmla="*/ 53711 h 573406" name="connsiteY59"/>
              <a:gd fmla="*/ 473646 w 1382594" name="connsiteX60"/>
              <a:gd fmla="*/ 40554 h 573406" name="connsiteY60"/>
              <a:gd fmla="*/ 401283 w 1382594" name="connsiteX61"/>
              <a:gd fmla="*/ 20819 h 573406" name="connsiteY61"/>
              <a:gd fmla="*/ 381548 w 1382594" name="connsiteX62"/>
              <a:gd fmla="*/ 1084 h 573406" name="connsiteY62"/>
              <a:gd fmla="*/ 361813 w 1382594" name="connsiteX63"/>
              <a:gd fmla="*/ 33976 h 573406" name="connsiteY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b="b" l="l" r="r" t="t"/>
            <a:pathLst>
              <a:path h="573406" w="1382594">
                <a:moveTo>
                  <a:pt x="361813" y="33976"/>
                </a:moveTo>
                <a:lnTo>
                  <a:pt x="361813" y="33976"/>
                </a:lnTo>
                <a:cubicBezTo>
                  <a:pt x="339885" y="36169"/>
                  <a:pt x="317577" y="35937"/>
                  <a:pt x="296029" y="40554"/>
                </a:cubicBezTo>
                <a:cubicBezTo>
                  <a:pt x="286440" y="42609"/>
                  <a:pt x="278820" y="50069"/>
                  <a:pt x="269715" y="53711"/>
                </a:cubicBezTo>
                <a:cubicBezTo>
                  <a:pt x="256838" y="58862"/>
                  <a:pt x="241783" y="59175"/>
                  <a:pt x="230244" y="66868"/>
                </a:cubicBezTo>
                <a:cubicBezTo>
                  <a:pt x="223666" y="71254"/>
                  <a:pt x="217776" y="76911"/>
                  <a:pt x="210509" y="80025"/>
                </a:cubicBezTo>
                <a:cubicBezTo>
                  <a:pt x="202199" y="83586"/>
                  <a:pt x="192889" y="84119"/>
                  <a:pt x="184196" y="86603"/>
                </a:cubicBezTo>
                <a:cubicBezTo>
                  <a:pt x="177528" y="88508"/>
                  <a:pt x="170834" y="90449"/>
                  <a:pt x="164460" y="93181"/>
                </a:cubicBezTo>
                <a:cubicBezTo>
                  <a:pt x="141095" y="103195"/>
                  <a:pt x="138228" y="106284"/>
                  <a:pt x="118411" y="119495"/>
                </a:cubicBezTo>
                <a:cubicBezTo>
                  <a:pt x="88990" y="163629"/>
                  <a:pt x="123648" y="120389"/>
                  <a:pt x="85519" y="145809"/>
                </a:cubicBezTo>
                <a:cubicBezTo>
                  <a:pt x="77778" y="150969"/>
                  <a:pt x="71740" y="158397"/>
                  <a:pt x="65784" y="165544"/>
                </a:cubicBezTo>
                <a:cubicBezTo>
                  <a:pt x="60723" y="171618"/>
                  <a:pt x="58801" y="180340"/>
                  <a:pt x="52627" y="185279"/>
                </a:cubicBezTo>
                <a:cubicBezTo>
                  <a:pt x="47212" y="189611"/>
                  <a:pt x="39470" y="189665"/>
                  <a:pt x="32892" y="191858"/>
                </a:cubicBezTo>
                <a:cubicBezTo>
                  <a:pt x="9995" y="226202"/>
                  <a:pt x="26288" y="196336"/>
                  <a:pt x="13157" y="244485"/>
                </a:cubicBezTo>
                <a:cubicBezTo>
                  <a:pt x="9508" y="257865"/>
                  <a:pt x="0" y="283956"/>
                  <a:pt x="0" y="283956"/>
                </a:cubicBezTo>
                <a:cubicBezTo>
                  <a:pt x="2193" y="316848"/>
                  <a:pt x="1159" y="350116"/>
                  <a:pt x="6578" y="382632"/>
                </a:cubicBezTo>
                <a:cubicBezTo>
                  <a:pt x="10113" y="403842"/>
                  <a:pt x="31346" y="407122"/>
                  <a:pt x="46049" y="415524"/>
                </a:cubicBezTo>
                <a:cubicBezTo>
                  <a:pt x="52914" y="419447"/>
                  <a:pt x="58712" y="425145"/>
                  <a:pt x="65784" y="428681"/>
                </a:cubicBezTo>
                <a:cubicBezTo>
                  <a:pt x="81678" y="436628"/>
                  <a:pt x="94984" y="435520"/>
                  <a:pt x="111833" y="441838"/>
                </a:cubicBezTo>
                <a:cubicBezTo>
                  <a:pt x="121015" y="445281"/>
                  <a:pt x="129186" y="451011"/>
                  <a:pt x="138147" y="454994"/>
                </a:cubicBezTo>
                <a:cubicBezTo>
                  <a:pt x="161745" y="465482"/>
                  <a:pt x="169075" y="467496"/>
                  <a:pt x="190774" y="474730"/>
                </a:cubicBezTo>
                <a:cubicBezTo>
                  <a:pt x="225859" y="527357"/>
                  <a:pt x="179810" y="463766"/>
                  <a:pt x="223666" y="507622"/>
                </a:cubicBezTo>
                <a:cubicBezTo>
                  <a:pt x="249978" y="533934"/>
                  <a:pt x="221475" y="522973"/>
                  <a:pt x="256558" y="540514"/>
                </a:cubicBezTo>
                <a:cubicBezTo>
                  <a:pt x="264915" y="544692"/>
                  <a:pt x="295586" y="552267"/>
                  <a:pt x="302607" y="553671"/>
                </a:cubicBezTo>
                <a:cubicBezTo>
                  <a:pt x="341843" y="561518"/>
                  <a:pt x="352266" y="560764"/>
                  <a:pt x="394705" y="566827"/>
                </a:cubicBezTo>
                <a:cubicBezTo>
                  <a:pt x="407909" y="568713"/>
                  <a:pt x="421018" y="571213"/>
                  <a:pt x="434175" y="573406"/>
                </a:cubicBezTo>
                <a:cubicBezTo>
                  <a:pt x="471453" y="571213"/>
                  <a:pt x="508852" y="570543"/>
                  <a:pt x="546009" y="566827"/>
                </a:cubicBezTo>
                <a:cubicBezTo>
                  <a:pt x="552909" y="566137"/>
                  <a:pt x="559371" y="562981"/>
                  <a:pt x="565744" y="560249"/>
                </a:cubicBezTo>
                <a:cubicBezTo>
                  <a:pt x="608167" y="542067"/>
                  <a:pt x="577164" y="553111"/>
                  <a:pt x="618371" y="527357"/>
                </a:cubicBezTo>
                <a:cubicBezTo>
                  <a:pt x="641306" y="513023"/>
                  <a:pt x="645742" y="513936"/>
                  <a:pt x="670998" y="507622"/>
                </a:cubicBezTo>
                <a:cubicBezTo>
                  <a:pt x="677577" y="503236"/>
                  <a:pt x="683662" y="498001"/>
                  <a:pt x="690734" y="494465"/>
                </a:cubicBezTo>
                <a:cubicBezTo>
                  <a:pt x="696936" y="491364"/>
                  <a:pt x="705054" y="492218"/>
                  <a:pt x="710469" y="487886"/>
                </a:cubicBezTo>
                <a:cubicBezTo>
                  <a:pt x="755930" y="451517"/>
                  <a:pt x="686096" y="484207"/>
                  <a:pt x="743361" y="448416"/>
                </a:cubicBezTo>
                <a:cubicBezTo>
                  <a:pt x="753375" y="442157"/>
                  <a:pt x="765691" y="440540"/>
                  <a:pt x="776253" y="435259"/>
                </a:cubicBezTo>
                <a:cubicBezTo>
                  <a:pt x="834753" y="406008"/>
                  <a:pt x="745423" y="439292"/>
                  <a:pt x="828880" y="408945"/>
                </a:cubicBezTo>
                <a:cubicBezTo>
                  <a:pt x="841914" y="404206"/>
                  <a:pt x="855474" y="400940"/>
                  <a:pt x="868351" y="395789"/>
                </a:cubicBezTo>
                <a:cubicBezTo>
                  <a:pt x="879315" y="391403"/>
                  <a:pt x="890186" y="386778"/>
                  <a:pt x="901243" y="382632"/>
                </a:cubicBezTo>
                <a:cubicBezTo>
                  <a:pt x="907736" y="380197"/>
                  <a:pt x="914916" y="379421"/>
                  <a:pt x="920978" y="376053"/>
                </a:cubicBezTo>
                <a:cubicBezTo>
                  <a:pt x="934801" y="368374"/>
                  <a:pt x="947109" y="358229"/>
                  <a:pt x="960449" y="349740"/>
                </a:cubicBezTo>
                <a:cubicBezTo>
                  <a:pt x="971236" y="342875"/>
                  <a:pt x="982702" y="337096"/>
                  <a:pt x="993341" y="330004"/>
                </a:cubicBezTo>
                <a:cubicBezTo>
                  <a:pt x="999919" y="325619"/>
                  <a:pt x="1006005" y="320384"/>
                  <a:pt x="1013076" y="316848"/>
                </a:cubicBezTo>
                <a:cubicBezTo>
                  <a:pt x="1019278" y="313747"/>
                  <a:pt x="1026437" y="313001"/>
                  <a:pt x="1032811" y="310269"/>
                </a:cubicBezTo>
                <a:cubicBezTo>
                  <a:pt x="1041825" y="306406"/>
                  <a:pt x="1050020" y="300754"/>
                  <a:pt x="1059125" y="297112"/>
                </a:cubicBezTo>
                <a:cubicBezTo>
                  <a:pt x="1072002" y="291962"/>
                  <a:pt x="1098596" y="283956"/>
                  <a:pt x="1098596" y="283956"/>
                </a:cubicBezTo>
                <a:cubicBezTo>
                  <a:pt x="1107367" y="277377"/>
                  <a:pt x="1115390" y="269660"/>
                  <a:pt x="1124909" y="264220"/>
                </a:cubicBezTo>
                <a:cubicBezTo>
                  <a:pt x="1130929" y="260780"/>
                  <a:pt x="1138874" y="261488"/>
                  <a:pt x="1144644" y="257642"/>
                </a:cubicBezTo>
                <a:cubicBezTo>
                  <a:pt x="1152385" y="252482"/>
                  <a:pt x="1156809" y="243314"/>
                  <a:pt x="1164380" y="237907"/>
                </a:cubicBezTo>
                <a:cubicBezTo>
                  <a:pt x="1186196" y="222324"/>
                  <a:pt x="1188956" y="227374"/>
                  <a:pt x="1210429" y="218171"/>
                </a:cubicBezTo>
                <a:cubicBezTo>
                  <a:pt x="1219442" y="214308"/>
                  <a:pt x="1228228" y="209880"/>
                  <a:pt x="1236742" y="205015"/>
                </a:cubicBezTo>
                <a:cubicBezTo>
                  <a:pt x="1243607" y="201092"/>
                  <a:pt x="1248977" y="194358"/>
                  <a:pt x="1256478" y="191858"/>
                </a:cubicBezTo>
                <a:cubicBezTo>
                  <a:pt x="1286073" y="181993"/>
                  <a:pt x="1307786" y="190543"/>
                  <a:pt x="1335419" y="172122"/>
                </a:cubicBezTo>
                <a:cubicBezTo>
                  <a:pt x="1360924" y="155120"/>
                  <a:pt x="1347654" y="161466"/>
                  <a:pt x="1374889" y="152387"/>
                </a:cubicBezTo>
                <a:cubicBezTo>
                  <a:pt x="1377082" y="145809"/>
                  <a:pt x="1385629" y="138199"/>
                  <a:pt x="1381468" y="132652"/>
                </a:cubicBezTo>
                <a:cubicBezTo>
                  <a:pt x="1376043" y="125419"/>
                  <a:pt x="1363731" y="128933"/>
                  <a:pt x="1355154" y="126074"/>
                </a:cubicBezTo>
                <a:cubicBezTo>
                  <a:pt x="1219057" y="80709"/>
                  <a:pt x="1406310" y="137870"/>
                  <a:pt x="1295948" y="106338"/>
                </a:cubicBezTo>
                <a:cubicBezTo>
                  <a:pt x="1270521" y="99073"/>
                  <a:pt x="1269661" y="94108"/>
                  <a:pt x="1236742" y="93181"/>
                </a:cubicBezTo>
                <a:cubicBezTo>
                  <a:pt x="1094249" y="89167"/>
                  <a:pt x="951677" y="88796"/>
                  <a:pt x="809145" y="86603"/>
                </a:cubicBezTo>
                <a:cubicBezTo>
                  <a:pt x="708246" y="46243"/>
                  <a:pt x="804847" y="80531"/>
                  <a:pt x="565744" y="66868"/>
                </a:cubicBezTo>
                <a:cubicBezTo>
                  <a:pt x="558821" y="66472"/>
                  <a:pt x="552736" y="61971"/>
                  <a:pt x="546009" y="60289"/>
                </a:cubicBezTo>
                <a:cubicBezTo>
                  <a:pt x="535161" y="57577"/>
                  <a:pt x="523903" y="56653"/>
                  <a:pt x="513116" y="53711"/>
                </a:cubicBezTo>
                <a:cubicBezTo>
                  <a:pt x="499736" y="50062"/>
                  <a:pt x="487245" y="43274"/>
                  <a:pt x="473646" y="40554"/>
                </a:cubicBezTo>
                <a:cubicBezTo>
                  <a:pt x="427155" y="31256"/>
                  <a:pt x="451361" y="37512"/>
                  <a:pt x="401283" y="20819"/>
                </a:cubicBezTo>
                <a:cubicBezTo>
                  <a:pt x="394705" y="14241"/>
                  <a:pt x="389625" y="5700"/>
                  <a:pt x="381548" y="1084"/>
                </a:cubicBezTo>
                <a:cubicBezTo>
                  <a:pt x="368173" y="-6559"/>
                  <a:pt x="365102" y="28494"/>
                  <a:pt x="361813" y="33976"/>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dirty="0" lang="en-CA"/>
          </a:p>
        </p:txBody>
      </p:sp>
    </p:spTree>
    <p:extLst>
      <p:ext uri="{BB962C8B-B14F-4D97-AF65-F5344CB8AC3E}">
        <p14:creationId xmlns:p14="http://schemas.microsoft.com/office/powerpoint/2010/main" val="173407685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160">
                                            <p:txEl>
                                              <p:pRg end="3" st="3"/>
                                            </p:txEl>
                                          </p:spTgt>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4"/>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0"/>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6"/>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grpId="1" id="19" nodeType="clickEffect" presetClass="entr" presetID="1" presetSubtype="0">
                                  <p:stCondLst>
                                    <p:cond delay="0"/>
                                  </p:stCondLst>
                                  <p:childTnLst>
                                    <p:set>
                                      <p:cBhvr>
                                        <p:cTn dur="1" fill="hold" id="20">
                                          <p:stCondLst>
                                            <p:cond delay="0"/>
                                          </p:stCondLst>
                                        </p:cTn>
                                        <p:tgtEl>
                                          <p:spTgt spid="5"/>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mph" presetID="6" presetSubtype="0">
                                  <p:stCondLst>
                                    <p:cond delay="0"/>
                                  </p:stCondLst>
                                  <p:childTnLst>
                                    <p:animScale>
                                      <p:cBhvr>
                                        <p:cTn dur="2000" fill="hold" id="24"/>
                                        <p:tgtEl>
                                          <p:spTgt spid="5"/>
                                        </p:tgtEl>
                                      </p:cBhvr>
                                      <p:by x="150000" y="150000"/>
                                    </p:animScale>
                                  </p:childTnLst>
                                </p:cTn>
                              </p:par>
                            </p:childTnLst>
                          </p:cTn>
                        </p:par>
                      </p:childTnLst>
                    </p:cTn>
                  </p:par>
                  <p:par>
                    <p:cTn fill="hold" id="25">
                      <p:stCondLst>
                        <p:cond delay="indefinite"/>
                      </p:stCondLst>
                      <p:childTnLst>
                        <p:par>
                          <p:cTn fill="hold" id="26">
                            <p:stCondLst>
                              <p:cond delay="0"/>
                            </p:stCondLst>
                            <p:childTnLst>
                              <p:par>
                                <p:cTn fill="hold" grpId="0" id="27" nodeType="clickEffect" presetClass="exit" presetID="10" presetSubtype="0">
                                  <p:stCondLst>
                                    <p:cond delay="0"/>
                                  </p:stCondLst>
                                  <p:childTnLst>
                                    <p:animEffect filter="fade" transition="out">
                                      <p:cBhvr>
                                        <p:cTn dur="500" id="28"/>
                                        <p:tgtEl>
                                          <p:spTgt spid="8"/>
                                        </p:tgtEl>
                                      </p:cBhvr>
                                    </p:animEffect>
                                    <p:set>
                                      <p:cBhvr>
                                        <p:cTn dur="1" fill="hold" id="29">
                                          <p:stCondLst>
                                            <p:cond delay="499"/>
                                          </p:stCondLst>
                                        </p:cTn>
                                        <p:tgtEl>
                                          <p:spTgt spid="8"/>
                                        </p:tgtEl>
                                        <p:attrNameLst>
                                          <p:attrName>style.visibility</p:attrName>
                                        </p:attrNameLst>
                                      </p:cBhvr>
                                      <p:to>
                                        <p:strVal val="hidden"/>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animBg="1" grpId="0" spid="8"/>
      <p:bldP animBg="1" grpId="0" spid="5"/>
      <p:bldP animBg="1" grpId="1" spid="5"/>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Analysis</a:t>
            </a:r>
            <a:endParaRPr dirty="0" lang="en-GB"/>
          </a:p>
        </p:txBody>
      </p:sp>
      <p:sp>
        <p:nvSpPr>
          <p:cNvPr id="166" name="Shape 166"/>
          <p:cNvSpPr txBox="1">
            <a:spLocks noGrp="1"/>
          </p:cNvSpPr>
          <p:nvPr>
            <p:ph idx="1" type="body"/>
          </p:nvPr>
        </p:nvSpPr>
        <p:spPr>
          <a:xfrm>
            <a:off x="311700" y="1152475"/>
            <a:ext cx="8520600" cy="1735450"/>
          </a:xfrm>
          <a:prstGeom prst="rect">
            <a:avLst/>
          </a:prstGeom>
        </p:spPr>
        <p:txBody>
          <a:bodyPr anchor="t" anchorCtr="0" bIns="91425" lIns="91425" rIns="91425" tIns="91425" wrap="square">
            <a:noAutofit/>
          </a:bodyPr>
          <a:lstStyle/>
          <a:p>
            <a:pPr indent="-342900" lvl="0" marL="457200">
              <a:spcBef>
                <a:spcPts val="0"/>
              </a:spcBef>
              <a:spcAft>
                <a:spcPts val="1200"/>
              </a:spcAft>
              <a:buClr>
                <a:srgbClr val="000000"/>
              </a:buClr>
              <a:buSzPts val="1800"/>
              <a:buChar char="●"/>
            </a:pPr>
            <a:r>
              <a:rPr dirty="0" lang="en-GB" smtClean="0">
                <a:solidFill>
                  <a:srgbClr val="000000"/>
                </a:solidFill>
              </a:rPr>
              <a:t>SYN packets need to use </a:t>
            </a:r>
            <a:r>
              <a:rPr dirty="0" lang="en-GB">
                <a:solidFill>
                  <a:srgbClr val="000000"/>
                </a:solidFill>
              </a:rPr>
              <a:t>random </a:t>
            </a:r>
            <a:r>
              <a:rPr dirty="0" err="1" lang="en-GB" smtClean="0">
                <a:solidFill>
                  <a:srgbClr val="000000"/>
                </a:solidFill>
              </a:rPr>
              <a:t>sourceIP</a:t>
            </a:r>
            <a:r>
              <a:rPr dirty="0" lang="en-GB" smtClean="0">
                <a:solidFill>
                  <a:srgbClr val="000000"/>
                </a:solidFill>
              </a:rPr>
              <a:t>, because reusing </a:t>
            </a:r>
            <a:r>
              <a:rPr dirty="0" err="1" lang="en-GB" smtClean="0">
                <a:solidFill>
                  <a:srgbClr val="000000"/>
                </a:solidFill>
              </a:rPr>
              <a:t>sourceIP</a:t>
            </a:r>
            <a:r>
              <a:rPr dirty="0" lang="en-GB" smtClean="0">
                <a:solidFill>
                  <a:srgbClr val="000000"/>
                </a:solidFill>
              </a:rPr>
              <a:t> will be </a:t>
            </a:r>
            <a:r>
              <a:rPr dirty="0" lang="en-GB">
                <a:solidFill>
                  <a:srgbClr val="000000"/>
                </a:solidFill>
              </a:rPr>
              <a:t>blocked by the firewalls.</a:t>
            </a:r>
          </a:p>
          <a:p>
            <a:pPr indent="-342900" lvl="0" marL="457200">
              <a:spcBef>
                <a:spcPts val="0"/>
              </a:spcBef>
              <a:spcAft>
                <a:spcPts val="1200"/>
              </a:spcAft>
              <a:buClr>
                <a:srgbClr val="000000"/>
              </a:buClr>
              <a:buSzPts val="1800"/>
              <a:buChar char="●"/>
            </a:pPr>
            <a:r>
              <a:rPr dirty="0" lang="en-GB" smtClean="0">
                <a:solidFill>
                  <a:srgbClr val="000000"/>
                </a:solidFill>
              </a:rPr>
              <a:t>Random </a:t>
            </a:r>
            <a:r>
              <a:rPr dirty="0" err="1" lang="en-GB" smtClean="0">
                <a:solidFill>
                  <a:srgbClr val="000000"/>
                </a:solidFill>
              </a:rPr>
              <a:t>sourceIP</a:t>
            </a:r>
            <a:r>
              <a:rPr dirty="0" lang="en-GB" smtClean="0">
                <a:solidFill>
                  <a:srgbClr val="000000"/>
                </a:solidFill>
              </a:rPr>
              <a:t> is mostly unreachable and so </a:t>
            </a:r>
            <a:r>
              <a:rPr b="1" dirty="0" lang="en-GB" smtClean="0">
                <a:solidFill>
                  <a:srgbClr val="D60000"/>
                </a:solidFill>
              </a:rPr>
              <a:t>no</a:t>
            </a:r>
            <a:r>
              <a:rPr dirty="0" lang="en-GB" smtClean="0">
                <a:solidFill>
                  <a:srgbClr val="000000"/>
                </a:solidFill>
              </a:rPr>
              <a:t> ACK will return to server. </a:t>
            </a:r>
          </a:p>
          <a:p>
            <a:pPr indent="-342900" lvl="0" marL="457200">
              <a:spcBef>
                <a:spcPts val="0"/>
              </a:spcBef>
              <a:spcAft>
                <a:spcPts val="1200"/>
              </a:spcAft>
              <a:buClr>
                <a:srgbClr val="000000"/>
              </a:buClr>
              <a:buSzPts val="1800"/>
              <a:buChar char="●"/>
            </a:pPr>
            <a:r>
              <a:rPr dirty="0" lang="en-GB" smtClean="0">
                <a:solidFill>
                  <a:srgbClr val="000000"/>
                </a:solidFill>
              </a:rPr>
              <a:t>Due to SYN-ACK retransmissions, </a:t>
            </a:r>
            <a:r>
              <a:rPr lang="en-GB" smtClean="0">
                <a:solidFill>
                  <a:srgbClr val="000000"/>
                </a:solidFill>
              </a:rPr>
              <a:t>the TCB </a:t>
            </a:r>
            <a:r>
              <a:rPr dirty="0" lang="en-GB" smtClean="0">
                <a:solidFill>
                  <a:srgbClr val="000000"/>
                </a:solidFill>
              </a:rPr>
              <a:t>record for client will stay in SYN queue for long and makes the queue easily full.  </a:t>
            </a: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11</a:t>
            </a:fld>
            <a:endParaRPr lang="en-GB"/>
          </a:p>
        </p:txBody>
      </p:sp>
    </p:spTree>
    <p:extLst>
      <p:ext uri="{BB962C8B-B14F-4D97-AF65-F5344CB8AC3E}">
        <p14:creationId xmlns:p14="http://schemas.microsoft.com/office/powerpoint/2010/main" val="31120169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66">
                                            <p:txEl>
                                              <p:pRg end="2" st="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166" uiExpand="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SYN Flooding Attack </a:t>
            </a:r>
            <a:r>
              <a:rPr dirty="0" lang="en-GB" smtClean="0"/>
              <a:t>– using c program</a:t>
            </a:r>
            <a:endParaRPr dirty="0" lang="en-GB"/>
          </a:p>
        </p:txBody>
      </p:sp>
      <p:sp>
        <p:nvSpPr>
          <p:cNvPr id="2" name="Rectangle 1"/>
          <p:cNvSpPr/>
          <p:nvPr/>
        </p:nvSpPr>
        <p:spPr>
          <a:xfrm>
            <a:off x="312479" y="1257237"/>
            <a:ext cx="8542072" cy="2554545"/>
          </a:xfrm>
          <a:prstGeom prst="rect">
            <a:avLst/>
          </a:prstGeom>
        </p:spPr>
        <p:txBody>
          <a:bodyPr wrap="square">
            <a:spAutoFit/>
          </a:bodyPr>
          <a:lstStyle/>
          <a:p>
            <a:pPr fontAlgn="ctr" marL="342900">
              <a:buFont charset="0" panose="020B0604020202020204" pitchFamily="34" typeface="Arial"/>
              <a:buChar char="•"/>
            </a:pPr>
            <a:r>
              <a:rPr b="1" dirty="0" lang="en-US" sz="2000">
                <a:solidFill>
                  <a:srgbClr val="2E75B5"/>
                </a:solidFill>
                <a:latin charset="0" panose="020F0502020204030204" pitchFamily="34" typeface="Calibri"/>
              </a:rPr>
              <a:t>Step 1. On </a:t>
            </a:r>
            <a:r>
              <a:rPr b="1" dirty="0" lang="en-US" sz="2000">
                <a:solidFill>
                  <a:srgbClr val="0000FF"/>
                </a:solidFill>
                <a:latin charset="0" panose="020F0502020204030204" pitchFamily="34" typeface="Calibri"/>
              </a:rPr>
              <a:t>Server</a:t>
            </a:r>
            <a:r>
              <a:rPr b="1" dirty="0" lang="en-US" sz="2000">
                <a:solidFill>
                  <a:srgbClr val="2E75B5"/>
                </a:solidFill>
                <a:latin charset="0" panose="020F0502020204030204" pitchFamily="34" typeface="Calibri"/>
              </a:rPr>
              <a:t> </a:t>
            </a:r>
            <a:r>
              <a:rPr b="1" dirty="0" lang="en-US" smtClean="0" sz="2000">
                <a:solidFill>
                  <a:srgbClr val="2E75B5"/>
                </a:solidFill>
                <a:latin charset="0" panose="020F0502020204030204" pitchFamily="34" typeface="Calibri"/>
              </a:rPr>
              <a:t>machine (10.9.0.5)</a:t>
            </a:r>
            <a:endParaRPr dirty="0" lang="en-US" sz="1000">
              <a:solidFill>
                <a:srgbClr val="2E75B5"/>
              </a:solidFill>
              <a:latin charset="0" panose="020F0502020204030204" pitchFamily="34" typeface="Calibri"/>
            </a:endParaRPr>
          </a:p>
          <a:p>
            <a:pPr marL="342900"/>
            <a:r>
              <a:rPr dirty="0" lang="en-US" sz="1000">
                <a:latin charset="0" panose="020F0502020204030204" pitchFamily="34" typeface="Calibri"/>
              </a:rPr>
              <a:t> </a:t>
            </a:r>
          </a:p>
          <a:p>
            <a:pPr marL="342900"/>
            <a:r>
              <a:rPr dirty="0" lang="en-US" sz="1800" u="sng">
                <a:latin charset="0" panose="020F0502020204030204" pitchFamily="34" typeface="Calibri"/>
              </a:rPr>
              <a:t>Disable </a:t>
            </a:r>
            <a:r>
              <a:rPr dirty="0" lang="en-US" smtClean="0" sz="1800" u="sng">
                <a:latin charset="0" panose="020F0502020204030204" pitchFamily="34" typeface="Calibri"/>
              </a:rPr>
              <a:t>the projection against SYN Flooding (lab setup has already done this)</a:t>
            </a:r>
            <a:endParaRPr dirty="0" lang="en-US" sz="1800">
              <a:latin charset="0" panose="020F0502020204030204" pitchFamily="34" typeface="Calibri"/>
            </a:endParaRPr>
          </a:p>
          <a:p>
            <a:pPr marL="342900"/>
            <a:r>
              <a:rPr dirty="0" lang="en-US" sz="1800">
                <a:latin charset="0" panose="020B0609020204030204" pitchFamily="49" typeface="Consolas"/>
              </a:rPr>
              <a:t># </a:t>
            </a:r>
            <a:r>
              <a:rPr dirty="0" err="1" lang="en-US" sz="1800">
                <a:solidFill>
                  <a:srgbClr val="7030A0"/>
                </a:solidFill>
                <a:latin charset="0" panose="020B0609020204030204" pitchFamily="49" typeface="Consolas"/>
              </a:rPr>
              <a:t>sysctl</a:t>
            </a:r>
            <a:r>
              <a:rPr dirty="0" lang="en-US" sz="1800">
                <a:solidFill>
                  <a:srgbClr val="7030A0"/>
                </a:solidFill>
                <a:latin charset="0" panose="020B0609020204030204" pitchFamily="49" typeface="Consolas"/>
              </a:rPr>
              <a:t> -w </a:t>
            </a:r>
            <a:r>
              <a:rPr dirty="0" lang="en-US" smtClean="0" sz="1800">
                <a:solidFill>
                  <a:srgbClr val="7030A0"/>
                </a:solidFill>
                <a:latin charset="0" panose="020B0609020204030204" pitchFamily="49" typeface="Consolas"/>
              </a:rPr>
              <a:t>net.ipv4.tcp_syncookies=0</a:t>
            </a:r>
            <a:endParaRPr dirty="0" lang="en-US" sz="1800">
              <a:latin charset="0" panose="020B0609020204030204" pitchFamily="49" typeface="Consolas"/>
            </a:endParaRPr>
          </a:p>
          <a:p>
            <a:r>
              <a:rPr dirty="0" lang="en-US" sz="1800">
                <a:latin charset="0" panose="020F0502020204030204" pitchFamily="34" typeface="Calibri"/>
              </a:rPr>
              <a:t> </a:t>
            </a:r>
          </a:p>
          <a:p>
            <a:r>
              <a:rPr dirty="0" lang="en-US" sz="1000">
                <a:latin charset="0" panose="020F0502020204030204" pitchFamily="34" typeface="Calibri"/>
              </a:rPr>
              <a:t> </a:t>
            </a:r>
          </a:p>
          <a:p>
            <a:pPr fontAlgn="ctr" marL="342900">
              <a:buFont charset="0" panose="020B0604020202020204" pitchFamily="34" typeface="Arial"/>
              <a:buChar char="•"/>
            </a:pPr>
            <a:r>
              <a:rPr b="1" dirty="0" lang="en-US" sz="2000">
                <a:solidFill>
                  <a:srgbClr val="2E75B5"/>
                </a:solidFill>
                <a:latin charset="0" panose="020F0502020204030204" pitchFamily="34" typeface="Calibri"/>
              </a:rPr>
              <a:t>Step 2. On </a:t>
            </a:r>
            <a:r>
              <a:rPr b="1" dirty="0" lang="en-US" sz="2000">
                <a:solidFill>
                  <a:srgbClr val="C00000"/>
                </a:solidFill>
                <a:latin charset="0" panose="020F0502020204030204" pitchFamily="34" typeface="Calibri"/>
              </a:rPr>
              <a:t>Attacker</a:t>
            </a:r>
            <a:r>
              <a:rPr b="1" dirty="0" lang="en-US" sz="2000">
                <a:solidFill>
                  <a:srgbClr val="2E75B5"/>
                </a:solidFill>
                <a:latin charset="0" panose="020F0502020204030204" pitchFamily="34" typeface="Calibri"/>
              </a:rPr>
              <a:t> </a:t>
            </a:r>
            <a:r>
              <a:rPr b="1" dirty="0" lang="en-US" smtClean="0" sz="2000">
                <a:solidFill>
                  <a:srgbClr val="2E75B5"/>
                </a:solidFill>
                <a:latin charset="0" panose="020F0502020204030204" pitchFamily="34" typeface="Calibri"/>
              </a:rPr>
              <a:t>machine (10.9.0.1):   Launch </a:t>
            </a:r>
            <a:r>
              <a:rPr b="1" dirty="0" lang="en-US" sz="2000">
                <a:solidFill>
                  <a:srgbClr val="2E75B5"/>
                </a:solidFill>
                <a:latin charset="0" panose="020F0502020204030204" pitchFamily="34" typeface="Calibri"/>
              </a:rPr>
              <a:t>the Attack </a:t>
            </a:r>
            <a:endParaRPr dirty="0" lang="en-US" sz="1000">
              <a:solidFill>
                <a:srgbClr val="2E75B5"/>
              </a:solidFill>
              <a:latin charset="0" panose="020F0502020204030204" pitchFamily="34" typeface="Calibri"/>
            </a:endParaRPr>
          </a:p>
          <a:p>
            <a:r>
              <a:rPr dirty="0" lang="en-US" sz="1000">
                <a:latin charset="0" panose="020F0502020204030204" pitchFamily="34" typeface="Calibri"/>
              </a:rPr>
              <a:t> </a:t>
            </a:r>
          </a:p>
          <a:p>
            <a:pPr marL="342900"/>
            <a:r>
              <a:rPr dirty="0" lang="en-US" sz="1800">
                <a:latin charset="0" panose="020B0609020204030204" pitchFamily="49" typeface="Consolas"/>
              </a:rPr>
              <a:t>$ </a:t>
            </a:r>
            <a:r>
              <a:rPr dirty="0" err="1" lang="en-US" sz="1800">
                <a:latin charset="0" panose="020B0609020204030204" pitchFamily="49" typeface="Consolas"/>
              </a:rPr>
              <a:t>gcc</a:t>
            </a:r>
            <a:r>
              <a:rPr dirty="0" lang="en-US" sz="1800">
                <a:latin charset="0" panose="020B0609020204030204" pitchFamily="49" typeface="Consolas"/>
              </a:rPr>
              <a:t> </a:t>
            </a:r>
            <a:r>
              <a:rPr dirty="0" err="1" lang="en-US" sz="1800">
                <a:latin charset="0" panose="020B0609020204030204" pitchFamily="49" typeface="Consolas"/>
              </a:rPr>
              <a:t>synflood.c</a:t>
            </a:r>
            <a:endParaRPr dirty="0" lang="en-US" sz="1800">
              <a:latin charset="0" panose="020B0609020204030204" pitchFamily="49" typeface="Consolas"/>
            </a:endParaRPr>
          </a:p>
          <a:p>
            <a:pPr marL="342900"/>
            <a:r>
              <a:rPr dirty="0" lang="en-US" sz="1800">
                <a:latin charset="0" panose="020B0609020204030204" pitchFamily="49" typeface="Consolas"/>
              </a:rPr>
              <a:t>$ </a:t>
            </a:r>
            <a:r>
              <a:rPr dirty="0" err="1" lang="en-US" sz="1800">
                <a:latin charset="0" panose="020B0609020204030204" pitchFamily="49" typeface="Consolas"/>
              </a:rPr>
              <a:t>sudo</a:t>
            </a:r>
            <a:r>
              <a:rPr dirty="0" lang="en-US" sz="1800">
                <a:latin charset="0" panose="020B0609020204030204" pitchFamily="49" typeface="Consolas"/>
              </a:rPr>
              <a:t> </a:t>
            </a:r>
            <a:r>
              <a:rPr dirty="0" err="1" lang="en-US" sz="1800">
                <a:latin charset="0" panose="020B0609020204030204" pitchFamily="49" typeface="Consolas"/>
              </a:rPr>
              <a:t>a.out</a:t>
            </a:r>
            <a:r>
              <a:rPr dirty="0" lang="en-US" sz="1800">
                <a:latin charset="0" panose="020B0609020204030204" pitchFamily="49" typeface="Consolas"/>
              </a:rPr>
              <a:t> 10.9.0.5 </a:t>
            </a:r>
            <a:r>
              <a:rPr dirty="0" lang="en-US" smtClean="0" sz="1800">
                <a:latin charset="0" panose="020B0609020204030204" pitchFamily="49" typeface="Consolas"/>
              </a:rPr>
              <a:t>23</a:t>
            </a:r>
            <a:endParaRPr dirty="0" lang="en-US" sz="1800">
              <a:latin charset="0" panose="020B0609020204030204" pitchFamily="49" typeface="Consolas"/>
            </a:endParaRPr>
          </a:p>
        </p:txBody>
      </p:sp>
      <p:sp>
        <p:nvSpPr>
          <p:cNvPr id="3" name="Slide Number Placeholder 2"/>
          <p:cNvSpPr>
            <a:spLocks noGrp="1"/>
          </p:cNvSpPr>
          <p:nvPr>
            <p:ph idx="12" type="sldNum"/>
          </p:nvPr>
        </p:nvSpPr>
        <p:spPr/>
        <p:txBody>
          <a:bodyPr/>
          <a:lstStyle/>
          <a:p>
            <a:pPr indent="0" lvl="0" marL="0">
              <a:spcBef>
                <a:spcPts val="0"/>
              </a:spcBef>
              <a:buNone/>
            </a:pPr>
            <a:fld id="{00000000-1234-1234-1234-123412341234}" type="slidenum">
              <a:rPr lang="en-GB" smtClean="0"/>
              <a:t>12</a:t>
            </a:fld>
            <a:endParaRPr lang="en-GB"/>
          </a:p>
        </p:txBody>
      </p:sp>
    </p:spTree>
    <p:extLst>
      <p:ext uri="{BB962C8B-B14F-4D97-AF65-F5344CB8AC3E}">
        <p14:creationId xmlns:p14="http://schemas.microsoft.com/office/powerpoint/2010/main" val="391117592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6" st="6"/>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7" st="7"/>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2">
                                            <p:txEl>
                                              <p:pRg end="8" st="8"/>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2">
                                            <p:txEl>
                                              <p:pRg end="9" st="9"/>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311700" y="208203"/>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SYN Flooding Attack </a:t>
            </a:r>
            <a:r>
              <a:rPr dirty="0" lang="en-GB" smtClean="0"/>
              <a:t>– using c program</a:t>
            </a:r>
            <a:endParaRPr dirty="0" lang="en-GB"/>
          </a:p>
        </p:txBody>
      </p:sp>
      <p:sp>
        <p:nvSpPr>
          <p:cNvPr id="2" name="Rectangle 1"/>
          <p:cNvSpPr/>
          <p:nvPr/>
        </p:nvSpPr>
        <p:spPr>
          <a:xfrm>
            <a:off x="667711" y="1000669"/>
            <a:ext cx="7265860" cy="3801041"/>
          </a:xfrm>
          <a:prstGeom prst="rect">
            <a:avLst/>
          </a:prstGeom>
        </p:spPr>
        <p:txBody>
          <a:bodyPr wrap="square">
            <a:spAutoFit/>
          </a:bodyPr>
          <a:lstStyle/>
          <a:p>
            <a:pPr fontAlgn="ctr" marL="342900">
              <a:buFont charset="0" panose="020B0604020202020204" pitchFamily="34" typeface="Arial"/>
              <a:buChar char="•"/>
            </a:pPr>
            <a:r>
              <a:rPr b="1" dirty="0" lang="en-US" smtClean="0" sz="1800">
                <a:solidFill>
                  <a:srgbClr val="2E75B5"/>
                </a:solidFill>
                <a:latin charset="0" panose="020F0502020204030204" pitchFamily="34" typeface="Calibri"/>
              </a:rPr>
              <a:t>Step </a:t>
            </a:r>
            <a:r>
              <a:rPr b="1" dirty="0" lang="en-US" sz="1800">
                <a:solidFill>
                  <a:srgbClr val="2E75B5"/>
                </a:solidFill>
                <a:latin charset="0" panose="020F0502020204030204" pitchFamily="34" typeface="Calibri"/>
              </a:rPr>
              <a:t>3. Check </a:t>
            </a:r>
            <a:r>
              <a:rPr b="1" dirty="0" lang="en-US" smtClean="0" sz="1800">
                <a:solidFill>
                  <a:srgbClr val="2E75B5"/>
                </a:solidFill>
                <a:latin charset="0" panose="020F0502020204030204" pitchFamily="34" typeface="Calibri"/>
              </a:rPr>
              <a:t>Results</a:t>
            </a:r>
            <a:endParaRPr dirty="0" lang="en-US" sz="900">
              <a:solidFill>
                <a:srgbClr val="2E75B5"/>
              </a:solidFill>
              <a:latin charset="0" panose="020F0502020204030204" pitchFamily="34" typeface="Calibri"/>
            </a:endParaRPr>
          </a:p>
          <a:p>
            <a:pPr marL="342900"/>
            <a:r>
              <a:rPr dirty="0" lang="en-US" sz="900">
                <a:latin charset="0" panose="020F0502020204030204" pitchFamily="34" typeface="Calibri"/>
              </a:rPr>
              <a:t> </a:t>
            </a:r>
          </a:p>
          <a:p>
            <a:pPr marL="342900"/>
            <a:r>
              <a:rPr dirty="0" lang="en-US" sz="1600" u="sng">
                <a:latin charset="0" panose="020F0502020204030204" pitchFamily="34" typeface="Calibri"/>
              </a:rPr>
              <a:t>On </a:t>
            </a:r>
            <a:r>
              <a:rPr dirty="0" lang="en-US" sz="1600" u="sng">
                <a:solidFill>
                  <a:srgbClr val="395925"/>
                </a:solidFill>
                <a:latin charset="0" panose="020F0502020204030204" pitchFamily="34" typeface="Calibri"/>
              </a:rPr>
              <a:t>User</a:t>
            </a:r>
            <a:r>
              <a:rPr dirty="0" lang="en-US" sz="1600" u="sng">
                <a:latin charset="0" panose="020F0502020204030204" pitchFamily="34" typeface="Calibri"/>
              </a:rPr>
              <a:t> </a:t>
            </a:r>
            <a:r>
              <a:rPr dirty="0" lang="en-US" smtClean="0" sz="1600" u="sng">
                <a:latin charset="0" panose="020F0502020204030204" pitchFamily="34" typeface="Calibri"/>
              </a:rPr>
              <a:t>machine (10.9.0.6): </a:t>
            </a:r>
            <a:r>
              <a:rPr dirty="0" lang="en-US" sz="1600" u="sng">
                <a:latin charset="0" panose="020F0502020204030204" pitchFamily="34" typeface="Calibri"/>
              </a:rPr>
              <a:t>telnet to server</a:t>
            </a:r>
            <a:endParaRPr dirty="0" lang="en-US" sz="1600">
              <a:latin charset="0" panose="020F0502020204030204" pitchFamily="34" typeface="Calibri"/>
            </a:endParaRPr>
          </a:p>
          <a:p>
            <a:pPr marL="342900"/>
            <a:r>
              <a:rPr dirty="0" lang="en-US" sz="900">
                <a:latin charset="0" panose="020F0502020204030204" pitchFamily="34" typeface="Calibri"/>
              </a:rPr>
              <a:t> </a:t>
            </a:r>
          </a:p>
          <a:p>
            <a:pPr marL="342900"/>
            <a:r>
              <a:rPr dirty="0" lang="en-US" sz="1600">
                <a:latin charset="0" panose="020B0609020204030204" pitchFamily="49" typeface="Consolas"/>
              </a:rPr>
              <a:t># </a:t>
            </a:r>
            <a:r>
              <a:rPr dirty="0" lang="en-US" sz="1600">
                <a:solidFill>
                  <a:srgbClr val="7030A0"/>
                </a:solidFill>
                <a:latin charset="0" panose="020B0609020204030204" pitchFamily="49" typeface="Consolas"/>
              </a:rPr>
              <a:t>telnet 10.9.0.5</a:t>
            </a:r>
            <a:endParaRPr dirty="0" lang="en-US" sz="1600">
              <a:latin charset="0" panose="020B0609020204030204" pitchFamily="49" typeface="Consolas"/>
            </a:endParaRPr>
          </a:p>
          <a:p>
            <a:pPr marL="342900"/>
            <a:r>
              <a:rPr dirty="0" lang="en-US" sz="900">
                <a:latin charset="0" panose="020F0502020204030204" pitchFamily="34" typeface="Calibri"/>
              </a:rPr>
              <a:t> </a:t>
            </a:r>
            <a:endParaRPr dirty="0" lang="en-US" smtClean="0" sz="900">
              <a:latin charset="0" panose="020F0502020204030204" pitchFamily="34" typeface="Calibri"/>
            </a:endParaRPr>
          </a:p>
          <a:p>
            <a:pPr marL="342900"/>
            <a:endParaRPr dirty="0" lang="en-US" sz="900">
              <a:latin charset="0" panose="020F0502020204030204" pitchFamily="34" typeface="Calibri"/>
            </a:endParaRPr>
          </a:p>
          <a:p>
            <a:pPr marL="342900"/>
            <a:r>
              <a:rPr dirty="0" lang="en-US" sz="900">
                <a:latin charset="0" panose="020F0502020204030204" pitchFamily="34" typeface="Calibri"/>
              </a:rPr>
              <a:t> </a:t>
            </a:r>
          </a:p>
          <a:p>
            <a:pPr marL="342900"/>
            <a:r>
              <a:rPr dirty="0" lang="en-US" sz="1600" u="sng">
                <a:latin charset="0" panose="020F0502020204030204" pitchFamily="34" typeface="Calibri"/>
              </a:rPr>
              <a:t>On </a:t>
            </a:r>
            <a:r>
              <a:rPr dirty="0" lang="en-US" sz="1600" u="sng">
                <a:solidFill>
                  <a:srgbClr val="0000CC"/>
                </a:solidFill>
                <a:latin charset="0" panose="020F0502020204030204" pitchFamily="34" typeface="Calibri"/>
              </a:rPr>
              <a:t>Server</a:t>
            </a:r>
            <a:r>
              <a:rPr dirty="0" lang="en-US" sz="1600" u="sng">
                <a:latin charset="0" panose="020F0502020204030204" pitchFamily="34" typeface="Calibri"/>
              </a:rPr>
              <a:t> </a:t>
            </a:r>
            <a:r>
              <a:rPr dirty="0" lang="en-US" smtClean="0" sz="1600" u="sng">
                <a:latin charset="0" panose="020F0502020204030204" pitchFamily="34" typeface="Calibri"/>
              </a:rPr>
              <a:t>machine (10.9.0.5):      count </a:t>
            </a:r>
            <a:r>
              <a:rPr dirty="0" lang="en-US" sz="1600" u="sng">
                <a:latin charset="0" panose="020F0502020204030204" pitchFamily="34" typeface="Calibri"/>
              </a:rPr>
              <a:t># of half-open connections</a:t>
            </a:r>
            <a:endParaRPr dirty="0" lang="en-US" sz="1600">
              <a:latin charset="0" panose="020F0502020204030204" pitchFamily="34" typeface="Calibri"/>
            </a:endParaRPr>
          </a:p>
          <a:p>
            <a:r>
              <a:rPr dirty="0" lang="en-US" sz="900">
                <a:latin charset="0" panose="020F0502020204030204" pitchFamily="34" typeface="Calibri"/>
              </a:rPr>
              <a:t> </a:t>
            </a:r>
          </a:p>
          <a:p>
            <a:pPr marL="342900"/>
            <a:endParaRPr dirty="0" lang="en-US" smtClean="0" sz="1600">
              <a:latin charset="0" panose="020B0609020204030204" pitchFamily="49" typeface="Consolas"/>
            </a:endParaRPr>
          </a:p>
          <a:p>
            <a:pPr marL="342900"/>
            <a:endParaRPr dirty="0" lang="en-US" sz="1600">
              <a:latin charset="0" panose="020B0609020204030204" pitchFamily="49" typeface="Consolas"/>
            </a:endParaRPr>
          </a:p>
          <a:p>
            <a:pPr marL="342900"/>
            <a:endParaRPr dirty="0" lang="en-US" smtClean="0" sz="1600">
              <a:latin charset="0" panose="020B0609020204030204" pitchFamily="49" typeface="Consolas"/>
            </a:endParaRPr>
          </a:p>
          <a:p>
            <a:pPr marL="342900"/>
            <a:endParaRPr dirty="0" lang="en-US" sz="1600">
              <a:latin charset="0" panose="020B0609020204030204" pitchFamily="49" typeface="Consolas"/>
            </a:endParaRPr>
          </a:p>
          <a:p>
            <a:pPr marL="342900"/>
            <a:endParaRPr dirty="0" lang="en-US" smtClean="0" sz="1600">
              <a:latin charset="0" panose="020B0609020204030204" pitchFamily="49" typeface="Consolas"/>
            </a:endParaRPr>
          </a:p>
          <a:p>
            <a:pPr marL="342900"/>
            <a:endParaRPr dirty="0" lang="en-US" smtClean="0" sz="1600">
              <a:latin charset="0" panose="020B0609020204030204" pitchFamily="49" typeface="Consolas"/>
            </a:endParaRPr>
          </a:p>
          <a:p>
            <a:pPr marL="342900"/>
            <a:r>
              <a:rPr dirty="0" lang="en-US" smtClean="0" sz="1600">
                <a:latin charset="0" panose="020B0609020204030204" pitchFamily="49" typeface="Consolas"/>
              </a:rPr>
              <a:t># </a:t>
            </a:r>
            <a:r>
              <a:rPr dirty="0" err="1" lang="en-US" sz="1600">
                <a:solidFill>
                  <a:srgbClr val="7030A0"/>
                </a:solidFill>
                <a:latin charset="0" panose="020B0609020204030204" pitchFamily="49" typeface="Consolas"/>
              </a:rPr>
              <a:t>netstat</a:t>
            </a:r>
            <a:r>
              <a:rPr dirty="0" lang="en-US" sz="1600">
                <a:solidFill>
                  <a:srgbClr val="7030A0"/>
                </a:solidFill>
                <a:latin charset="0" panose="020B0609020204030204" pitchFamily="49" typeface="Consolas"/>
              </a:rPr>
              <a:t> </a:t>
            </a:r>
            <a:r>
              <a:rPr dirty="0" lang="en-US" smtClean="0" sz="1600">
                <a:solidFill>
                  <a:srgbClr val="7030A0"/>
                </a:solidFill>
                <a:latin charset="0" panose="020B0609020204030204" pitchFamily="49" typeface="Consolas"/>
              </a:rPr>
              <a:t>-</a:t>
            </a:r>
            <a:r>
              <a:rPr dirty="0" err="1" lang="en-US" smtClean="0" sz="1600">
                <a:solidFill>
                  <a:srgbClr val="7030A0"/>
                </a:solidFill>
                <a:latin charset="0" panose="020B0609020204030204" pitchFamily="49" typeface="Consolas"/>
              </a:rPr>
              <a:t>tna</a:t>
            </a:r>
            <a:r>
              <a:rPr dirty="0" lang="en-US" smtClean="0" sz="1600">
                <a:solidFill>
                  <a:srgbClr val="7030A0"/>
                </a:solidFill>
                <a:latin charset="0" panose="020B0609020204030204" pitchFamily="49" typeface="Consolas"/>
              </a:rPr>
              <a:t> </a:t>
            </a:r>
            <a:r>
              <a:rPr dirty="0" lang="en-US" sz="1600">
                <a:solidFill>
                  <a:srgbClr val="7030A0"/>
                </a:solidFill>
                <a:latin charset="0" panose="020B0609020204030204" pitchFamily="49" typeface="Consolas"/>
              </a:rPr>
              <a:t>| </a:t>
            </a:r>
            <a:r>
              <a:rPr dirty="0" err="1" lang="en-US" sz="1600">
                <a:solidFill>
                  <a:srgbClr val="7030A0"/>
                </a:solidFill>
                <a:latin charset="0" panose="020B0609020204030204" pitchFamily="49" typeface="Consolas"/>
              </a:rPr>
              <a:t>grep</a:t>
            </a:r>
            <a:r>
              <a:rPr dirty="0" lang="en-US" sz="1600">
                <a:solidFill>
                  <a:srgbClr val="7030A0"/>
                </a:solidFill>
                <a:latin charset="0" panose="020B0609020204030204" pitchFamily="49" typeface="Consolas"/>
              </a:rPr>
              <a:t> SYN_RECV | </a:t>
            </a:r>
            <a:r>
              <a:rPr dirty="0" err="1" lang="en-US" sz="1600">
                <a:solidFill>
                  <a:srgbClr val="7030A0"/>
                </a:solidFill>
                <a:latin charset="0" panose="020B0609020204030204" pitchFamily="49" typeface="Consolas"/>
              </a:rPr>
              <a:t>wc</a:t>
            </a:r>
            <a:r>
              <a:rPr dirty="0" lang="en-US" sz="1600">
                <a:solidFill>
                  <a:srgbClr val="7030A0"/>
                </a:solidFill>
                <a:latin charset="0" panose="020B0609020204030204" pitchFamily="49" typeface="Consolas"/>
              </a:rPr>
              <a:t> -l</a:t>
            </a:r>
            <a:endParaRPr dirty="0" lang="en-US" sz="1600">
              <a:latin charset="0" panose="020B0609020204030204" pitchFamily="49" typeface="Consolas"/>
            </a:endParaRPr>
          </a:p>
          <a:p>
            <a:pPr marL="342900"/>
            <a:r>
              <a:rPr dirty="0" lang="en-US" sz="900">
                <a:latin charset="0" panose="020F0502020204030204" pitchFamily="34" typeface="Calibri"/>
              </a:rPr>
              <a:t> </a:t>
            </a:r>
            <a:endParaRPr dirty="0" lang="en-US" sz="1600">
              <a:latin charset="0" panose="020F0502020204030204" pitchFamily="34" typeface="Calibri"/>
            </a:endParaRPr>
          </a:p>
        </p:txBody>
      </p:sp>
      <p:pic>
        <p:nvPicPr>
          <p:cNvPr id="3" name="Picture 2" descr="&quot;Terminal showing command: netstat -tna | grep SYN_RECV | wc -l; output: 97.&quot;"/>
          <p:cNvPicPr>
            <a:picLocks noChangeAspect="1"/>
          </p:cNvPicPr>
          <p:nvPr/>
        </p:nvPicPr>
        <p:blipFill>
          <a:blip r:embed="rId3"/>
          <a:stretch>
            <a:fillRect/>
          </a:stretch>
        </p:blipFill>
        <p:spPr>
          <a:xfrm>
            <a:off x="1066515" y="4616666"/>
            <a:ext cx="5879320" cy="479430"/>
          </a:xfrm>
          <a:prstGeom prst="rect">
            <a:avLst/>
          </a:prstGeom>
        </p:spPr>
      </p:pic>
      <p:pic>
        <p:nvPicPr>
          <p:cNvPr id="5" name="Picture 4" descr="A terminal screenshot shows the output of the &quot;netstat -tna&quot; command, listing TCP connections with several in the &quot;SYN_RECV&quot; state and two in &quot;LISTEN&quot; state.  "/>
          <p:cNvPicPr>
            <a:picLocks noChangeAspect="1"/>
          </p:cNvPicPr>
          <p:nvPr/>
        </p:nvPicPr>
        <p:blipFill>
          <a:blip r:embed="rId4"/>
          <a:stretch>
            <a:fillRect/>
          </a:stretch>
        </p:blipFill>
        <p:spPr>
          <a:xfrm>
            <a:off x="1066515" y="2795679"/>
            <a:ext cx="5794375" cy="1417259"/>
          </a:xfrm>
          <a:prstGeom prst="rect">
            <a:avLst/>
          </a:prstGeom>
        </p:spPr>
      </p:pic>
      <p:pic>
        <p:nvPicPr>
          <p:cNvPr id="6" name="Picture 5" descr="&quot;Terminal screenshot showing a telnet connection attempt to 10.9.0.5 with the username 'seed', which is interrupted by the user.&quot;"/>
          <p:cNvPicPr>
            <a:picLocks noChangeAspect="1"/>
          </p:cNvPicPr>
          <p:nvPr/>
        </p:nvPicPr>
        <p:blipFill>
          <a:blip r:embed="rId5"/>
          <a:stretch>
            <a:fillRect/>
          </a:stretch>
        </p:blipFill>
        <p:spPr>
          <a:xfrm>
            <a:off x="1211044" y="2137978"/>
            <a:ext cx="3203072" cy="326909"/>
          </a:xfrm>
          <a:prstGeom prst="rect">
            <a:avLst/>
          </a:prstGeom>
        </p:spPr>
      </p:pic>
      <p:sp>
        <p:nvSpPr>
          <p:cNvPr id="4" name="Slide Number Placeholder 3"/>
          <p:cNvSpPr>
            <a:spLocks noGrp="1"/>
          </p:cNvSpPr>
          <p:nvPr>
            <p:ph idx="12" type="sldNum"/>
          </p:nvPr>
        </p:nvSpPr>
        <p:spPr/>
        <p:txBody>
          <a:bodyPr/>
          <a:lstStyle/>
          <a:p>
            <a:pPr indent="0" lvl="0" marL="0">
              <a:spcBef>
                <a:spcPts val="0"/>
              </a:spcBef>
              <a:buNone/>
            </a:pPr>
            <a:fld id="{00000000-1234-1234-1234-123412341234}" type="slidenum">
              <a:rPr lang="en-GB" smtClean="0"/>
              <a:t>13</a:t>
            </a:fld>
            <a:endParaRPr lang="en-GB"/>
          </a:p>
        </p:txBody>
      </p:sp>
    </p:spTree>
    <p:extLst>
      <p:ext uri="{BB962C8B-B14F-4D97-AF65-F5344CB8AC3E}">
        <p14:creationId xmlns:p14="http://schemas.microsoft.com/office/powerpoint/2010/main" val="93205302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8" st="8"/>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9" st="9"/>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5"/>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2">
                                            <p:txEl>
                                              <p:pRg end="16" st="16"/>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311700" y="208203"/>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If experiment fails (</a:t>
            </a:r>
            <a:r>
              <a:rPr dirty="0" lang="en-GB" smtClean="0" sz="1800"/>
              <a:t>legal user still can login after server is attacked</a:t>
            </a:r>
            <a:r>
              <a:rPr dirty="0" lang="en-GB" smtClean="0"/>
              <a:t>),…</a:t>
            </a:r>
            <a:endParaRPr dirty="0" lang="en-GB"/>
          </a:p>
        </p:txBody>
      </p:sp>
      <p:sp>
        <p:nvSpPr>
          <p:cNvPr id="2" name="Rectangle 1"/>
          <p:cNvSpPr/>
          <p:nvPr/>
        </p:nvSpPr>
        <p:spPr>
          <a:xfrm>
            <a:off x="130274" y="1000669"/>
            <a:ext cx="8962925" cy="3393237"/>
          </a:xfrm>
          <a:prstGeom prst="rect">
            <a:avLst/>
          </a:prstGeom>
        </p:spPr>
        <p:txBody>
          <a:bodyPr wrap="square">
            <a:spAutoFit/>
          </a:bodyPr>
          <a:lstStyle/>
          <a:p>
            <a:pPr fontAlgn="ctr" marL="342900">
              <a:buFont charset="0" panose="020B0604020202020204" pitchFamily="34" typeface="Arial"/>
              <a:buChar char="•"/>
            </a:pPr>
            <a:r>
              <a:rPr b="1" dirty="0" lang="en-US" smtClean="0" sz="2400">
                <a:solidFill>
                  <a:srgbClr val="2E75B5"/>
                </a:solidFill>
                <a:latin charset="0" panose="020F0502020204030204" pitchFamily="34" typeface="Calibri"/>
              </a:rPr>
              <a:t> </a:t>
            </a:r>
            <a:r>
              <a:rPr b="1" dirty="0" lang="en-US" sz="2400">
                <a:solidFill>
                  <a:srgbClr val="2E75B5"/>
                </a:solidFill>
                <a:latin charset="0" panose="020F0502020204030204" pitchFamily="34" typeface="Calibri"/>
              </a:rPr>
              <a:t> </a:t>
            </a:r>
            <a:r>
              <a:rPr b="1" dirty="0" lang="en-US" smtClean="0" sz="2400">
                <a:solidFill>
                  <a:srgbClr val="2E75B5"/>
                </a:solidFill>
                <a:latin charset="0" panose="020F0502020204030204" pitchFamily="34" typeface="Calibri"/>
              </a:rPr>
              <a:t>check </a:t>
            </a:r>
            <a:r>
              <a:rPr b="1" dirty="0" lang="en-US" smtClean="0" sz="2400">
                <a:solidFill>
                  <a:srgbClr val="0000CC"/>
                </a:solidFill>
                <a:latin charset="0" panose="020F0502020204030204" pitchFamily="34" typeface="Calibri"/>
              </a:rPr>
              <a:t>Server  (on 10.9.0.5)</a:t>
            </a:r>
            <a:endParaRPr dirty="0" lang="en-US" sz="2000">
              <a:latin charset="0" panose="020F0502020204030204" pitchFamily="34" typeface="Calibri"/>
            </a:endParaRPr>
          </a:p>
          <a:p>
            <a:pPr marL="342900"/>
            <a:endParaRPr dirty="0" lang="en-US" smtClean="0" sz="2000">
              <a:latin charset="0" panose="020B0609020204030204" pitchFamily="49" typeface="Consolas"/>
            </a:endParaRPr>
          </a:p>
          <a:p>
            <a:pPr marL="342900"/>
            <a:r>
              <a:rPr dirty="0" lang="en-US" smtClean="0" sz="2000">
                <a:latin charset="0" panose="020B0609020204030204" pitchFamily="49" typeface="Consolas"/>
              </a:rPr>
              <a:t>$ </a:t>
            </a:r>
            <a:r>
              <a:rPr b="1" dirty="0" err="1" lang="en-US" sz="2000">
                <a:solidFill>
                  <a:schemeClr val="tx1"/>
                </a:solidFill>
                <a:latin charset="0" panose="020B0609020204030204" pitchFamily="49" typeface="Consolas"/>
              </a:rPr>
              <a:t>ip</a:t>
            </a:r>
            <a:r>
              <a:rPr b="1" dirty="0" lang="en-US" sz="2000">
                <a:solidFill>
                  <a:schemeClr val="tx1"/>
                </a:solidFill>
                <a:latin charset="0" panose="020B0609020204030204" pitchFamily="49" typeface="Consolas"/>
              </a:rPr>
              <a:t> </a:t>
            </a:r>
            <a:r>
              <a:rPr b="1" dirty="0" err="1" lang="en-US" sz="2000">
                <a:solidFill>
                  <a:schemeClr val="tx1"/>
                </a:solidFill>
                <a:latin charset="0" panose="020B0609020204030204" pitchFamily="49" typeface="Consolas"/>
              </a:rPr>
              <a:t>tcp_metrics</a:t>
            </a:r>
            <a:r>
              <a:rPr b="1" dirty="0" lang="en-US" sz="2000">
                <a:solidFill>
                  <a:schemeClr val="tx1"/>
                </a:solidFill>
                <a:latin charset="0" panose="020B0609020204030204" pitchFamily="49" typeface="Consolas"/>
              </a:rPr>
              <a:t> </a:t>
            </a:r>
            <a:r>
              <a:rPr b="1" dirty="0" lang="en-US" smtClean="0" sz="2000">
                <a:solidFill>
                  <a:schemeClr val="tx1"/>
                </a:solidFill>
                <a:latin charset="0" panose="020B0609020204030204" pitchFamily="49" typeface="Consolas"/>
              </a:rPr>
              <a:t>show</a:t>
            </a:r>
            <a:r>
              <a:rPr dirty="0" lang="en-US" smtClean="0" sz="2000">
                <a:solidFill>
                  <a:srgbClr val="7030A0"/>
                </a:solidFill>
                <a:latin charset="0" panose="020B0609020204030204" pitchFamily="49" typeface="Consolas"/>
              </a:rPr>
              <a:t>   //cache for recent telnet clients</a:t>
            </a:r>
            <a:endParaRPr dirty="0" lang="en-US" sz="2000">
              <a:solidFill>
                <a:srgbClr val="7030A0"/>
              </a:solidFill>
              <a:latin charset="0" panose="020B0609020204030204" pitchFamily="49" typeface="Consolas"/>
            </a:endParaRPr>
          </a:p>
          <a:p>
            <a:pPr marL="342900"/>
            <a:endParaRPr dirty="0" lang="en-US" smtClean="0" sz="2000" u="sng">
              <a:latin charset="0" panose="020F0502020204030204" pitchFamily="34" typeface="Calibri"/>
            </a:endParaRPr>
          </a:p>
          <a:p>
            <a:pPr marL="342900"/>
            <a:endParaRPr dirty="0" lang="en-US" smtClean="0" sz="2000" u="sng">
              <a:latin charset="0" panose="020F0502020204030204" pitchFamily="34" typeface="Calibri"/>
            </a:endParaRPr>
          </a:p>
          <a:p>
            <a:pPr marL="342900"/>
            <a:endParaRPr dirty="0" lang="en-US" smtClean="0" sz="2000">
              <a:solidFill>
                <a:srgbClr val="7030A0"/>
              </a:solidFill>
              <a:latin charset="0" panose="020B0609020204030204" pitchFamily="49" typeface="Consolas"/>
            </a:endParaRPr>
          </a:p>
          <a:p>
            <a:pPr indent="-285750" marL="628650">
              <a:buFont charset="0" panose="020B0604020202020204" pitchFamily="34" typeface="Arial"/>
              <a:buChar char="•"/>
            </a:pPr>
            <a:r>
              <a:rPr dirty="0" lang="en-US" smtClean="0" sz="2000">
                <a:solidFill>
                  <a:srgbClr val="7030A0"/>
                </a:solidFill>
                <a:latin charset="0" panose="020B0609020204030204" pitchFamily="49" typeface="Consolas"/>
              </a:rPr>
              <a:t>server reserve a space in SYN queue for returning clients.</a:t>
            </a:r>
          </a:p>
          <a:p>
            <a:pPr indent="-285750" marL="628650">
              <a:buFont charset="0" panose="020B0604020202020204" pitchFamily="34" typeface="Arial"/>
              <a:buChar char="•"/>
            </a:pPr>
            <a:r>
              <a:rPr dirty="0" lang="en-US" smtClean="0" sz="2000">
                <a:solidFill>
                  <a:srgbClr val="7030A0"/>
                </a:solidFill>
                <a:latin charset="0" panose="020B0609020204030204" pitchFamily="49" typeface="Consolas"/>
              </a:rPr>
              <a:t>Attackers can not flood the reserved space.   </a:t>
            </a:r>
          </a:p>
          <a:p>
            <a:pPr indent="-285750" marL="628650">
              <a:buFont charset="0" panose="020B0604020202020204" pitchFamily="34" typeface="Arial"/>
              <a:buChar char="•"/>
            </a:pPr>
            <a:endParaRPr dirty="0" lang="en-US" sz="2000">
              <a:solidFill>
                <a:srgbClr val="7030A0"/>
              </a:solidFill>
              <a:effectLst/>
              <a:latin charset="0" panose="020B0609020204030204" pitchFamily="49" typeface="Consolas"/>
            </a:endParaRPr>
          </a:p>
          <a:p>
            <a:pPr indent="-285750" marL="628650">
              <a:buFont charset="0" panose="020B0604020202020204" pitchFamily="34" typeface="Arial"/>
              <a:buChar char="•"/>
            </a:pPr>
            <a:r>
              <a:rPr dirty="0" lang="en-US" sz="2000">
                <a:latin charset="0" panose="020B0609020204030204" pitchFamily="49" typeface="Consolas"/>
              </a:rPr>
              <a:t>$ </a:t>
            </a:r>
            <a:r>
              <a:rPr b="1" dirty="0" err="1" lang="en-US" sz="2000">
                <a:solidFill>
                  <a:schemeClr val="tx1"/>
                </a:solidFill>
                <a:latin charset="0" panose="020B0609020204030204" pitchFamily="49" typeface="Consolas"/>
              </a:rPr>
              <a:t>ip</a:t>
            </a:r>
            <a:r>
              <a:rPr b="1" dirty="0" lang="en-US" sz="2000">
                <a:solidFill>
                  <a:schemeClr val="tx1"/>
                </a:solidFill>
                <a:latin charset="0" panose="020B0609020204030204" pitchFamily="49" typeface="Consolas"/>
              </a:rPr>
              <a:t> </a:t>
            </a:r>
            <a:r>
              <a:rPr b="1" dirty="0" err="1" lang="en-US" sz="2000">
                <a:solidFill>
                  <a:schemeClr val="tx1"/>
                </a:solidFill>
                <a:latin charset="0" panose="020B0609020204030204" pitchFamily="49" typeface="Consolas"/>
              </a:rPr>
              <a:t>tcp_metrics</a:t>
            </a:r>
            <a:r>
              <a:rPr b="1" dirty="0" lang="en-US" sz="2000">
                <a:solidFill>
                  <a:schemeClr val="tx1"/>
                </a:solidFill>
                <a:latin charset="0" panose="020B0609020204030204" pitchFamily="49" typeface="Consolas"/>
              </a:rPr>
              <a:t> flush</a:t>
            </a:r>
            <a:r>
              <a:rPr dirty="0" lang="en-US" sz="2000">
                <a:solidFill>
                  <a:srgbClr val="7030A0"/>
                </a:solidFill>
                <a:latin charset="0" panose="020B0609020204030204" pitchFamily="49" typeface="Consolas"/>
              </a:rPr>
              <a:t>          //clear cache       </a:t>
            </a:r>
            <a:endParaRPr dirty="0" lang="en-US" smtClean="0" sz="2000">
              <a:solidFill>
                <a:srgbClr val="7030A0"/>
              </a:solidFill>
              <a:latin charset="0" panose="020B0609020204030204" pitchFamily="49" typeface="Consolas"/>
            </a:endParaRPr>
          </a:p>
          <a:p>
            <a:pPr indent="-285750" marL="628650">
              <a:buFont charset="0" panose="020B0604020202020204" pitchFamily="34" typeface="Arial"/>
              <a:buChar char="•"/>
            </a:pPr>
            <a:endParaRPr dirty="0" lang="en-CA" sz="1050">
              <a:effectLst/>
              <a:latin charset="0" panose="020F0502020204030204" pitchFamily="34" typeface="Calibri"/>
            </a:endParaRPr>
          </a:p>
        </p:txBody>
      </p:sp>
      <p:pic>
        <p:nvPicPr>
          <p:cNvPr id="3" name="Picture 2" descr="A terminal command output showing &quot;ip tcp_metrics show&quot; with the IP address &quot;10.9.0.6&quot; highlighted in yellow."/>
          <p:cNvPicPr>
            <a:picLocks noChangeAspect="1"/>
          </p:cNvPicPr>
          <p:nvPr/>
        </p:nvPicPr>
        <p:blipFill>
          <a:blip r:embed="rId3"/>
          <a:stretch>
            <a:fillRect/>
          </a:stretch>
        </p:blipFill>
        <p:spPr>
          <a:xfrm>
            <a:off x="920587" y="2121380"/>
            <a:ext cx="4327525" cy="390960"/>
          </a:xfrm>
          <a:prstGeom prst="rect">
            <a:avLst/>
          </a:prstGeom>
        </p:spPr>
      </p:pic>
      <p:sp>
        <p:nvSpPr>
          <p:cNvPr id="4" name="Slide Number Placeholder 3"/>
          <p:cNvSpPr>
            <a:spLocks noGrp="1"/>
          </p:cNvSpPr>
          <p:nvPr>
            <p:ph idx="12" type="sldNum"/>
          </p:nvPr>
        </p:nvSpPr>
        <p:spPr/>
        <p:txBody>
          <a:bodyPr/>
          <a:lstStyle/>
          <a:p>
            <a:pPr indent="0" lvl="0" marL="0">
              <a:spcBef>
                <a:spcPts val="0"/>
              </a:spcBef>
              <a:buNone/>
            </a:pPr>
            <a:fld id="{00000000-1234-1234-1234-123412341234}" type="slidenum">
              <a:rPr lang="en-GB" smtClean="0"/>
              <a:t>14</a:t>
            </a:fld>
            <a:endParaRPr lang="en-GB"/>
          </a:p>
        </p:txBody>
      </p:sp>
    </p:spTree>
    <p:extLst>
      <p:ext uri="{BB962C8B-B14F-4D97-AF65-F5344CB8AC3E}">
        <p14:creationId xmlns:p14="http://schemas.microsoft.com/office/powerpoint/2010/main" val="174808275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2" st="2"/>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2">
                                            <p:txEl>
                                              <p:pRg end="6" st="6"/>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2">
                                            <p:txEl>
                                              <p:pRg end="7" st="7"/>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2">
                                            <p:txEl>
                                              <p:pRg end="9" st="9"/>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311700" y="7005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SYN Flooding Attack – </a:t>
            </a:r>
            <a:r>
              <a:rPr dirty="0" lang="en-GB" smtClean="0"/>
              <a:t>using Python program</a:t>
            </a:r>
            <a:endParaRPr dirty="0" lang="en-GB"/>
          </a:p>
        </p:txBody>
      </p:sp>
      <p:sp>
        <p:nvSpPr>
          <p:cNvPr id="7" name="Rectangle 6"/>
          <p:cNvSpPr/>
          <p:nvPr/>
        </p:nvSpPr>
        <p:spPr>
          <a:xfrm>
            <a:off x="164460" y="710160"/>
            <a:ext cx="6177134" cy="769441"/>
          </a:xfrm>
          <a:prstGeom prst="rect">
            <a:avLst/>
          </a:prstGeom>
        </p:spPr>
        <p:txBody>
          <a:bodyPr wrap="square">
            <a:spAutoFit/>
          </a:bodyPr>
          <a:lstStyle/>
          <a:p>
            <a:pPr fontAlgn="ctr" marL="342900">
              <a:buFont charset="0" panose="020B0604020202020204" pitchFamily="34" typeface="Arial"/>
              <a:buChar char="•"/>
            </a:pPr>
            <a:r>
              <a:rPr b="1" dirty="0" lang="en-US" smtClean="0" sz="1800">
                <a:solidFill>
                  <a:srgbClr val="2E75B5"/>
                </a:solidFill>
                <a:latin charset="0" panose="020F0502020204030204" pitchFamily="34" typeface="Calibri"/>
              </a:rPr>
              <a:t> Replace c program with the python program:    </a:t>
            </a:r>
            <a:endParaRPr dirty="0" lang="en-CA">
              <a:latin charset="0" panose="020F0502020204030204" pitchFamily="34" typeface="Calibri"/>
            </a:endParaRPr>
          </a:p>
          <a:p>
            <a:pPr marL="342900"/>
            <a:r>
              <a:rPr dirty="0" lang="en-US" sz="1600">
                <a:latin charset="0" panose="020B0609020204030204" pitchFamily="49" typeface="Consolas"/>
              </a:rPr>
              <a:t>$ </a:t>
            </a:r>
            <a:r>
              <a:rPr dirty="0" err="1" lang="en-US" sz="1600">
                <a:latin charset="0" panose="020B0609020204030204" pitchFamily="49" typeface="Consolas"/>
              </a:rPr>
              <a:t>sudo</a:t>
            </a:r>
            <a:r>
              <a:rPr dirty="0" lang="en-US" sz="1600">
                <a:latin charset="0" panose="020B0609020204030204" pitchFamily="49" typeface="Consolas"/>
              </a:rPr>
              <a:t> synflood.py 10.9.0.5 23</a:t>
            </a:r>
          </a:p>
          <a:p>
            <a:pPr marL="342900"/>
            <a:r>
              <a:rPr dirty="0" lang="en-US" sz="1000">
                <a:latin charset="0" panose="020F0502020204030204" pitchFamily="34" typeface="Calibri"/>
              </a:rPr>
              <a:t> </a:t>
            </a:r>
          </a:p>
        </p:txBody>
      </p:sp>
      <p:pic>
        <p:nvPicPr>
          <p:cNvPr id="4" name="Picture 3" descr="A Python script that performs a TCP SYN flood attack using the Scapy library, generating packets with random source IP addresses, source ports, and sequence numbers in an infinite loop.  "/>
          <p:cNvPicPr>
            <a:picLocks noChangeAspect="1"/>
          </p:cNvPicPr>
          <p:nvPr/>
        </p:nvPicPr>
        <p:blipFill>
          <a:blip r:embed="rId3"/>
          <a:stretch>
            <a:fillRect/>
          </a:stretch>
        </p:blipFill>
        <p:spPr>
          <a:xfrm>
            <a:off x="1586834" y="1608827"/>
            <a:ext cx="4879748" cy="3405360"/>
          </a:xfrm>
          <a:prstGeom prst="rect">
            <a:avLst/>
          </a:prstGeom>
        </p:spPr>
      </p:pic>
      <p:sp>
        <p:nvSpPr>
          <p:cNvPr id="3" name="TextBox 2"/>
          <p:cNvSpPr txBox="1"/>
          <p:nvPr/>
        </p:nvSpPr>
        <p:spPr>
          <a:xfrm>
            <a:off x="1223585" y="3493140"/>
            <a:ext cx="5499557" cy="1600438"/>
          </a:xfrm>
          <a:prstGeom prst="rect">
            <a:avLst/>
          </a:prstGeom>
          <a:noFill/>
          <a:ln w="19050">
            <a:solidFill>
              <a:schemeClr val="tx1"/>
            </a:solidFill>
            <a:prstDash val="dash"/>
          </a:ln>
        </p:spPr>
        <p:txBody>
          <a:bodyPr rtlCol="0" wrap="square">
            <a:spAutoFit/>
          </a:bodyPr>
          <a:lstStyle/>
          <a:p>
            <a:endParaRPr dirty="0" lang="en-CA"/>
          </a:p>
          <a:p>
            <a:endParaRPr dirty="0" lang="en-CA" smtClean="0"/>
          </a:p>
          <a:p>
            <a:endParaRPr dirty="0" lang="en-CA"/>
          </a:p>
          <a:p>
            <a:endParaRPr dirty="0" lang="en-CA" smtClean="0"/>
          </a:p>
          <a:p>
            <a:endParaRPr dirty="0" lang="en-CA"/>
          </a:p>
          <a:p>
            <a:endParaRPr dirty="0" lang="en-CA" smtClean="0"/>
          </a:p>
          <a:p>
            <a:endParaRPr dirty="0" lang="en-CA"/>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15</a:t>
            </a:fld>
            <a:endParaRPr lang="en-GB"/>
          </a:p>
        </p:txBody>
      </p:sp>
    </p:spTree>
    <p:extLst>
      <p:ext uri="{BB962C8B-B14F-4D97-AF65-F5344CB8AC3E}">
        <p14:creationId xmlns:p14="http://schemas.microsoft.com/office/powerpoint/2010/main" val="3929174311"/>
      </p:ext>
    </p:extLst>
  </p:cSld>
  <p:clrMapOvr>
    <a:masterClrMapping/>
  </p:clrMapOvr>
  <p:timing>
    <p:tnLst>
      <p:par>
        <p:cTn dur="indefinite" id="1" nodeType="tmRoot" restart="never"/>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smtClean="0"/>
              <a:t>Countermeasure:  </a:t>
            </a:r>
            <a:r>
              <a:rPr dirty="0" lang="en-GB" smtClean="0">
                <a:solidFill>
                  <a:srgbClr val="D60000"/>
                </a:solidFill>
              </a:rPr>
              <a:t>vulnerability from SYN queue</a:t>
            </a:r>
            <a:r>
              <a:rPr dirty="0" lang="en-GB" smtClean="0"/>
              <a:t> </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5" name="Straight Arrow Connector 4"/>
          <p:cNvCxnSpPr/>
          <p:nvPr/>
        </p:nvCxnSpPr>
        <p:spPr>
          <a:xfrm>
            <a:off x="1013076" y="2473485"/>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1468" y="2126759"/>
            <a:ext cx="1138066"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=x</a:t>
            </a:r>
            <a:endParaRPr dirty="0" lang="en-CA"/>
          </a:p>
        </p:txBody>
      </p:sp>
      <p:cxnSp>
        <p:nvCxnSpPr>
          <p:cNvPr id="10" name="Straight Arrow Connector 9"/>
          <p:cNvCxnSpPr/>
          <p:nvPr/>
        </p:nvCxnSpPr>
        <p:spPr>
          <a:xfrm>
            <a:off x="1053645" y="3342932"/>
            <a:ext cx="1901163" cy="6578"/>
          </a:xfrm>
          <a:prstGeom prst="straightConnector1">
            <a:avLst/>
          </a:prstGeom>
          <a:ln>
            <a:solidFill>
              <a:schemeClr val="tx1"/>
            </a:solidFill>
            <a:headEnd len="med" type="triangle" w="med"/>
            <a:tailEnd len="med" type="none" w="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9185" y="3030194"/>
            <a:ext cx="2215828"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=y, ACK=x+1</a:t>
            </a:r>
            <a:endParaRPr dirty="0" lang="en-CA"/>
          </a:p>
        </p:txBody>
      </p:sp>
      <p:sp>
        <p:nvSpPr>
          <p:cNvPr id="14" name="Rectangle 13"/>
          <p:cNvSpPr/>
          <p:nvPr/>
        </p:nvSpPr>
        <p:spPr>
          <a:xfrm>
            <a:off x="5104852" y="1559085"/>
            <a:ext cx="3644443" cy="14209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CA"/>
          </a:p>
        </p:txBody>
      </p:sp>
      <p:sp>
        <p:nvSpPr>
          <p:cNvPr id="8" name="Rectangle 7"/>
          <p:cNvSpPr/>
          <p:nvPr/>
        </p:nvSpPr>
        <p:spPr>
          <a:xfrm>
            <a:off x="3368152" y="2040405"/>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a:p>
            <a:pPr algn="ctr"/>
            <a:r>
              <a:rPr dirty="0" lang="en-CA" sz="1100">
                <a:solidFill>
                  <a:schemeClr val="tx1"/>
                </a:solidFill>
              </a:rPr>
              <a:t>y</a:t>
            </a:r>
          </a:p>
        </p:txBody>
      </p:sp>
      <p:sp>
        <p:nvSpPr>
          <p:cNvPr id="15" name="Rectangle 14"/>
          <p:cNvSpPr/>
          <p:nvPr/>
        </p:nvSpPr>
        <p:spPr>
          <a:xfrm>
            <a:off x="6092707" y="184415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sIP4</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sport4</a:t>
            </a:r>
          </a:p>
          <a:p>
            <a:pPr algn="ctr"/>
            <a:r>
              <a:rPr dirty="0" lang="en-CA" smtClean="0" sz="1050">
                <a:solidFill>
                  <a:schemeClr val="tx1"/>
                </a:solidFill>
              </a:rPr>
              <a:t>dport4</a:t>
            </a:r>
          </a:p>
          <a:p>
            <a:pPr algn="ctr"/>
            <a:r>
              <a:rPr dirty="0" lang="en-CA" smtClean="0" sz="1050">
                <a:solidFill>
                  <a:schemeClr val="tx1"/>
                </a:solidFill>
              </a:rPr>
              <a:t>x4</a:t>
            </a:r>
          </a:p>
          <a:p>
            <a:pPr algn="ctr"/>
            <a:r>
              <a:rPr dirty="0" lang="en-CA" smtClean="0" sz="1050">
                <a:solidFill>
                  <a:schemeClr val="tx1"/>
                </a:solidFill>
              </a:rPr>
              <a:t>y4</a:t>
            </a:r>
            <a:endParaRPr dirty="0" lang="en-CA" sz="1050">
              <a:solidFill>
                <a:schemeClr val="tx1"/>
              </a:solidFill>
            </a:endParaRPr>
          </a:p>
        </p:txBody>
      </p:sp>
      <p:sp>
        <p:nvSpPr>
          <p:cNvPr id="16" name="Rectangle 15"/>
          <p:cNvSpPr/>
          <p:nvPr/>
        </p:nvSpPr>
        <p:spPr>
          <a:xfrm>
            <a:off x="6784533" y="1832099"/>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sIP3</a:t>
            </a:r>
          </a:p>
          <a:p>
            <a:pPr algn="ctr"/>
            <a:r>
              <a:rPr dirty="0" lang="en-CA" smtClean="0" sz="1050">
                <a:solidFill>
                  <a:schemeClr val="tx1"/>
                </a:solidFill>
              </a:rPr>
              <a:t>dIP3</a:t>
            </a:r>
          </a:p>
          <a:p>
            <a:pPr algn="ctr"/>
            <a:r>
              <a:rPr dirty="0" lang="en-CA" smtClean="0" sz="1050">
                <a:solidFill>
                  <a:schemeClr val="tx1"/>
                </a:solidFill>
              </a:rPr>
              <a:t>sport3</a:t>
            </a:r>
          </a:p>
          <a:p>
            <a:pPr algn="ctr"/>
            <a:r>
              <a:rPr dirty="0" lang="en-CA" smtClean="0" sz="1050">
                <a:solidFill>
                  <a:schemeClr val="tx1"/>
                </a:solidFill>
              </a:rPr>
              <a:t>dport3</a:t>
            </a:r>
          </a:p>
          <a:p>
            <a:pPr algn="ctr"/>
            <a:r>
              <a:rPr dirty="0" lang="en-CA" smtClean="0" sz="1050">
                <a:solidFill>
                  <a:schemeClr val="tx1"/>
                </a:solidFill>
              </a:rPr>
              <a:t>x3</a:t>
            </a:r>
          </a:p>
          <a:p>
            <a:pPr algn="ctr"/>
            <a:r>
              <a:rPr dirty="0" lang="en-CA" smtClean="0" sz="1050">
                <a:solidFill>
                  <a:schemeClr val="tx1"/>
                </a:solidFill>
              </a:rPr>
              <a:t>y3</a:t>
            </a:r>
            <a:endParaRPr dirty="0" lang="en-CA" sz="1050">
              <a:solidFill>
                <a:schemeClr val="tx1"/>
              </a:solidFill>
            </a:endParaRPr>
          </a:p>
        </p:txBody>
      </p:sp>
      <p:sp>
        <p:nvSpPr>
          <p:cNvPr id="17" name="Rectangle 16"/>
          <p:cNvSpPr/>
          <p:nvPr/>
        </p:nvSpPr>
        <p:spPr>
          <a:xfrm>
            <a:off x="7463203" y="1833200"/>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sIP2</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sport2</a:t>
            </a:r>
          </a:p>
          <a:p>
            <a:pPr algn="ctr"/>
            <a:r>
              <a:rPr dirty="0" lang="en-CA" smtClean="0" sz="1050">
                <a:solidFill>
                  <a:schemeClr val="tx1"/>
                </a:solidFill>
              </a:rPr>
              <a:t>dport2</a:t>
            </a:r>
          </a:p>
          <a:p>
            <a:pPr algn="ctr"/>
            <a:r>
              <a:rPr dirty="0" lang="en-CA" smtClean="0" sz="1050">
                <a:solidFill>
                  <a:schemeClr val="tx1"/>
                </a:solidFill>
              </a:rPr>
              <a:t>x2</a:t>
            </a:r>
          </a:p>
          <a:p>
            <a:pPr algn="ctr"/>
            <a:r>
              <a:rPr dirty="0" lang="en-CA" smtClean="0" sz="1050">
                <a:solidFill>
                  <a:schemeClr val="tx1"/>
                </a:solidFill>
              </a:rPr>
              <a:t>y2</a:t>
            </a:r>
            <a:endParaRPr dirty="0" lang="en-CA" sz="1050">
              <a:solidFill>
                <a:schemeClr val="tx1"/>
              </a:solidFill>
            </a:endParaRPr>
          </a:p>
        </p:txBody>
      </p:sp>
      <p:sp>
        <p:nvSpPr>
          <p:cNvPr id="18" name="Rectangle 17"/>
          <p:cNvSpPr/>
          <p:nvPr/>
        </p:nvSpPr>
        <p:spPr>
          <a:xfrm>
            <a:off x="8135313" y="1821147"/>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CA" smtClean="0" sz="1050">
                <a:solidFill>
                  <a:schemeClr val="tx1"/>
                </a:solidFill>
              </a:rPr>
              <a:t>sIP1</a:t>
            </a:r>
          </a:p>
          <a:p>
            <a:pPr algn="ctr"/>
            <a:r>
              <a:rPr dirty="0" err="1" lang="en-CA" smtClean="0" sz="1050">
                <a:solidFill>
                  <a:schemeClr val="tx1"/>
                </a:solidFill>
              </a:rPr>
              <a:t>dIP</a:t>
            </a:r>
            <a:endParaRPr dirty="0" lang="en-CA" smtClean="0" sz="1050">
              <a:solidFill>
                <a:schemeClr val="tx1"/>
              </a:solidFill>
            </a:endParaRPr>
          </a:p>
          <a:p>
            <a:pPr algn="ctr"/>
            <a:r>
              <a:rPr dirty="0" lang="en-CA" smtClean="0" sz="1050">
                <a:solidFill>
                  <a:schemeClr val="tx1"/>
                </a:solidFill>
              </a:rPr>
              <a:t>sport1</a:t>
            </a:r>
          </a:p>
          <a:p>
            <a:pPr algn="ctr"/>
            <a:r>
              <a:rPr dirty="0" lang="en-CA" smtClean="0" sz="1050">
                <a:solidFill>
                  <a:schemeClr val="tx1"/>
                </a:solidFill>
              </a:rPr>
              <a:t>dport1</a:t>
            </a:r>
          </a:p>
          <a:p>
            <a:pPr algn="ctr"/>
            <a:r>
              <a:rPr dirty="0" lang="en-CA" smtClean="0" sz="1050">
                <a:solidFill>
                  <a:schemeClr val="tx1"/>
                </a:solidFill>
              </a:rPr>
              <a:t>x1</a:t>
            </a:r>
          </a:p>
          <a:p>
            <a:pPr algn="ctr"/>
            <a:r>
              <a:rPr dirty="0" lang="en-CA" smtClean="0" sz="1050">
                <a:solidFill>
                  <a:schemeClr val="tx1"/>
                </a:solidFill>
              </a:rPr>
              <a:t>y1</a:t>
            </a:r>
            <a:endParaRPr dirty="0" lang="en-CA" sz="1050">
              <a:solidFill>
                <a:schemeClr val="tx1"/>
              </a:solidFill>
            </a:endParaRPr>
          </a:p>
        </p:txBody>
      </p:sp>
      <p:sp>
        <p:nvSpPr>
          <p:cNvPr id="9" name="TextBox 8"/>
          <p:cNvSpPr txBox="1"/>
          <p:nvPr/>
        </p:nvSpPr>
        <p:spPr>
          <a:xfrm>
            <a:off x="8141890" y="1605131"/>
            <a:ext cx="705000" cy="261610"/>
          </a:xfrm>
          <a:prstGeom prst="rect">
            <a:avLst/>
          </a:prstGeom>
          <a:noFill/>
        </p:spPr>
        <p:txBody>
          <a:bodyPr rtlCol="0" wrap="square">
            <a:spAutoFit/>
          </a:bodyPr>
          <a:lstStyle/>
          <a:p>
            <a:r>
              <a:rPr b="1" dirty="0" lang="en-CA" smtClean="0" sz="1100"/>
              <a:t>client1</a:t>
            </a:r>
            <a:endParaRPr b="1" dirty="0" lang="en-CA" sz="1100"/>
          </a:p>
        </p:txBody>
      </p:sp>
      <p:sp>
        <p:nvSpPr>
          <p:cNvPr id="20" name="TextBox 19"/>
          <p:cNvSpPr txBox="1"/>
          <p:nvPr/>
        </p:nvSpPr>
        <p:spPr>
          <a:xfrm>
            <a:off x="7439094" y="1606229"/>
            <a:ext cx="705000" cy="261610"/>
          </a:xfrm>
          <a:prstGeom prst="rect">
            <a:avLst/>
          </a:prstGeom>
          <a:noFill/>
        </p:spPr>
        <p:txBody>
          <a:bodyPr rtlCol="0" wrap="square">
            <a:spAutoFit/>
          </a:bodyPr>
          <a:lstStyle/>
          <a:p>
            <a:r>
              <a:rPr b="1" dirty="0" lang="en-CA" smtClean="0" sz="1100"/>
              <a:t>client2</a:t>
            </a:r>
            <a:endParaRPr b="1" dirty="0" lang="en-CA" sz="1100"/>
          </a:p>
        </p:txBody>
      </p:sp>
      <p:sp>
        <p:nvSpPr>
          <p:cNvPr id="21" name="TextBox 20"/>
          <p:cNvSpPr txBox="1"/>
          <p:nvPr/>
        </p:nvSpPr>
        <p:spPr>
          <a:xfrm>
            <a:off x="6756032" y="1607325"/>
            <a:ext cx="705000" cy="261610"/>
          </a:xfrm>
          <a:prstGeom prst="rect">
            <a:avLst/>
          </a:prstGeom>
          <a:noFill/>
        </p:spPr>
        <p:txBody>
          <a:bodyPr rtlCol="0" wrap="square">
            <a:spAutoFit/>
          </a:bodyPr>
          <a:lstStyle/>
          <a:p>
            <a:r>
              <a:rPr b="1" dirty="0" lang="en-CA" smtClean="0" sz="1100"/>
              <a:t>client3</a:t>
            </a:r>
            <a:endParaRPr b="1" dirty="0" lang="en-CA" sz="1100"/>
          </a:p>
        </p:txBody>
      </p:sp>
      <p:sp>
        <p:nvSpPr>
          <p:cNvPr id="22" name="TextBox 21"/>
          <p:cNvSpPr txBox="1"/>
          <p:nvPr/>
        </p:nvSpPr>
        <p:spPr>
          <a:xfrm>
            <a:off x="6098192" y="1608425"/>
            <a:ext cx="679783" cy="261610"/>
          </a:xfrm>
          <a:prstGeom prst="rect">
            <a:avLst/>
          </a:prstGeom>
          <a:noFill/>
        </p:spPr>
        <p:txBody>
          <a:bodyPr rtlCol="0" wrap="square">
            <a:spAutoFit/>
          </a:bodyPr>
          <a:lstStyle/>
          <a:p>
            <a:r>
              <a:rPr b="1" dirty="0" lang="en-CA" smtClean="0" sz="1100"/>
              <a:t>client4</a:t>
            </a:r>
            <a:endParaRPr b="1" dirty="0" lang="en-CA" sz="1100"/>
          </a:p>
        </p:txBody>
      </p:sp>
      <p:sp>
        <p:nvSpPr>
          <p:cNvPr id="24" name="TextBox 23"/>
          <p:cNvSpPr txBox="1"/>
          <p:nvPr/>
        </p:nvSpPr>
        <p:spPr>
          <a:xfrm>
            <a:off x="3356095" y="1806871"/>
            <a:ext cx="679783" cy="261610"/>
          </a:xfrm>
          <a:prstGeom prst="rect">
            <a:avLst/>
          </a:prstGeom>
          <a:noFill/>
        </p:spPr>
        <p:txBody>
          <a:bodyPr rtlCol="0" wrap="square">
            <a:spAutoFit/>
          </a:bodyPr>
          <a:lstStyle/>
          <a:p>
            <a:r>
              <a:rPr b="1" dirty="0" lang="en-CA" smtClean="0" sz="1100"/>
              <a:t>client5</a:t>
            </a:r>
            <a:endParaRPr b="1" dirty="0" lang="en-CA" sz="1100"/>
          </a:p>
        </p:txBody>
      </p:sp>
      <p:sp>
        <p:nvSpPr>
          <p:cNvPr id="19" name="TextBox 18"/>
          <p:cNvSpPr txBox="1"/>
          <p:nvPr/>
        </p:nvSpPr>
        <p:spPr>
          <a:xfrm>
            <a:off x="6651873" y="1282790"/>
            <a:ext cx="1257572" cy="307777"/>
          </a:xfrm>
          <a:prstGeom prst="rect">
            <a:avLst/>
          </a:prstGeom>
          <a:noFill/>
        </p:spPr>
        <p:txBody>
          <a:bodyPr rtlCol="0" wrap="square">
            <a:spAutoFit/>
          </a:bodyPr>
          <a:lstStyle/>
          <a:p>
            <a:r>
              <a:rPr dirty="0" lang="en-CA" smtClean="0"/>
              <a:t>SYN queue</a:t>
            </a:r>
            <a:endParaRPr dirty="0" lang="en-CA"/>
          </a:p>
        </p:txBody>
      </p:sp>
      <p:cxnSp>
        <p:nvCxnSpPr>
          <p:cNvPr id="31" name="Straight Connector 30"/>
          <p:cNvCxnSpPr/>
          <p:nvPr/>
        </p:nvCxnSpPr>
        <p:spPr>
          <a:xfrm flipV="1">
            <a:off x="3105013" y="1866741"/>
            <a:ext cx="5741877" cy="8040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4657519" y="1684075"/>
            <a:ext cx="2980023" cy="14012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16</a:t>
            </a:fld>
            <a:endParaRPr lang="en-GB"/>
          </a:p>
        </p:txBody>
      </p:sp>
    </p:spTree>
    <p:extLst>
      <p:ext uri="{BB962C8B-B14F-4D97-AF65-F5344CB8AC3E}">
        <p14:creationId xmlns:p14="http://schemas.microsoft.com/office/powerpoint/2010/main" val="133921470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1"/>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smtClean="0">
                <a:solidFill>
                  <a:srgbClr val="D60000"/>
                </a:solidFill>
              </a:rPr>
              <a:t>Server does not save the client information</a:t>
            </a:r>
            <a:r>
              <a:rPr dirty="0" lang="en-GB" smtClean="0"/>
              <a:t> </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5" name="Straight Arrow Connector 4"/>
          <p:cNvCxnSpPr/>
          <p:nvPr/>
        </p:nvCxnSpPr>
        <p:spPr>
          <a:xfrm>
            <a:off x="1013076" y="2473485"/>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1468" y="2126759"/>
            <a:ext cx="1138066"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=x</a:t>
            </a:r>
            <a:endParaRPr dirty="0" lang="en-CA"/>
          </a:p>
        </p:txBody>
      </p:sp>
      <p:cxnSp>
        <p:nvCxnSpPr>
          <p:cNvPr id="10" name="Straight Arrow Connector 9"/>
          <p:cNvCxnSpPr/>
          <p:nvPr/>
        </p:nvCxnSpPr>
        <p:spPr>
          <a:xfrm>
            <a:off x="1053645" y="3342932"/>
            <a:ext cx="1901163" cy="6578"/>
          </a:xfrm>
          <a:prstGeom prst="straightConnector1">
            <a:avLst/>
          </a:prstGeom>
          <a:ln>
            <a:solidFill>
              <a:schemeClr val="tx1"/>
            </a:solidFill>
            <a:headEnd len="med" type="triangle" w="med"/>
            <a:tailEnd len="med" type="none" w="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9185" y="3030194"/>
            <a:ext cx="2215828"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=y, ACK=x+1</a:t>
            </a:r>
            <a:endParaRPr dirty="0" lang="en-CA"/>
          </a:p>
        </p:txBody>
      </p:sp>
      <p:cxnSp>
        <p:nvCxnSpPr>
          <p:cNvPr id="12" name="Straight Arrow Connector 11"/>
          <p:cNvCxnSpPr/>
          <p:nvPr/>
        </p:nvCxnSpPr>
        <p:spPr>
          <a:xfrm>
            <a:off x="1067902" y="4212379"/>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9224" y="3899641"/>
            <a:ext cx="1839758" cy="307777"/>
          </a:xfrm>
          <a:prstGeom prst="rect">
            <a:avLst/>
          </a:prstGeom>
          <a:noFill/>
          <a:ln>
            <a:noFill/>
          </a:ln>
        </p:spPr>
        <p:txBody>
          <a:bodyPr rtlCol="0" wrap="square">
            <a:spAutoFit/>
          </a:bodyPr>
          <a:lstStyle/>
          <a:p>
            <a:r>
              <a:rPr dirty="0" lang="en-CA" smtClean="0"/>
              <a:t>ACK=y+1, </a:t>
            </a:r>
            <a:r>
              <a:rPr dirty="0" err="1" lang="en-CA" smtClean="0"/>
              <a:t>seq</a:t>
            </a:r>
            <a:r>
              <a:rPr dirty="0" lang="en-CA" smtClean="0"/>
              <a:t>=x+1</a:t>
            </a:r>
            <a:endParaRPr dirty="0" lang="en-CA"/>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17</a:t>
            </a:fld>
            <a:endParaRPr lang="en-GB"/>
          </a:p>
        </p:txBody>
      </p:sp>
    </p:spTree>
    <p:extLst>
      <p:ext uri="{BB962C8B-B14F-4D97-AF65-F5344CB8AC3E}">
        <p14:creationId xmlns:p14="http://schemas.microsoft.com/office/powerpoint/2010/main" val="1678509097"/>
      </p:ext>
    </p:extLst>
  </p:cSld>
  <p:clrMapOvr>
    <a:masterClrMapping/>
  </p:clrMapOvr>
  <p:timing>
    <p:tnLst>
      <p:par>
        <p:cTn dur="indefinite" id="1" nodeType="tmRoot" restart="never"/>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187615" cy="572700"/>
          </a:xfrm>
          <a:prstGeom prst="rect">
            <a:avLst/>
          </a:prstGeom>
        </p:spPr>
        <p:txBody>
          <a:bodyPr anchor="t" anchorCtr="0" bIns="91425" lIns="91425" rIns="91425" tIns="91425" wrap="square">
            <a:noAutofit/>
          </a:bodyPr>
          <a:lstStyle/>
          <a:p>
            <a:pPr indent="0" lvl="0" marL="0">
              <a:spcBef>
                <a:spcPts val="0"/>
              </a:spcBef>
              <a:buNone/>
            </a:pPr>
            <a:r>
              <a:rPr dirty="0" lang="en-GB" smtClean="0">
                <a:solidFill>
                  <a:srgbClr val="D60000"/>
                </a:solidFill>
              </a:rPr>
              <a:t>If client sends ACK only</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12" name="Straight Arrow Connector 11"/>
          <p:cNvCxnSpPr/>
          <p:nvPr/>
        </p:nvCxnSpPr>
        <p:spPr>
          <a:xfrm>
            <a:off x="1067902" y="4212379"/>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9224" y="3899641"/>
            <a:ext cx="1839758" cy="307777"/>
          </a:xfrm>
          <a:prstGeom prst="rect">
            <a:avLst/>
          </a:prstGeom>
          <a:noFill/>
          <a:ln>
            <a:noFill/>
          </a:ln>
        </p:spPr>
        <p:txBody>
          <a:bodyPr rtlCol="0" wrap="square">
            <a:spAutoFit/>
          </a:bodyPr>
          <a:lstStyle/>
          <a:p>
            <a:r>
              <a:rPr dirty="0" lang="en-CA" smtClean="0"/>
              <a:t>ACK=y+1, </a:t>
            </a:r>
            <a:r>
              <a:rPr dirty="0" err="1" lang="en-CA" smtClean="0"/>
              <a:t>seq</a:t>
            </a:r>
            <a:r>
              <a:rPr dirty="0" lang="en-CA" smtClean="0"/>
              <a:t>=x+1</a:t>
            </a:r>
            <a:endParaRPr dirty="0" lang="en-CA"/>
          </a:p>
        </p:txBody>
      </p:sp>
      <p:sp>
        <p:nvSpPr>
          <p:cNvPr id="15" name="Shape 145"/>
          <p:cNvSpPr txBox="1">
            <a:spLocks/>
          </p:cNvSpPr>
          <p:nvPr/>
        </p:nvSpPr>
        <p:spPr>
          <a:xfrm>
            <a:off x="4996625" y="1682864"/>
            <a:ext cx="4081586" cy="2323528"/>
          </a:xfrm>
          <a:prstGeom prst="rect">
            <a:avLst/>
          </a:prstGeom>
          <a:noFill/>
          <a:ln>
            <a:noFill/>
          </a:ln>
        </p:spPr>
        <p:txBody>
          <a:bodyPr anchor="t" anchorCtr="0" bIns="91425" lIns="91425" rIns="91425" tIns="91425"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chemeClr val="dk1"/>
              </a:buClr>
              <a:buSzPts val="2800"/>
              <a:buNone/>
              <a:defRPr b="0" cap="none" i="0" strike="noStrike" sz="2800" u="none">
                <a:solidFill>
                  <a:schemeClr val="dk1"/>
                </a:solidFill>
                <a:latin typeface="Arial"/>
                <a:ea typeface="Arial"/>
                <a:cs typeface="Arial"/>
                <a:sym typeface="Arial"/>
              </a:defRPr>
            </a:lvl1pPr>
            <a:lvl2pPr lvl="1">
              <a:spcBef>
                <a:spcPts val="0"/>
              </a:spcBef>
              <a:buClr>
                <a:schemeClr val="dk1"/>
              </a:buClr>
              <a:buSzPts val="2800"/>
              <a:buNone/>
              <a:defRPr sz="2800">
                <a:solidFill>
                  <a:schemeClr val="dk1"/>
                </a:solidFill>
              </a:defRPr>
            </a:lvl2pPr>
            <a:lvl3pPr lvl="2">
              <a:spcBef>
                <a:spcPts val="0"/>
              </a:spcBef>
              <a:buClr>
                <a:schemeClr val="dk1"/>
              </a:buClr>
              <a:buSzPts val="2800"/>
              <a:buNone/>
              <a:defRPr sz="2800">
                <a:solidFill>
                  <a:schemeClr val="dk1"/>
                </a:solidFill>
              </a:defRPr>
            </a:lvl3pPr>
            <a:lvl4pPr lvl="3">
              <a:spcBef>
                <a:spcPts val="0"/>
              </a:spcBef>
              <a:buClr>
                <a:schemeClr val="dk1"/>
              </a:buClr>
              <a:buSzPts val="2800"/>
              <a:buNone/>
              <a:defRPr sz="2800">
                <a:solidFill>
                  <a:schemeClr val="dk1"/>
                </a:solidFill>
              </a:defRPr>
            </a:lvl4pPr>
            <a:lvl5pPr lvl="4">
              <a:spcBef>
                <a:spcPts val="0"/>
              </a:spcBef>
              <a:buClr>
                <a:schemeClr val="dk1"/>
              </a:buClr>
              <a:buSzPts val="2800"/>
              <a:buNone/>
              <a:defRPr sz="2800">
                <a:solidFill>
                  <a:schemeClr val="dk1"/>
                </a:solidFill>
              </a:defRPr>
            </a:lvl5pPr>
            <a:lvl6pPr lvl="5">
              <a:spcBef>
                <a:spcPts val="0"/>
              </a:spcBef>
              <a:buClr>
                <a:schemeClr val="dk1"/>
              </a:buClr>
              <a:buSzPts val="2800"/>
              <a:buNone/>
              <a:defRPr sz="2800">
                <a:solidFill>
                  <a:schemeClr val="dk1"/>
                </a:solidFill>
              </a:defRPr>
            </a:lvl6pPr>
            <a:lvl7pPr lvl="6">
              <a:spcBef>
                <a:spcPts val="0"/>
              </a:spcBef>
              <a:buClr>
                <a:schemeClr val="dk1"/>
              </a:buClr>
              <a:buSzPts val="2800"/>
              <a:buNone/>
              <a:defRPr sz="2800">
                <a:solidFill>
                  <a:schemeClr val="dk1"/>
                </a:solidFill>
              </a:defRPr>
            </a:lvl7pPr>
            <a:lvl8pPr lvl="7">
              <a:spcBef>
                <a:spcPts val="0"/>
              </a:spcBef>
              <a:buClr>
                <a:schemeClr val="dk1"/>
              </a:buClr>
              <a:buSzPts val="2800"/>
              <a:buNone/>
              <a:defRPr sz="2800">
                <a:solidFill>
                  <a:schemeClr val="dk1"/>
                </a:solidFill>
              </a:defRPr>
            </a:lvl8pPr>
            <a:lvl9pPr lvl="8">
              <a:spcBef>
                <a:spcPts val="0"/>
              </a:spcBef>
              <a:buClr>
                <a:schemeClr val="dk1"/>
              </a:buClr>
              <a:buSzPts val="2800"/>
              <a:buNone/>
              <a:defRPr sz="2800">
                <a:solidFill>
                  <a:schemeClr val="dk1"/>
                </a:solidFill>
              </a:defRPr>
            </a:lvl9pPr>
          </a:lstStyle>
          <a:p>
            <a:pPr indent="-457200" marL="457200">
              <a:buFont charset="0" panose="020B0604020202020204" pitchFamily="34" typeface="Arial"/>
              <a:buChar char="•"/>
            </a:pPr>
            <a:r>
              <a:rPr dirty="0" lang="en-GB" smtClean="0" sz="2400">
                <a:solidFill>
                  <a:schemeClr val="tx1"/>
                </a:solidFill>
              </a:rPr>
              <a:t>If client sends ACK only, server should accept, because it does not have the (real) client record.</a:t>
            </a:r>
          </a:p>
          <a:p>
            <a:pPr indent="-457200" marL="457200">
              <a:buFont charset="0" panose="020B0604020202020204" pitchFamily="34" typeface="Arial"/>
              <a:buChar char="•"/>
            </a:pPr>
            <a:r>
              <a:rPr b="1" dirty="0" lang="en-GB" smtClean="0" sz="2400">
                <a:solidFill>
                  <a:schemeClr val="tx1"/>
                </a:solidFill>
              </a:rPr>
              <a:t>still vulnerable!</a:t>
            </a:r>
            <a:r>
              <a:rPr dirty="0" lang="en-GB" smtClean="0" sz="2400">
                <a:solidFill>
                  <a:schemeClr val="tx1"/>
                </a:solidFill>
              </a:rPr>
              <a:t> </a:t>
            </a:r>
            <a:endParaRPr dirty="0" lang="en-GB" sz="2400">
              <a:solidFill>
                <a:schemeClr val="tx1"/>
              </a:solidFill>
            </a:endParaRP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18</a:t>
            </a:fld>
            <a:endParaRPr lang="en-GB"/>
          </a:p>
        </p:txBody>
      </p:sp>
    </p:spTree>
    <p:extLst>
      <p:ext uri="{BB962C8B-B14F-4D97-AF65-F5344CB8AC3E}">
        <p14:creationId xmlns:p14="http://schemas.microsoft.com/office/powerpoint/2010/main" val="171973722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5">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15">
                                            <p:txEl>
                                              <p:pRg end="1" st="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smtClean="0"/>
              <a:t>Countermeasure: compute y secretly</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5" name="Straight Arrow Connector 4"/>
          <p:cNvCxnSpPr/>
          <p:nvPr/>
        </p:nvCxnSpPr>
        <p:spPr>
          <a:xfrm>
            <a:off x="1013076" y="2473485"/>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1468" y="2126759"/>
            <a:ext cx="1138066"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=x</a:t>
            </a:r>
            <a:endParaRPr dirty="0" lang="en-CA"/>
          </a:p>
        </p:txBody>
      </p:sp>
      <p:cxnSp>
        <p:nvCxnSpPr>
          <p:cNvPr id="10" name="Straight Arrow Connector 9"/>
          <p:cNvCxnSpPr/>
          <p:nvPr/>
        </p:nvCxnSpPr>
        <p:spPr>
          <a:xfrm>
            <a:off x="1053645" y="3342932"/>
            <a:ext cx="1901163" cy="6578"/>
          </a:xfrm>
          <a:prstGeom prst="straightConnector1">
            <a:avLst/>
          </a:prstGeom>
          <a:ln>
            <a:solidFill>
              <a:schemeClr val="tx1"/>
            </a:solidFill>
            <a:headEnd len="med" type="triangle" w="med"/>
            <a:tailEnd len="med" type="none" w="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9185" y="3030194"/>
            <a:ext cx="2215828" cy="307777"/>
          </a:xfrm>
          <a:prstGeom prst="rect">
            <a:avLst/>
          </a:prstGeom>
          <a:noFill/>
          <a:ln>
            <a:noFill/>
          </a:ln>
        </p:spPr>
        <p:txBody>
          <a:bodyPr rtlCol="0" wrap="square">
            <a:spAutoFit/>
          </a:bodyPr>
          <a:lstStyle/>
          <a:p>
            <a:r>
              <a:rPr dirty="0" lang="en-CA" smtClean="0"/>
              <a:t>SYN </a:t>
            </a:r>
            <a:r>
              <a:rPr dirty="0" err="1" lang="en-CA" smtClean="0"/>
              <a:t>seq</a:t>
            </a:r>
            <a:r>
              <a:rPr dirty="0" lang="en-CA" smtClean="0"/>
              <a:t>=y, ACK=x+1</a:t>
            </a:r>
            <a:endParaRPr dirty="0" lang="en-CA"/>
          </a:p>
        </p:txBody>
      </p:sp>
      <p:cxnSp>
        <p:nvCxnSpPr>
          <p:cNvPr id="12" name="Straight Arrow Connector 11"/>
          <p:cNvCxnSpPr/>
          <p:nvPr/>
        </p:nvCxnSpPr>
        <p:spPr>
          <a:xfrm>
            <a:off x="1067902" y="4212379"/>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9224" y="3899641"/>
            <a:ext cx="1839758" cy="307777"/>
          </a:xfrm>
          <a:prstGeom prst="rect">
            <a:avLst/>
          </a:prstGeom>
          <a:noFill/>
          <a:ln>
            <a:noFill/>
          </a:ln>
        </p:spPr>
        <p:txBody>
          <a:bodyPr rtlCol="0" wrap="square">
            <a:spAutoFit/>
          </a:bodyPr>
          <a:lstStyle/>
          <a:p>
            <a:r>
              <a:rPr dirty="0" lang="en-CA" smtClean="0"/>
              <a:t>ACK=y+1, </a:t>
            </a:r>
            <a:r>
              <a:rPr dirty="0" err="1" lang="en-CA" smtClean="0"/>
              <a:t>seq</a:t>
            </a:r>
            <a:r>
              <a:rPr dirty="0" lang="en-CA" smtClean="0"/>
              <a:t>=x+1</a:t>
            </a:r>
            <a:endParaRPr dirty="0" lang="en-CA"/>
          </a:p>
        </p:txBody>
      </p:sp>
      <p:sp>
        <p:nvSpPr>
          <p:cNvPr id="8" name="Rectangle 7"/>
          <p:cNvSpPr/>
          <p:nvPr/>
        </p:nvSpPr>
        <p:spPr>
          <a:xfrm>
            <a:off x="5775849" y="2033827"/>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p:txBody>
      </p:sp>
      <p:sp>
        <p:nvSpPr>
          <p:cNvPr id="2" name="TextBox 1"/>
          <p:cNvSpPr txBox="1"/>
          <p:nvPr/>
        </p:nvSpPr>
        <p:spPr>
          <a:xfrm>
            <a:off x="4289130" y="2216927"/>
            <a:ext cx="2657680" cy="523220"/>
          </a:xfrm>
          <a:prstGeom prst="rect">
            <a:avLst/>
          </a:prstGeom>
          <a:noFill/>
        </p:spPr>
        <p:txBody>
          <a:bodyPr rtlCol="0" wrap="square">
            <a:spAutoFit/>
          </a:bodyPr>
          <a:lstStyle/>
          <a:p>
            <a:r>
              <a:rPr dirty="0" lang="en-CA" smtClean="0" sz="2800"/>
              <a:t>y=H(K,          )</a:t>
            </a:r>
            <a:endParaRPr dirty="0" lang="en-CA" sz="2800"/>
          </a:p>
        </p:txBody>
      </p:sp>
      <p:sp>
        <p:nvSpPr>
          <p:cNvPr id="26" name="Rectangle 25"/>
          <p:cNvSpPr/>
          <p:nvPr/>
        </p:nvSpPr>
        <p:spPr>
          <a:xfrm>
            <a:off x="4408633" y="3686106"/>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p:txBody>
      </p:sp>
      <p:sp>
        <p:nvSpPr>
          <p:cNvPr id="4" name="TextBox 3"/>
          <p:cNvSpPr txBox="1"/>
          <p:nvPr/>
        </p:nvSpPr>
        <p:spPr>
          <a:xfrm>
            <a:off x="3322100" y="3973364"/>
            <a:ext cx="5756116" cy="307777"/>
          </a:xfrm>
          <a:prstGeom prst="rect">
            <a:avLst/>
          </a:prstGeom>
          <a:noFill/>
        </p:spPr>
        <p:txBody>
          <a:bodyPr rtlCol="0" wrap="square">
            <a:spAutoFit/>
          </a:bodyPr>
          <a:lstStyle/>
          <a:p>
            <a:pPr indent="-285750" marL="285750">
              <a:buFont charset="0" panose="020B0604020202020204" pitchFamily="34" typeface="Arial"/>
              <a:buChar char="•"/>
            </a:pPr>
            <a:r>
              <a:rPr dirty="0" lang="en-CA" smtClean="0"/>
              <a:t>Extract                  from </a:t>
            </a:r>
            <a:r>
              <a:rPr b="1" dirty="0" lang="en-CA" smtClean="0">
                <a:solidFill>
                  <a:srgbClr val="007099"/>
                </a:solidFill>
              </a:rPr>
              <a:t>ACK packet</a:t>
            </a:r>
            <a:r>
              <a:rPr dirty="0" lang="en-CA" smtClean="0"/>
              <a:t>; check y=H(K,              </a:t>
            </a:r>
            <a:r>
              <a:rPr lang="en-CA" smtClean="0"/>
              <a:t>) ?</a:t>
            </a:r>
            <a:endParaRPr dirty="0" lang="en-CA" smtClean="0"/>
          </a:p>
        </p:txBody>
      </p:sp>
      <p:sp>
        <p:nvSpPr>
          <p:cNvPr id="28" name="Rectangle 27"/>
          <p:cNvSpPr/>
          <p:nvPr/>
        </p:nvSpPr>
        <p:spPr>
          <a:xfrm>
            <a:off x="7731823" y="3489851"/>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p:txBody>
      </p:sp>
      <p:cxnSp>
        <p:nvCxnSpPr>
          <p:cNvPr id="25" name="Straight Arrow Connector 24"/>
          <p:cNvCxnSpPr/>
          <p:nvPr/>
        </p:nvCxnSpPr>
        <p:spPr>
          <a:xfrm flipV="1">
            <a:off x="5262734" y="1414360"/>
            <a:ext cx="1078861" cy="802567"/>
          </a:xfrm>
          <a:prstGeom prst="straightConnector1">
            <a:avLst/>
          </a:prstGeom>
          <a:ln w="19050">
            <a:solidFill>
              <a:schemeClr val="tx1"/>
            </a:solidFill>
            <a:prstDash val="dash"/>
            <a:headEnd len="med" type="arrow" w="med"/>
            <a:tailEnd len="med" type="none" w="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394223" y="1276214"/>
            <a:ext cx="1776173" cy="307777"/>
          </a:xfrm>
          <a:prstGeom prst="rect">
            <a:avLst/>
          </a:prstGeom>
          <a:noFill/>
        </p:spPr>
        <p:txBody>
          <a:bodyPr rtlCol="0" wrap="square">
            <a:spAutoFit/>
          </a:bodyPr>
          <a:lstStyle/>
          <a:p>
            <a:r>
              <a:rPr b="1" dirty="0" lang="en-CA" smtClean="0"/>
              <a:t>Server secret</a:t>
            </a:r>
            <a:endParaRPr b="1" dirty="0" lang="en-CA"/>
          </a:p>
        </p:txBody>
      </p:sp>
      <p:sp>
        <p:nvSpPr>
          <p:cNvPr id="9" name="Slide Number Placeholder 8"/>
          <p:cNvSpPr>
            <a:spLocks noGrp="1"/>
          </p:cNvSpPr>
          <p:nvPr>
            <p:ph idx="12" type="sldNum"/>
          </p:nvPr>
        </p:nvSpPr>
        <p:spPr/>
        <p:txBody>
          <a:bodyPr/>
          <a:lstStyle/>
          <a:p>
            <a:pPr indent="0" lvl="0" marL="0">
              <a:spcBef>
                <a:spcPts val="0"/>
              </a:spcBef>
              <a:buNone/>
            </a:pPr>
            <a:fld id="{00000000-1234-1234-1234-123412341234}" type="slidenum">
              <a:rPr lang="en-GB" smtClean="0"/>
              <a:t>19</a:t>
            </a:fld>
            <a:endParaRPr lang="en-GB"/>
          </a:p>
        </p:txBody>
      </p:sp>
    </p:spTree>
    <p:extLst>
      <p:ext uri="{BB962C8B-B14F-4D97-AF65-F5344CB8AC3E}">
        <p14:creationId xmlns:p14="http://schemas.microsoft.com/office/powerpoint/2010/main" val="11124899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0"/>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11"/>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12"/>
                                        </p:tgtEl>
                                        <p:attrNameLst>
                                          <p:attrName>style.visibility</p:attrName>
                                        </p:attrNameLst>
                                      </p:cBhvr>
                                      <p:to>
                                        <p:strVal val="visible"/>
                                      </p:to>
                                    </p:set>
                                  </p:childTnLst>
                                </p:cTn>
                              </p:par>
                              <p:par>
                                <p:cTn fill="hold" grpId="0" id="13" nodeType="withEffect" presetClass="entr" presetID="1" presetSubtype="0">
                                  <p:stCondLst>
                                    <p:cond delay="0"/>
                                  </p:stCondLst>
                                  <p:childTnLst>
                                    <p:set>
                                      <p:cBhvr>
                                        <p:cTn dur="1" fill="hold" id="14">
                                          <p:stCondLst>
                                            <p:cond delay="0"/>
                                          </p:stCondLst>
                                        </p:cTn>
                                        <p:tgtEl>
                                          <p:spTgt spid="13"/>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4">
                                            <p:txEl>
                                              <p:pRg end="0" st="0"/>
                                            </p:txEl>
                                          </p:spTgt>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26"/>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2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1"/>
      <p:bldP grpId="0" spid="13"/>
      <p:bldP animBg="1" grpId="0" spid="26"/>
      <p:bldP animBg="1" grpId="0" spid="28"/>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smtClean="0"/>
              <a:t>Attacker can not succeed</a:t>
            </a:r>
            <a:endParaRPr dirty="0" lang="en-GB"/>
          </a:p>
        </p:txBody>
      </p:sp>
      <p:sp>
        <p:nvSpPr>
          <p:cNvPr id="3" name="Rectangle 2"/>
          <p:cNvSpPr/>
          <p:nvPr/>
        </p:nvSpPr>
        <p:spPr>
          <a:xfrm>
            <a:off x="390641" y="1355154"/>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Client</a:t>
            </a:r>
            <a:endParaRPr b="1" dirty="0" lang="en-CA">
              <a:solidFill>
                <a:schemeClr val="tx1"/>
              </a:solidFill>
            </a:endParaRPr>
          </a:p>
        </p:txBody>
      </p:sp>
      <p:sp>
        <p:nvSpPr>
          <p:cNvPr id="6" name="Rectangle 5"/>
          <p:cNvSpPr/>
          <p:nvPr/>
        </p:nvSpPr>
        <p:spPr>
          <a:xfrm>
            <a:off x="2674445" y="1343100"/>
            <a:ext cx="990827" cy="4341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CA" smtClean="0">
                <a:solidFill>
                  <a:schemeClr val="tx1"/>
                </a:solidFill>
              </a:rPr>
              <a:t>Server</a:t>
            </a:r>
            <a:endParaRPr b="1" dirty="0" lang="en-CA">
              <a:solidFill>
                <a:schemeClr val="tx1"/>
              </a:solidFill>
            </a:endParaRPr>
          </a:p>
        </p:txBody>
      </p:sp>
      <p:cxnSp>
        <p:nvCxnSpPr>
          <p:cNvPr id="12" name="Straight Arrow Connector 11"/>
          <p:cNvCxnSpPr/>
          <p:nvPr/>
        </p:nvCxnSpPr>
        <p:spPr>
          <a:xfrm>
            <a:off x="1067902" y="4212379"/>
            <a:ext cx="1901163" cy="65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9224" y="3899641"/>
            <a:ext cx="1839758" cy="307777"/>
          </a:xfrm>
          <a:prstGeom prst="rect">
            <a:avLst/>
          </a:prstGeom>
          <a:noFill/>
          <a:ln>
            <a:noFill/>
          </a:ln>
        </p:spPr>
        <p:txBody>
          <a:bodyPr rtlCol="0" wrap="square">
            <a:spAutoFit/>
          </a:bodyPr>
          <a:lstStyle/>
          <a:p>
            <a:r>
              <a:rPr dirty="0" lang="en-CA" smtClean="0"/>
              <a:t>ACK=y+1, </a:t>
            </a:r>
            <a:r>
              <a:rPr dirty="0" err="1" lang="en-CA" smtClean="0"/>
              <a:t>seq</a:t>
            </a:r>
            <a:r>
              <a:rPr dirty="0" lang="en-CA" smtClean="0"/>
              <a:t>=x+1</a:t>
            </a:r>
            <a:endParaRPr dirty="0" lang="en-CA"/>
          </a:p>
        </p:txBody>
      </p:sp>
      <p:sp>
        <p:nvSpPr>
          <p:cNvPr id="4" name="TextBox 3"/>
          <p:cNvSpPr txBox="1"/>
          <p:nvPr/>
        </p:nvSpPr>
        <p:spPr>
          <a:xfrm>
            <a:off x="3303247" y="3238659"/>
            <a:ext cx="5756116" cy="1169551"/>
          </a:xfrm>
          <a:prstGeom prst="rect">
            <a:avLst/>
          </a:prstGeom>
          <a:noFill/>
        </p:spPr>
        <p:txBody>
          <a:bodyPr rtlCol="0" wrap="square">
            <a:spAutoFit/>
          </a:bodyPr>
          <a:lstStyle/>
          <a:p>
            <a:pPr indent="-285750" marL="285750">
              <a:buFont charset="0" panose="020B0604020202020204" pitchFamily="34" typeface="Arial"/>
              <a:buChar char="•"/>
            </a:pPr>
            <a:r>
              <a:rPr dirty="0" lang="en-CA" smtClean="0"/>
              <a:t>To succeed, attacker needs to achieve        y=H(K,              ) ?</a:t>
            </a:r>
          </a:p>
          <a:p>
            <a:pPr indent="-285750" marL="285750">
              <a:buFont charset="0" panose="020B0604020202020204" pitchFamily="34" typeface="Arial"/>
              <a:buChar char="•"/>
            </a:pPr>
            <a:endParaRPr dirty="0" lang="en-CA"/>
          </a:p>
          <a:p>
            <a:pPr indent="-285750" marL="285750">
              <a:buFont charset="0" panose="020B0604020202020204" pitchFamily="34" typeface="Arial"/>
              <a:buChar char="•"/>
            </a:pPr>
            <a:endParaRPr dirty="0" lang="en-CA" smtClean="0"/>
          </a:p>
          <a:p>
            <a:pPr indent="-285750" marL="285750">
              <a:buFont charset="0" panose="020B0604020202020204" pitchFamily="34" typeface="Arial"/>
              <a:buChar char="•"/>
            </a:pPr>
            <a:endParaRPr dirty="0" lang="en-CA"/>
          </a:p>
          <a:p>
            <a:pPr indent="-285750" marL="285750">
              <a:buFont charset="0" panose="020B0604020202020204" pitchFamily="34" typeface="Arial"/>
              <a:buChar char="•"/>
            </a:pPr>
            <a:r>
              <a:rPr dirty="0" lang="en-CA" smtClean="0"/>
              <a:t> But </a:t>
            </a:r>
            <a:r>
              <a:rPr lang="en-CA" smtClean="0"/>
              <a:t>he does </a:t>
            </a:r>
            <a:r>
              <a:rPr dirty="0" lang="en-CA" smtClean="0"/>
              <a:t>not have K and so can not compute y.   </a:t>
            </a:r>
          </a:p>
        </p:txBody>
      </p:sp>
      <p:sp>
        <p:nvSpPr>
          <p:cNvPr id="28" name="Rectangle 27"/>
          <p:cNvSpPr/>
          <p:nvPr/>
        </p:nvSpPr>
        <p:spPr>
          <a:xfrm>
            <a:off x="7739151" y="2754561"/>
            <a:ext cx="565746" cy="985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err="1" lang="en-CA" smtClean="0" sz="1100">
                <a:solidFill>
                  <a:schemeClr val="tx1"/>
                </a:solidFill>
              </a:rPr>
              <a:t>sIP</a:t>
            </a:r>
            <a:endParaRPr dirty="0" lang="en-CA" smtClean="0" sz="1100">
              <a:solidFill>
                <a:schemeClr val="tx1"/>
              </a:solidFill>
            </a:endParaRPr>
          </a:p>
          <a:p>
            <a:pPr algn="ctr"/>
            <a:r>
              <a:rPr dirty="0" err="1" lang="en-CA" smtClean="0" sz="1100">
                <a:solidFill>
                  <a:schemeClr val="tx1"/>
                </a:solidFill>
              </a:rPr>
              <a:t>dIP</a:t>
            </a:r>
            <a:endParaRPr dirty="0" lang="en-CA" smtClean="0" sz="1100">
              <a:solidFill>
                <a:schemeClr val="tx1"/>
              </a:solidFill>
            </a:endParaRPr>
          </a:p>
          <a:p>
            <a:pPr algn="ctr"/>
            <a:r>
              <a:rPr dirty="0" lang="en-CA" smtClean="0" sz="1100">
                <a:solidFill>
                  <a:schemeClr val="tx1"/>
                </a:solidFill>
              </a:rPr>
              <a:t>sport</a:t>
            </a:r>
          </a:p>
          <a:p>
            <a:pPr algn="ctr"/>
            <a:r>
              <a:rPr dirty="0" err="1" lang="en-CA" smtClean="0" sz="1100">
                <a:solidFill>
                  <a:schemeClr val="tx1"/>
                </a:solidFill>
              </a:rPr>
              <a:t>dport</a:t>
            </a:r>
            <a:endParaRPr dirty="0" lang="en-CA" smtClean="0" sz="1100">
              <a:solidFill>
                <a:schemeClr val="tx1"/>
              </a:solidFill>
            </a:endParaRPr>
          </a:p>
          <a:p>
            <a:pPr algn="ctr"/>
            <a:r>
              <a:rPr dirty="0" lang="en-CA" smtClean="0" sz="1100">
                <a:solidFill>
                  <a:schemeClr val="tx1"/>
                </a:solidFill>
              </a:rPr>
              <a:t>x</a:t>
            </a:r>
          </a:p>
        </p:txBody>
      </p:sp>
      <p:sp>
        <p:nvSpPr>
          <p:cNvPr id="2" name="Slide Number Placeholder 1"/>
          <p:cNvSpPr>
            <a:spLocks noGrp="1"/>
          </p:cNvSpPr>
          <p:nvPr>
            <p:ph idx="12" type="sldNum"/>
          </p:nvPr>
        </p:nvSpPr>
        <p:spPr/>
        <p:txBody>
          <a:bodyPr/>
          <a:lstStyle/>
          <a:p>
            <a:pPr indent="0" lvl="0" marL="0">
              <a:spcBef>
                <a:spcPts val="0"/>
              </a:spcBef>
              <a:buNone/>
            </a:pPr>
            <a:fld id="{00000000-1234-1234-1234-123412341234}" type="slidenum">
              <a:rPr lang="en-GB" smtClean="0"/>
              <a:t>20</a:t>
            </a:fld>
            <a:endParaRPr lang="en-GB"/>
          </a:p>
        </p:txBody>
      </p:sp>
    </p:spTree>
    <p:extLst>
      <p:ext uri="{BB962C8B-B14F-4D97-AF65-F5344CB8AC3E}">
        <p14:creationId xmlns:p14="http://schemas.microsoft.com/office/powerpoint/2010/main" val="175454126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4">
                                            <p:txEl>
                                              <p:pRg end="0" st="0"/>
                                            </p:txEl>
                                          </p:spTgt>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28"/>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4">
                                            <p:txEl>
                                              <p:pRg end="4" st="4"/>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28"/>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a:t>TCP Reset Attack</a:t>
            </a:r>
          </a:p>
        </p:txBody>
      </p:sp>
      <p:sp>
        <p:nvSpPr>
          <p:cNvPr id="220" name="Shape 220"/>
          <p:cNvSpPr txBox="1">
            <a:spLocks noGrp="1"/>
          </p:cNvSpPr>
          <p:nvPr>
            <p:ph idx="1" type="body"/>
          </p:nvPr>
        </p:nvSpPr>
        <p:spPr>
          <a:xfrm>
            <a:off x="4048500" y="1097000"/>
            <a:ext cx="4783800" cy="3917100"/>
          </a:xfrm>
          <a:prstGeom prst="rect">
            <a:avLst/>
          </a:prstGeom>
        </p:spPr>
        <p:txBody>
          <a:bodyPr anchor="t" anchorCtr="0" bIns="91425" lIns="91425" rIns="91425" tIns="91425" wrap="square">
            <a:noAutofit/>
          </a:bodyPr>
          <a:lstStyle/>
          <a:p>
            <a:pPr indent="0" lvl="0" marL="0">
              <a:spcBef>
                <a:spcPts val="0"/>
              </a:spcBef>
              <a:buNone/>
            </a:pPr>
            <a:r>
              <a:rPr dirty="0" lang="en-GB" u="sng">
                <a:solidFill>
                  <a:srgbClr val="000000"/>
                </a:solidFill>
              </a:rPr>
              <a:t>To disconnect a TCP connection :</a:t>
            </a:r>
          </a:p>
          <a:p>
            <a:pPr indent="-342900" lvl="0" marL="457200">
              <a:spcBef>
                <a:spcPts val="0"/>
              </a:spcBef>
              <a:spcAft>
                <a:spcPts val="0"/>
              </a:spcAft>
              <a:buClr>
                <a:srgbClr val="000000"/>
              </a:buClr>
              <a:buSzPts val="1800"/>
              <a:buChar char="●"/>
            </a:pPr>
            <a:r>
              <a:rPr dirty="0" lang="en-GB">
                <a:solidFill>
                  <a:srgbClr val="000000"/>
                </a:solidFill>
              </a:rPr>
              <a:t>A sends out a “FIN” packet to B.</a:t>
            </a:r>
          </a:p>
          <a:p>
            <a:pPr indent="-342900" lvl="0" marL="457200">
              <a:spcBef>
                <a:spcPts val="0"/>
              </a:spcBef>
              <a:spcAft>
                <a:spcPts val="0"/>
              </a:spcAft>
              <a:buClr>
                <a:srgbClr val="000000"/>
              </a:buClr>
              <a:buSzPts val="1800"/>
              <a:buChar char="●"/>
            </a:pPr>
            <a:r>
              <a:rPr dirty="0" lang="en-GB">
                <a:solidFill>
                  <a:srgbClr val="000000"/>
                </a:solidFill>
              </a:rPr>
              <a:t>B replies with an “ACK” packet. This closes the A-to-B communication.</a:t>
            </a:r>
          </a:p>
          <a:p>
            <a:pPr indent="-342900" lvl="0" marL="457200" rtl="0">
              <a:spcBef>
                <a:spcPts val="0"/>
              </a:spcBef>
              <a:buClr>
                <a:srgbClr val="000000"/>
              </a:buClr>
              <a:buSzPts val="1800"/>
              <a:buChar char="●"/>
            </a:pPr>
            <a:r>
              <a:rPr dirty="0" lang="en-GB">
                <a:solidFill>
                  <a:srgbClr val="000000"/>
                </a:solidFill>
              </a:rPr>
              <a:t>Now, B sends a “FIN” packet to A and A replies with “ACK”.</a:t>
            </a:r>
          </a:p>
          <a:p>
            <a:pPr indent="0" lvl="0" marL="0" rtl="0">
              <a:spcBef>
                <a:spcPts val="0"/>
              </a:spcBef>
              <a:buNone/>
            </a:pPr>
            <a:r>
              <a:rPr dirty="0" lang="en-GB" u="sng">
                <a:solidFill>
                  <a:srgbClr val="000000"/>
                </a:solidFill>
              </a:rPr>
              <a:t>Using Reset flag :</a:t>
            </a:r>
          </a:p>
          <a:p>
            <a:pPr indent="-285750" marL="285750"/>
            <a:r>
              <a:rPr dirty="0" lang="en-GB">
                <a:solidFill>
                  <a:srgbClr val="000000"/>
                </a:solidFill>
              </a:rPr>
              <a:t>One of the parties sends RST packet to immediately break the connection.</a:t>
            </a:r>
          </a:p>
        </p:txBody>
      </p:sp>
      <p:pic>
        <p:nvPicPr>
          <p:cNvPr id="221" name="Shape 221" descr="A diagram showing the TCP connection termination process between two parties, A and B, with four arrows labeled FIN seq=x, ACK x+1, FIN seq=y, and ACK y+1."/>
          <p:cNvPicPr preferRelativeResize="0"/>
          <p:nvPr/>
        </p:nvPicPr>
        <p:blipFill>
          <a:blip r:embed="rId3">
            <a:alphaModFix/>
          </a:blip>
          <a:stretch>
            <a:fillRect/>
          </a:stretch>
        </p:blipFill>
        <p:spPr>
          <a:xfrm>
            <a:off x="311700" y="1197850"/>
            <a:ext cx="3657600" cy="3467100"/>
          </a:xfrm>
          <a:prstGeom prst="rect">
            <a:avLst/>
          </a:prstGeom>
          <a:noFill/>
          <a:ln>
            <a:noFill/>
          </a:ln>
        </p:spPr>
      </p:pic>
    </p:spTree>
  </p:cSld>
  <p:clrMapOvr>
    <a:masterClrMapping/>
  </p:clrMapOvr>
  <p:timing>
    <p:tnLst>
      <p:par>
        <p:cTn dur="indefinite" id="1" nodeType="tmRoot" restart="never"/>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dirty="0" lang="en-GB"/>
              <a:t>TCP Reset Attack</a:t>
            </a:r>
          </a:p>
        </p:txBody>
      </p:sp>
      <p:sp>
        <p:nvSpPr>
          <p:cNvPr id="227" name="Shape 227"/>
          <p:cNvSpPr txBox="1">
            <a:spLocks noGrp="1"/>
          </p:cNvSpPr>
          <p:nvPr>
            <p:ph idx="1" type="body"/>
          </p:nvPr>
        </p:nvSpPr>
        <p:spPr>
          <a:xfrm>
            <a:off x="311700" y="2684207"/>
            <a:ext cx="8520675" cy="2119683"/>
          </a:xfrm>
          <a:prstGeom prst="rect">
            <a:avLst/>
          </a:prstGeom>
        </p:spPr>
        <p:txBody>
          <a:bodyPr anchor="t" anchorCtr="0" bIns="91425" lIns="91425" rIns="91425" tIns="91425" wrap="square">
            <a:noAutofit/>
          </a:bodyPr>
          <a:lstStyle/>
          <a:p>
            <a:pPr indent="0" lvl="0" marL="0">
              <a:spcBef>
                <a:spcPts val="0"/>
              </a:spcBef>
              <a:buNone/>
            </a:pPr>
            <a:r>
              <a:rPr b="1" dirty="0" lang="en-GB">
                <a:solidFill>
                  <a:srgbClr val="000000"/>
                </a:solidFill>
              </a:rPr>
              <a:t>Goal:</a:t>
            </a:r>
            <a:r>
              <a:rPr dirty="0" lang="en-GB">
                <a:solidFill>
                  <a:srgbClr val="000000"/>
                </a:solidFill>
              </a:rPr>
              <a:t> To break up a TCP connection between A and B.</a:t>
            </a:r>
          </a:p>
          <a:p>
            <a:pPr indent="0" lvl="0" marL="0">
              <a:spcBef>
                <a:spcPts val="0"/>
              </a:spcBef>
              <a:spcAft>
                <a:spcPts val="0"/>
              </a:spcAft>
              <a:buNone/>
            </a:pPr>
            <a:r>
              <a:rPr b="1" dirty="0" lang="en-GB">
                <a:solidFill>
                  <a:srgbClr val="000000"/>
                </a:solidFill>
              </a:rPr>
              <a:t>Spoofed RST Packet: </a:t>
            </a:r>
            <a:r>
              <a:rPr dirty="0" lang="en-GB">
                <a:solidFill>
                  <a:srgbClr val="000000"/>
                </a:solidFill>
              </a:rPr>
              <a:t>The following fields need to be set correctly:</a:t>
            </a:r>
          </a:p>
          <a:p>
            <a:pPr indent="-285750" marL="576263">
              <a:spcAft>
                <a:spcPts val="0"/>
              </a:spcAft>
            </a:pPr>
            <a:r>
              <a:rPr dirty="0" lang="en-GB" sz="1600">
                <a:solidFill>
                  <a:srgbClr val="000000"/>
                </a:solidFill>
              </a:rPr>
              <a:t>Source IP address, Source Port, </a:t>
            </a:r>
          </a:p>
          <a:p>
            <a:pPr indent="-285750" marL="576263">
              <a:spcAft>
                <a:spcPts val="0"/>
              </a:spcAft>
            </a:pPr>
            <a:r>
              <a:rPr dirty="0" lang="en-GB" sz="1600">
                <a:solidFill>
                  <a:srgbClr val="000000"/>
                </a:solidFill>
              </a:rPr>
              <a:t>Destination IP address, Destination Port</a:t>
            </a:r>
          </a:p>
          <a:p>
            <a:pPr indent="-285750" marL="576263">
              <a:spcAft>
                <a:spcPts val="0"/>
              </a:spcAft>
            </a:pPr>
            <a:r>
              <a:rPr dirty="0" lang="en-GB" sz="1600">
                <a:solidFill>
                  <a:srgbClr val="000000"/>
                </a:solidFill>
              </a:rPr>
              <a:t>Sequence number</a:t>
            </a:r>
          </a:p>
        </p:txBody>
      </p:sp>
      <p:pic>
        <p:nvPicPr>
          <p:cNvPr id="228" name="Shape 228" descr="&quot;Diagram showing a TCP connection between Host B (IP: 10.2.2.200, Port: 22222) and Host A (IP: 10.1.1.100, Port: 11111), with an attacker injecting a spoofed RST packet to disrupt the connection.&quot;"/>
          <p:cNvPicPr preferRelativeResize="0"/>
          <p:nvPr/>
        </p:nvPicPr>
        <p:blipFill>
          <a:blip r:embed="rId3">
            <a:alphaModFix/>
          </a:blip>
          <a:stretch>
            <a:fillRect/>
          </a:stretch>
        </p:blipFill>
        <p:spPr>
          <a:xfrm>
            <a:off x="1963308" y="1212183"/>
            <a:ext cx="4546501" cy="1446625"/>
          </a:xfrm>
          <a:prstGeom prst="rect">
            <a:avLst/>
          </a:prstGeom>
          <a:noFill/>
          <a:ln>
            <a:noFill/>
          </a:ln>
        </p:spPr>
      </p:pic>
    </p:spTree>
  </p:cSld>
  <p:clrMapOvr>
    <a:masterClrMapping/>
  </p:clrMapOvr>
  <p:timing>
    <p:tnLst>
      <p:par>
        <p:cTn dur="indefinite" id="1" nodeType="tmRoot" restart="never"/>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TCP Reset </a:t>
            </a:r>
            <a:r>
              <a:rPr dirty="0" lang="en-GB" smtClean="0"/>
              <a:t>Attack: Automatic Python Program</a:t>
            </a:r>
            <a:endParaRPr dirty="0" lang="en-GB"/>
          </a:p>
        </p:txBody>
      </p:sp>
      <p:pic>
        <p:nvPicPr>
          <p:cNvPr id="2" name="Picture 1" descr="A Python script using Scapy to perform a TCP RESET attack, including code to spoof TCP packets by reversing source and destination IP and ports, and applying a packet filter for traffic on source port 23 between specified client and server addresses.  "/>
          <p:cNvPicPr>
            <a:picLocks noChangeAspect="1"/>
          </p:cNvPicPr>
          <p:nvPr/>
        </p:nvPicPr>
        <p:blipFill>
          <a:blip r:embed="rId3"/>
          <a:stretch>
            <a:fillRect/>
          </a:stretch>
        </p:blipFill>
        <p:spPr>
          <a:xfrm>
            <a:off x="385600" y="1017725"/>
            <a:ext cx="8049732" cy="4077795"/>
          </a:xfrm>
          <a:prstGeom prst="rect">
            <a:avLst/>
          </a:prstGeom>
        </p:spPr>
      </p:pic>
    </p:spTree>
    <p:extLst>
      <p:ext uri="{BB962C8B-B14F-4D97-AF65-F5344CB8AC3E}">
        <p14:creationId xmlns:p14="http://schemas.microsoft.com/office/powerpoint/2010/main" val="2447019981"/>
      </p:ext>
    </p:extLst>
  </p:cSld>
  <p:clrMapOvr>
    <a:masterClrMapping/>
  </p:clrMapOvr>
  <p:timing>
    <p:tnLst>
      <p:par>
        <p:cTn dur="indefinite" id="1" nodeType="tmRoot" restart="never"/>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Shape 272"/>
        <p:cNvGrpSpPr/>
        <p:nvPr/>
      </p:nvGrpSpPr>
      <p:grpSpPr>
        <a:xfrm>
          <a:off x="0" y="0"/>
          <a:ext cx="0" cy="0"/>
          <a:chOff x="0" y="0"/>
          <a:chExt cx="0" cy="0"/>
        </a:xfrm>
      </p:grpSpPr>
      <p:sp>
        <p:nvSpPr>
          <p:cNvPr id="273" name="Shape 273"/>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0" lvl="0" marL="0">
              <a:spcBef>
                <a:spcPts val="0"/>
              </a:spcBef>
              <a:buNone/>
            </a:pPr>
            <a:r>
              <a:rPr lang="en-GB"/>
              <a:t>TCP Session Hijacking Attack</a:t>
            </a:r>
          </a:p>
        </p:txBody>
      </p:sp>
      <p:sp>
        <p:nvSpPr>
          <p:cNvPr id="274" name="Shape 274"/>
          <p:cNvSpPr txBox="1">
            <a:spLocks noGrp="1"/>
          </p:cNvSpPr>
          <p:nvPr>
            <p:ph idx="1" type="body"/>
          </p:nvPr>
        </p:nvSpPr>
        <p:spPr>
          <a:xfrm>
            <a:off x="562342" y="2873667"/>
            <a:ext cx="7794258" cy="1732200"/>
          </a:xfrm>
          <a:prstGeom prst="rect">
            <a:avLst/>
          </a:prstGeom>
        </p:spPr>
        <p:txBody>
          <a:bodyPr anchor="t" anchorCtr="0" bIns="91425" lIns="91425" rIns="91425" tIns="91425" wrap="square">
            <a:noAutofit/>
          </a:bodyPr>
          <a:lstStyle/>
          <a:p>
            <a:pPr indent="0" lvl="0" marL="0">
              <a:spcBef>
                <a:spcPts val="0"/>
              </a:spcBef>
              <a:buNone/>
            </a:pPr>
            <a:r>
              <a:rPr b="1" dirty="0" lang="en-GB">
                <a:solidFill>
                  <a:srgbClr val="000000"/>
                </a:solidFill>
              </a:rPr>
              <a:t>Goal:</a:t>
            </a:r>
            <a:r>
              <a:rPr dirty="0" lang="en-GB">
                <a:solidFill>
                  <a:srgbClr val="000000"/>
                </a:solidFill>
              </a:rPr>
              <a:t> To inject data in an established connection.</a:t>
            </a:r>
          </a:p>
          <a:p>
            <a:pPr lvl="0">
              <a:spcAft>
                <a:spcPts val="0"/>
              </a:spcAft>
              <a:buNone/>
            </a:pPr>
            <a:r>
              <a:rPr b="1" dirty="0" lang="en-GB">
                <a:solidFill>
                  <a:srgbClr val="000000"/>
                </a:solidFill>
              </a:rPr>
              <a:t>Spoofed TCP Packet: </a:t>
            </a:r>
            <a:r>
              <a:rPr dirty="0" lang="en-GB">
                <a:solidFill>
                  <a:srgbClr val="000000"/>
                </a:solidFill>
              </a:rPr>
              <a:t>The following fields need to be set correctly:</a:t>
            </a:r>
          </a:p>
          <a:p>
            <a:pPr indent="-285750" marL="576263">
              <a:spcAft>
                <a:spcPts val="0"/>
              </a:spcAft>
            </a:pPr>
            <a:r>
              <a:rPr dirty="0" lang="en-GB" sz="1600">
                <a:solidFill>
                  <a:srgbClr val="000000"/>
                </a:solidFill>
              </a:rPr>
              <a:t>Source IP address, Source Port, </a:t>
            </a:r>
          </a:p>
          <a:p>
            <a:pPr indent="-285750" marL="576263">
              <a:spcAft>
                <a:spcPts val="0"/>
              </a:spcAft>
            </a:pPr>
            <a:r>
              <a:rPr dirty="0" lang="en-GB" sz="1600">
                <a:solidFill>
                  <a:srgbClr val="000000"/>
                </a:solidFill>
              </a:rPr>
              <a:t>Destination IP address, Destination Port</a:t>
            </a:r>
          </a:p>
          <a:p>
            <a:pPr indent="-285750" marL="576263">
              <a:spcAft>
                <a:spcPts val="0"/>
              </a:spcAft>
            </a:pPr>
            <a:r>
              <a:rPr dirty="0" lang="en-GB" sz="1600">
                <a:solidFill>
                  <a:srgbClr val="000000"/>
                </a:solidFill>
              </a:rPr>
              <a:t>Sequence number (within the receiver’s window)</a:t>
            </a:r>
          </a:p>
          <a:p>
            <a:pPr indent="-69850" lvl="0" marL="0">
              <a:spcBef>
                <a:spcPts val="0"/>
              </a:spcBef>
              <a:buClr>
                <a:schemeClr val="dk1"/>
              </a:buClr>
              <a:buSzPts val="1100"/>
              <a:buFont typeface="Arial"/>
              <a:buNone/>
            </a:pPr>
            <a:endParaRPr dirty="0" lang="en-GB">
              <a:solidFill>
                <a:schemeClr val="dk1"/>
              </a:solidFill>
            </a:endParaRPr>
          </a:p>
          <a:p>
            <a:pPr indent="0" lvl="0" marL="0">
              <a:spcBef>
                <a:spcPts val="0"/>
              </a:spcBef>
              <a:buNone/>
            </a:pPr>
            <a:endParaRPr dirty="0"/>
          </a:p>
        </p:txBody>
      </p:sp>
      <p:pic>
        <p:nvPicPr>
          <p:cNvPr descr="Screen Clipping"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803" y="1195061"/>
            <a:ext cx="6980525" cy="1501270"/>
          </a:xfrm>
          <a:prstGeom prst="rect">
            <a:avLst/>
          </a:prstGeom>
        </p:spPr>
      </p:pic>
    </p:spTree>
  </p:cSld>
  <p:clrMapOvr>
    <a:masterClrMapping/>
  </p:clrMapOvr>
  <p:timing>
    <p:tnLst>
      <p:par>
        <p:cTn dur="indefinite" id="1" nodeType="tmRoot" restart="never"/>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Shape 280"/>
        <p:cNvGrpSpPr/>
        <p:nvPr/>
      </p:nvGrpSpPr>
      <p:grpSpPr>
        <a:xfrm>
          <a:off x="0" y="0"/>
          <a:ext cx="0" cy="0"/>
          <a:chOff x="0" y="0"/>
          <a:chExt cx="0" cy="0"/>
        </a:xfrm>
      </p:grpSpPr>
      <p:sp>
        <p:nvSpPr>
          <p:cNvPr id="281" name="Shape 281"/>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TCP Session Hijacking Attack: Sequence Number</a:t>
            </a:r>
          </a:p>
        </p:txBody>
      </p:sp>
      <p:sp>
        <p:nvSpPr>
          <p:cNvPr id="282" name="Shape 282"/>
          <p:cNvSpPr txBox="1">
            <a:spLocks noGrp="1"/>
          </p:cNvSpPr>
          <p:nvPr>
            <p:ph idx="1" type="body"/>
          </p:nvPr>
        </p:nvSpPr>
        <p:spPr>
          <a:xfrm>
            <a:off x="311700" y="1152476"/>
            <a:ext cx="8520600" cy="2056392"/>
          </a:xfrm>
          <a:prstGeom prst="rect">
            <a:avLst/>
          </a:prstGeom>
        </p:spPr>
        <p:txBody>
          <a:bodyPr anchor="t" anchorCtr="0" bIns="91425" lIns="91425" rIns="91425" tIns="91425" wrap="square">
            <a:noAutofit/>
          </a:bodyPr>
          <a:lstStyle/>
          <a:p>
            <a:pPr indent="-342900" lvl="0" marL="457200">
              <a:spcBef>
                <a:spcPts val="0"/>
              </a:spcBef>
              <a:spcAft>
                <a:spcPts val="0"/>
              </a:spcAft>
              <a:buClr>
                <a:srgbClr val="000000"/>
              </a:buClr>
              <a:buSzPts val="1800"/>
              <a:buChar char="●"/>
            </a:pPr>
            <a:r>
              <a:rPr dirty="0" lang="en-GB">
                <a:solidFill>
                  <a:srgbClr val="000000"/>
                </a:solidFill>
              </a:rPr>
              <a:t>If the receiver has already received some data up to the sequence number x, the next sequence number is x+1. If the spoofed packet uses sequence number as x+𝛿, it becomes out of order.</a:t>
            </a:r>
          </a:p>
          <a:p>
            <a:pPr indent="-342900" lvl="0" marL="457200">
              <a:spcBef>
                <a:spcPts val="0"/>
              </a:spcBef>
              <a:buClr>
                <a:srgbClr val="000000"/>
              </a:buClr>
              <a:buSzPts val="1800"/>
              <a:buChar char="●"/>
            </a:pPr>
            <a:r>
              <a:rPr dirty="0" lang="en-GB">
                <a:solidFill>
                  <a:srgbClr val="000000"/>
                </a:solidFill>
              </a:rPr>
              <a:t>The data in this packet will be stored in the receiver’s buffer at position x+𝛿, leaving 𝛿 spaces (having no effect). If 𝛿 is large, it may fall out of the boundary (i.e., larger than </a:t>
            </a:r>
            <a:r>
              <a:rPr dirty="0" lang="en-GB">
                <a:solidFill>
                  <a:srgbClr val="000000"/>
                </a:solidFill>
                <a:highlight>
                  <a:srgbClr val="FFFF00"/>
                </a:highlight>
              </a:rPr>
              <a:t>receive window</a:t>
            </a:r>
            <a:r>
              <a:rPr dirty="0" lang="en-GB">
                <a:solidFill>
                  <a:srgbClr val="000000"/>
                </a:solidFill>
              </a:rPr>
              <a:t>).</a:t>
            </a:r>
          </a:p>
        </p:txBody>
      </p:sp>
      <p:pic>
        <p:nvPicPr>
          <p:cNvPr id="4" name="Shape 276" descr="&quot;Diagram of a data stream with a colored progress bar showing 'Data already arrived' in blue, 'Data not arrived yet' in white, and 'Injected data' in grey, marked with positions x+1 and x+δ.&quot;"/>
          <p:cNvPicPr preferRelativeResize="0"/>
          <p:nvPr/>
        </p:nvPicPr>
        <p:blipFill>
          <a:blip r:embed="rId3">
            <a:alphaModFix/>
          </a:blip>
          <a:stretch>
            <a:fillRect/>
          </a:stretch>
        </p:blipFill>
        <p:spPr>
          <a:xfrm>
            <a:off x="1550016" y="3064935"/>
            <a:ext cx="6400183" cy="1481665"/>
          </a:xfrm>
          <a:prstGeom prst="rect">
            <a:avLst/>
          </a:prstGeom>
          <a:noFill/>
          <a:ln>
            <a:noFill/>
          </a:ln>
        </p:spPr>
      </p:pic>
    </p:spTree>
  </p:cSld>
  <p:clrMapOvr>
    <a:masterClrMapping/>
  </p:clrMapOvr>
  <p:timing>
    <p:tnLst>
      <p:par>
        <p:cTn dur="indefinite" id="1" nodeType="tmRoot" restart="never"/>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Shape 286"/>
        <p:cNvGrpSpPr/>
        <p:nvPr/>
      </p:nvGrpSpPr>
      <p:grpSpPr>
        <a:xfrm>
          <a:off x="0" y="0"/>
          <a:ext cx="0" cy="0"/>
          <a:chOff x="0" y="0"/>
          <a:chExt cx="0" cy="0"/>
        </a:xfrm>
      </p:grpSpPr>
      <p:sp>
        <p:nvSpPr>
          <p:cNvPr id="287" name="Shape 287"/>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Hijacking a Telnet Connection</a:t>
            </a:r>
          </a:p>
        </p:txBody>
      </p:sp>
      <p:sp>
        <p:nvSpPr>
          <p:cNvPr id="288" name="Shape 288"/>
          <p:cNvSpPr txBox="1">
            <a:spLocks noGrp="1"/>
          </p:cNvSpPr>
          <p:nvPr>
            <p:ph idx="1" type="body"/>
          </p:nvPr>
        </p:nvSpPr>
        <p:spPr>
          <a:xfrm>
            <a:off x="431447" y="1206259"/>
            <a:ext cx="8159966" cy="2267145"/>
          </a:xfrm>
          <a:prstGeom prst="rect">
            <a:avLst/>
          </a:prstGeom>
        </p:spPr>
        <p:txBody>
          <a:bodyPr anchor="t" anchorCtr="0" bIns="91425" lIns="91425" rIns="91425" tIns="91425" wrap="square">
            <a:noAutofit/>
          </a:bodyPr>
          <a:lstStyle/>
          <a:p>
            <a:pPr indent="-69850" lvl="0" marL="0" rtl="0">
              <a:spcBef>
                <a:spcPts val="0"/>
              </a:spcBef>
              <a:spcAft>
                <a:spcPts val="0"/>
              </a:spcAft>
              <a:buClr>
                <a:schemeClr val="dk1"/>
              </a:buClr>
              <a:buSzPts val="1100"/>
              <a:buFont typeface="Arial"/>
              <a:buNone/>
            </a:pPr>
            <a:r>
              <a:rPr b="1" dirty="0" lang="en-GB">
                <a:solidFill>
                  <a:schemeClr val="dk1"/>
                </a:solidFill>
              </a:rPr>
              <a:t>Steps:</a:t>
            </a:r>
          </a:p>
          <a:p>
            <a:pPr indent="-342900" lvl="0" marL="457200" rtl="0">
              <a:spcBef>
                <a:spcPts val="0"/>
              </a:spcBef>
              <a:spcAft>
                <a:spcPts val="0"/>
              </a:spcAft>
              <a:buClr>
                <a:schemeClr val="dk1"/>
              </a:buClr>
              <a:buSzPts val="1800"/>
              <a:buChar char="●"/>
            </a:pPr>
            <a:r>
              <a:rPr dirty="0" lang="en-GB" sz="1600">
                <a:solidFill>
                  <a:schemeClr val="dk1"/>
                </a:solidFill>
              </a:rPr>
              <a:t>User establishes a telnet connection with the server.</a:t>
            </a:r>
          </a:p>
          <a:p>
            <a:pPr indent="-342900" lvl="0" marL="457200" rtl="0">
              <a:spcBef>
                <a:spcPts val="0"/>
              </a:spcBef>
              <a:spcAft>
                <a:spcPts val="0"/>
              </a:spcAft>
              <a:buClr>
                <a:schemeClr val="dk1"/>
              </a:buClr>
              <a:buSzPts val="1800"/>
              <a:buChar char="●"/>
            </a:pPr>
            <a:r>
              <a:rPr dirty="0" lang="en-GB" smtClean="0" sz="1600">
                <a:solidFill>
                  <a:schemeClr val="dk1"/>
                </a:solidFill>
              </a:rPr>
              <a:t>Attacker sniffs </a:t>
            </a:r>
            <a:r>
              <a:rPr dirty="0" lang="en-GB" sz="1600">
                <a:solidFill>
                  <a:schemeClr val="dk1"/>
                </a:solidFill>
              </a:rPr>
              <a:t>the </a:t>
            </a:r>
            <a:r>
              <a:rPr dirty="0" lang="en-GB" smtClean="0" sz="1600">
                <a:solidFill>
                  <a:schemeClr val="dk1"/>
                </a:solidFill>
              </a:rPr>
              <a:t>packets from telnet server to client</a:t>
            </a:r>
            <a:endParaRPr dirty="0" lang="en-GB" sz="1600">
              <a:solidFill>
                <a:schemeClr val="dk1"/>
              </a:solidFill>
            </a:endParaRPr>
          </a:p>
          <a:p>
            <a:pPr indent="-342900" lvl="0" marL="457200" rtl="0">
              <a:spcBef>
                <a:spcPts val="0"/>
              </a:spcBef>
              <a:buClr>
                <a:schemeClr val="dk1"/>
              </a:buClr>
              <a:buSzPts val="1800"/>
              <a:buChar char="●"/>
            </a:pPr>
            <a:r>
              <a:rPr dirty="0" lang="en-GB" smtClean="0" sz="1600">
                <a:solidFill>
                  <a:schemeClr val="dk1"/>
                </a:solidFill>
              </a:rPr>
              <a:t>Generate a reply packet with payload data being our command</a:t>
            </a:r>
            <a:r>
              <a:rPr dirty="0" lang="en-GB" sz="1200">
                <a:solidFill>
                  <a:schemeClr val="dk1"/>
                </a:solidFill>
              </a:rPr>
              <a:t> </a:t>
            </a:r>
            <a:r>
              <a:rPr dirty="0" lang="en-GB" smtClean="0" sz="1200">
                <a:solidFill>
                  <a:schemeClr val="dk1"/>
                </a:solidFill>
              </a:rPr>
              <a:t>                                          </a:t>
            </a:r>
            <a:r>
              <a:rPr dirty="0" lang="en-GB" smtClean="0" sz="1600">
                <a:solidFill>
                  <a:schemeClr val="dk1"/>
                </a:solidFill>
              </a:rPr>
              <a:t>---</a:t>
            </a:r>
            <a:r>
              <a:rPr dirty="0" lang="en-GB" smtClean="0" sz="1600">
                <a:solidFill>
                  <a:srgbClr val="A70000"/>
                </a:solidFill>
              </a:rPr>
              <a:t> If this command is input/output redirection command, then we can redirect the server’s input/output to our attacker machine (i.e., taking over the telnet session). </a:t>
            </a:r>
          </a:p>
        </p:txBody>
      </p:sp>
    </p:spTree>
  </p:cSld>
  <p:clrMapOvr>
    <a:masterClrMapping/>
  </p:clrMapOvr>
  <p:timing>
    <p:tnLst>
      <p:par>
        <p:cTn dur="indefinite" id="1" nodeType="tmRoot" restart="never"/>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7" name="TextBox 6">
            <a:extLst>
              <a:ext uri="{FF2B5EF4-FFF2-40B4-BE49-F238E27FC236}">
                <a16:creationId xmlns:a16="http://schemas.microsoft.com/office/drawing/2014/main" id="{571758DF-FE7A-4F5B-9911-9D0CE8FEBE38}"/>
              </a:ext>
            </a:extLst>
          </p:cNvPr>
          <p:cNvSpPr txBox="1"/>
          <p:nvPr/>
        </p:nvSpPr>
        <p:spPr>
          <a:xfrm>
            <a:off x="409059" y="4077550"/>
            <a:ext cx="7315716" cy="400110"/>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Change </a:t>
            </a:r>
            <a:r>
              <a:rPr dirty="0" err="1" lang="en-US" smtClean="0" sz="2000"/>
              <a:t>iface</a:t>
            </a:r>
            <a:r>
              <a:rPr dirty="0" lang="en-US" smtClean="0" sz="2000"/>
              <a:t> to your case.</a:t>
            </a:r>
            <a:endParaRPr dirty="0" lang="en-CA" sz="2000"/>
          </a:p>
        </p:txBody>
      </p:sp>
      <p:sp>
        <p:nvSpPr>
          <p:cNvPr id="4" name="Rectangle 1"/>
          <p:cNvSpPr>
            <a:spLocks noChangeArrowheads="1"/>
          </p:cNvSpPr>
          <p:nvPr/>
        </p:nvSpPr>
        <p:spPr bwMode="auto">
          <a:xfrm>
            <a:off x="1733970" y="189439"/>
            <a:ext cx="6197600"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nchorCtr="0" bIns="0" compatLnSpc="1" lIns="342792" numCol="1" rIns="91440" tIns="0" vert="horz"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altLang="en-US" b="1" baseline="0" cap="none" dirty="0" i="0" kumimoji="0" lang="en-CA" normalizeH="0" smtClean="0" strike="noStrike" sz="2600" u="none">
                <a:ln>
                  <a:noFill/>
                </a:ln>
                <a:solidFill>
                  <a:srgbClr val="2E75B5"/>
                </a:solidFill>
                <a:effectLst/>
                <a:latin charset="0" panose="020F0502020204030204" pitchFamily="34" typeface="Calibri"/>
                <a:cs charset="0" panose="020F0502020204030204" pitchFamily="34" typeface="Calibri"/>
              </a:rPr>
              <a:t>Sniffing part (</a:t>
            </a:r>
            <a:r>
              <a:rPr altLang="en-US" b="1" baseline="0" cap="none" dirty="0" i="0" kumimoji="0" lang="en-CA" normalizeH="0" smtClean="0" strike="noStrike" sz="2600" u="none">
                <a:ln>
                  <a:noFill/>
                </a:ln>
                <a:solidFill>
                  <a:srgbClr val="7030A0"/>
                </a:solidFill>
                <a:effectLst/>
                <a:latin charset="0" panose="020F0502020204030204" pitchFamily="34" typeface="Calibri"/>
                <a:cs charset="0" panose="020F0502020204030204" pitchFamily="34" typeface="Calibri"/>
              </a:rPr>
              <a:t>hijacking_auto.py</a:t>
            </a:r>
            <a:r>
              <a:rPr altLang="en-US" b="1" baseline="0" cap="none" dirty="0" i="0" kumimoji="0" lang="en-CA" normalizeH="0" smtClean="0" strike="noStrike" sz="2600" u="none">
                <a:ln>
                  <a:noFill/>
                </a:ln>
                <a:solidFill>
                  <a:srgbClr val="2E75B5"/>
                </a:solidFill>
                <a:effectLst/>
                <a:latin charset="0" panose="020F0502020204030204" pitchFamily="34" typeface="Calibri"/>
                <a:cs charset="0" panose="020F0502020204030204" pitchFamily="34" typeface="Calibri"/>
              </a:rPr>
              <a:t>)</a:t>
            </a:r>
            <a:r>
              <a:rPr altLang="en-US" b="0" baseline="0" cap="none" dirty="0" i="0" kumimoji="0" lang="en-CA" normalizeH="0" smtClean="0" strike="noStrike" sz="1100" u="none">
                <a:ln>
                  <a:noFill/>
                </a:ln>
                <a:solidFill>
                  <a:schemeClr val="tx1"/>
                </a:solidFill>
                <a:effectLst/>
                <a:latin charset="0" panose="020F0502020204030204" pitchFamily="34" typeface="Calibri"/>
                <a:cs charset="0" panose="020F0502020204030204" pitchFamily="34" typeface="Calibri"/>
              </a:rPr>
              <a:t> </a:t>
            </a:r>
          </a:p>
          <a:p>
            <a:pPr algn="l" defTabSz="914400" eaLnBrk="0" fontAlgn="base" hangingPunct="0" indent="0" latinLnBrk="0" lvl="0" marL="0" marR="0" rtl="0">
              <a:lnSpc>
                <a:spcPct val="100000"/>
              </a:lnSpc>
              <a:spcBef>
                <a:spcPct val="0"/>
              </a:spcBef>
              <a:spcAft>
                <a:spcPct val="0"/>
              </a:spcAft>
              <a:buClrTx/>
              <a:buSzTx/>
              <a:buFontTx/>
              <a:buNone/>
              <a:tabLst/>
            </a:pPr>
            <a:endParaRPr altLang="en-US" b="0" baseline="0" cap="none" dirty="0" i="0" kumimoji="0" lang="en-CA" normalizeH="0" smtClean="0" strike="noStrike" sz="1100" u="none">
              <a:ln>
                <a:noFill/>
              </a:ln>
              <a:solidFill>
                <a:schemeClr val="tx1"/>
              </a:solidFill>
              <a:effectLst/>
              <a:latin charset="0" panose="020F0502020204030204" pitchFamily="34" typeface="Calibri"/>
              <a:cs charset="0" panose="020F0502020204030204" pitchFamily="34" typeface="Calibri"/>
            </a:endParaRPr>
          </a:p>
        </p:txBody>
      </p:sp>
      <p:pic>
        <p:nvPicPr>
          <p:cNvPr descr="Machine generated alternative text: cli  srv  &quot;10.9 0 6  &quot;10.9 0 5  'tcp and src host { } and dst host { } and src port 23' . format(srv, cli)  myFilter -  print( &quot;Running Session Hijacking attack  print( &quot;Filter used: {Y' . format(myFilter))  print( &quot;Spoofing TCP packets from Client (O) to Server &quot; . format(cli, srv))  # Change the i face field with the actual name on your container  ' br-07950545de5e' ,  filter=myFilter, prn=spoof) " id="1026" name="Picture 2"/>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347" y="997586"/>
            <a:ext cx="8663093" cy="2822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654154"/>
      </p:ext>
    </p:extLst>
  </p:cSld>
  <p:clrMapOvr>
    <a:masterClrMapping/>
  </p:clrMapOvr>
  <p:timing>
    <p:tnLst>
      <p:par>
        <p:cTn dur="indefinite" id="1" nodeType="tmRoot" restart="never"/>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4" name="Rectangle 1"/>
          <p:cNvSpPr>
            <a:spLocks noChangeArrowheads="1"/>
          </p:cNvSpPr>
          <p:nvPr/>
        </p:nvSpPr>
        <p:spPr bwMode="auto">
          <a:xfrm>
            <a:off x="1733970" y="189439"/>
            <a:ext cx="6197600"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nchorCtr="0" bIns="0" compatLnSpc="1" lIns="342792" numCol="1" rIns="91440" tIns="0" vert="horz"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altLang="en-US" b="1" baseline="0" cap="none" dirty="0" err="1" i="0" kumimoji="0" lang="en-CA" normalizeH="0" smtClean="0" strike="noStrike" sz="2600" u="none">
                <a:ln>
                  <a:noFill/>
                </a:ln>
                <a:solidFill>
                  <a:srgbClr val="2E75B5"/>
                </a:solidFill>
                <a:effectLst/>
                <a:latin charset="0" panose="020F0502020204030204" pitchFamily="34" typeface="Calibri"/>
                <a:cs charset="0" panose="020F0502020204030204" pitchFamily="34" typeface="Calibri"/>
              </a:rPr>
              <a:t>Sproof</a:t>
            </a:r>
            <a:r>
              <a:rPr altLang="en-US" b="1" baseline="0" cap="none" dirty="0" i="0" kumimoji="0" lang="en-CA" normalizeH="0" smtClean="0" strike="noStrike" sz="2600" u="none">
                <a:ln>
                  <a:noFill/>
                </a:ln>
                <a:solidFill>
                  <a:srgbClr val="2E75B5"/>
                </a:solidFill>
                <a:effectLst/>
                <a:latin charset="0" panose="020F0502020204030204" pitchFamily="34" typeface="Calibri"/>
                <a:cs charset="0" panose="020F0502020204030204" pitchFamily="34" typeface="Calibri"/>
              </a:rPr>
              <a:t> part (</a:t>
            </a:r>
            <a:r>
              <a:rPr altLang="en-US" b="1" baseline="0" cap="none" dirty="0" i="0" kumimoji="0" lang="en-CA" normalizeH="0" smtClean="0" strike="noStrike" sz="2600" u="none">
                <a:ln>
                  <a:noFill/>
                </a:ln>
                <a:solidFill>
                  <a:srgbClr val="7030A0"/>
                </a:solidFill>
                <a:effectLst/>
                <a:latin charset="0" panose="020F0502020204030204" pitchFamily="34" typeface="Calibri"/>
                <a:cs charset="0" panose="020F0502020204030204" pitchFamily="34" typeface="Calibri"/>
              </a:rPr>
              <a:t>hijacking_auto.py</a:t>
            </a:r>
            <a:r>
              <a:rPr altLang="en-US" b="1" baseline="0" cap="none" dirty="0" i="0" kumimoji="0" lang="en-CA" normalizeH="0" smtClean="0" strike="noStrike" sz="2600" u="none">
                <a:ln>
                  <a:noFill/>
                </a:ln>
                <a:solidFill>
                  <a:srgbClr val="2E75B5"/>
                </a:solidFill>
                <a:effectLst/>
                <a:latin charset="0" panose="020F0502020204030204" pitchFamily="34" typeface="Calibri"/>
                <a:cs charset="0" panose="020F0502020204030204" pitchFamily="34" typeface="Calibri"/>
              </a:rPr>
              <a:t>)</a:t>
            </a:r>
            <a:r>
              <a:rPr altLang="en-US" b="0" baseline="0" cap="none" dirty="0" i="0" kumimoji="0" lang="en-CA" normalizeH="0" smtClean="0" strike="noStrike" sz="1100" u="none">
                <a:ln>
                  <a:noFill/>
                </a:ln>
                <a:solidFill>
                  <a:schemeClr val="tx1"/>
                </a:solidFill>
                <a:effectLst/>
                <a:latin charset="0" panose="020F0502020204030204" pitchFamily="34" typeface="Calibri"/>
                <a:cs charset="0" panose="020F0502020204030204" pitchFamily="34" typeface="Calibri"/>
              </a:rPr>
              <a:t> </a:t>
            </a:r>
          </a:p>
          <a:p>
            <a:pPr algn="l" defTabSz="914400" eaLnBrk="0" fontAlgn="base" hangingPunct="0" indent="0" latinLnBrk="0" lvl="0" marL="0" marR="0" rtl="0">
              <a:lnSpc>
                <a:spcPct val="100000"/>
              </a:lnSpc>
              <a:spcBef>
                <a:spcPct val="0"/>
              </a:spcBef>
              <a:spcAft>
                <a:spcPct val="0"/>
              </a:spcAft>
              <a:buClrTx/>
              <a:buSzTx/>
              <a:buFontTx/>
              <a:buNone/>
              <a:tabLst/>
            </a:pPr>
            <a:endParaRPr altLang="en-US" b="0" baseline="0" cap="none" dirty="0" i="0" kumimoji="0" lang="en-CA" normalizeH="0" smtClean="0" strike="noStrike" sz="1100" u="none">
              <a:ln>
                <a:noFill/>
              </a:ln>
              <a:solidFill>
                <a:schemeClr val="tx1"/>
              </a:solidFill>
              <a:effectLst/>
              <a:latin charset="0" panose="020F0502020204030204" pitchFamily="34" typeface="Calibri"/>
              <a:cs charset="0" panose="020F0502020204030204" pitchFamily="34" typeface="Calibri"/>
            </a:endParaRPr>
          </a:p>
        </p:txBody>
      </p:sp>
      <p:pic>
        <p:nvPicPr>
          <p:cNvPr id="6" name="Picture 5" descr="&quot;Python code for a packet spoofing function with highlighted TCP/IP manipulation and a commented-out reverse shell command.&quot;"/>
          <p:cNvPicPr>
            <a:picLocks noChangeAspect="1"/>
          </p:cNvPicPr>
          <p:nvPr/>
        </p:nvPicPr>
        <p:blipFill>
          <a:blip r:embed="rId3"/>
          <a:stretch>
            <a:fillRect/>
          </a:stretch>
        </p:blipFill>
        <p:spPr>
          <a:xfrm>
            <a:off x="1663694" y="613772"/>
            <a:ext cx="5872963" cy="4144555"/>
          </a:xfrm>
          <a:prstGeom prst="rect">
            <a:avLst/>
          </a:prstGeom>
        </p:spPr>
      </p:pic>
    </p:spTree>
    <p:extLst>
      <p:ext uri="{BB962C8B-B14F-4D97-AF65-F5344CB8AC3E}">
        <p14:creationId xmlns:p14="http://schemas.microsoft.com/office/powerpoint/2010/main" val="966766274"/>
      </p:ext>
    </p:extLst>
  </p:cSld>
  <p:clrMapOvr>
    <a:masterClrMapping/>
  </p:clrMapOvr>
  <p:timing>
    <p:tnLst>
      <p:par>
        <p:cTn dur="indefinite" id="1" nodeType="tmRoot" restart="never"/>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Telnet Protocol</a:t>
            </a:r>
            <a:endParaRPr dirty="0" lang="en-GB"/>
          </a:p>
        </p:txBody>
      </p:sp>
      <p:sp>
        <p:nvSpPr>
          <p:cNvPr id="7" name="TextBox 6">
            <a:extLst>
              <a:ext uri="{FF2B5EF4-FFF2-40B4-BE49-F238E27FC236}">
                <a16:creationId xmlns:a16="http://schemas.microsoft.com/office/drawing/2014/main" id="{571758DF-FE7A-4F5B-9911-9D0CE8FEBE38}"/>
              </a:ext>
            </a:extLst>
          </p:cNvPr>
          <p:cNvSpPr txBox="1"/>
          <p:nvPr/>
        </p:nvSpPr>
        <p:spPr>
          <a:xfrm>
            <a:off x="403198" y="1247775"/>
            <a:ext cx="8213264" cy="707886"/>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Client first runs a 3-way handshake protocol with server to establish TCP connection and exchange messages over this TCP.</a:t>
            </a:r>
            <a:endParaRPr dirty="0" lang="en-CA" sz="2000"/>
          </a:p>
        </p:txBody>
      </p:sp>
      <p:sp>
        <p:nvSpPr>
          <p:cNvPr id="8" name="TextBox 7">
            <a:extLst>
              <a:ext uri="{FF2B5EF4-FFF2-40B4-BE49-F238E27FC236}">
                <a16:creationId xmlns:a16="http://schemas.microsoft.com/office/drawing/2014/main" id="{5D5231C6-5A35-47B7-862C-EE15A3DFF36D}"/>
              </a:ext>
            </a:extLst>
          </p:cNvPr>
          <p:cNvSpPr txBox="1"/>
          <p:nvPr/>
        </p:nvSpPr>
        <p:spPr>
          <a:xfrm>
            <a:off x="428108" y="2124078"/>
            <a:ext cx="8404191" cy="1015663"/>
          </a:xfrm>
          <a:prstGeom prst="rect">
            <a:avLst/>
          </a:prstGeom>
          <a:noFill/>
        </p:spPr>
        <p:txBody>
          <a:bodyPr rtlCol="0" wrap="square">
            <a:spAutoFit/>
          </a:bodyPr>
          <a:lstStyle/>
          <a:p>
            <a:pPr indent="-285750" marL="285750">
              <a:buFont charset="0" panose="020B0604020202020204" pitchFamily="34" typeface="Arial"/>
              <a:buChar char="•"/>
            </a:pPr>
            <a:r>
              <a:rPr b="1" dirty="0" lang="en-CA" smtClean="0" sz="2000">
                <a:solidFill>
                  <a:srgbClr val="DB0000"/>
                </a:solidFill>
              </a:rPr>
              <a:t>Server</a:t>
            </a:r>
            <a:r>
              <a:rPr dirty="0" lang="en-CA" smtClean="0" sz="2000"/>
              <a:t>: (a) Take input from this TCP connection (</a:t>
            </a:r>
            <a:r>
              <a:rPr dirty="0" err="1" lang="en-CA" smtClean="0" sz="2000"/>
              <a:t>e.g.,via</a:t>
            </a:r>
            <a:r>
              <a:rPr dirty="0" lang="en-CA" smtClean="0" sz="2000"/>
              <a:t> </a:t>
            </a:r>
            <a:r>
              <a:rPr dirty="0" err="1" lang="en-CA" smtClean="0" sz="2000"/>
              <a:t>recv</a:t>
            </a:r>
            <a:r>
              <a:rPr dirty="0" lang="en-CA" smtClean="0" sz="2000"/>
              <a:t>()) and    execute; (b) print output to this TCP connection, which will be received by client and displayed on </a:t>
            </a:r>
            <a:r>
              <a:rPr lang="en-CA" smtClean="0" sz="2000"/>
              <a:t>its screen. </a:t>
            </a:r>
            <a:endParaRPr dirty="0" lang="en-US" sz="2000"/>
          </a:p>
        </p:txBody>
      </p:sp>
      <p:sp>
        <p:nvSpPr>
          <p:cNvPr id="10" name="TextBox 9">
            <a:extLst>
              <a:ext uri="{FF2B5EF4-FFF2-40B4-BE49-F238E27FC236}">
                <a16:creationId xmlns:a16="http://schemas.microsoft.com/office/drawing/2014/main" id="{37FCE1FE-7C24-470C-95FD-A02C0624FA67}"/>
              </a:ext>
            </a:extLst>
          </p:cNvPr>
          <p:cNvSpPr txBox="1"/>
          <p:nvPr/>
        </p:nvSpPr>
        <p:spPr>
          <a:xfrm>
            <a:off x="437633" y="3155752"/>
            <a:ext cx="8520599" cy="1323439"/>
          </a:xfrm>
          <a:prstGeom prst="rect">
            <a:avLst/>
          </a:prstGeom>
          <a:noFill/>
        </p:spPr>
        <p:txBody>
          <a:bodyPr rtlCol="0" wrap="square">
            <a:spAutoFit/>
          </a:bodyPr>
          <a:lstStyle/>
          <a:p>
            <a:pPr indent="-285750" marL="285750">
              <a:buFont charset="0" panose="020B0604020202020204" pitchFamily="34" typeface="Arial"/>
              <a:buChar char="•"/>
            </a:pPr>
            <a:r>
              <a:rPr b="1" dirty="0" lang="en-US" smtClean="0" sz="2000"/>
              <a:t>Example</a:t>
            </a:r>
            <a:r>
              <a:rPr dirty="0" lang="en-US" smtClean="0" sz="2000"/>
              <a:t>.  If Data=“\n </a:t>
            </a:r>
            <a:r>
              <a:rPr dirty="0" err="1" lang="en-US" smtClean="0" sz="2000"/>
              <a:t>gcc</a:t>
            </a:r>
            <a:r>
              <a:rPr dirty="0" lang="en-US" smtClean="0" sz="2000"/>
              <a:t> </a:t>
            </a:r>
            <a:r>
              <a:rPr dirty="0" err="1" lang="en-US" smtClean="0" sz="2000"/>
              <a:t>synflood.c</a:t>
            </a:r>
            <a:r>
              <a:rPr dirty="0" lang="en-US" smtClean="0" sz="2000"/>
              <a:t>”, the server runs </a:t>
            </a:r>
          </a:p>
          <a:p>
            <a:pPr algn="ctr"/>
            <a:r>
              <a:rPr dirty="0" lang="en-US" smtClean="0" sz="2000"/>
              <a:t>$ </a:t>
            </a:r>
            <a:r>
              <a:rPr dirty="0" err="1" lang="en-US" smtClean="0" sz="2000"/>
              <a:t>gcc</a:t>
            </a:r>
            <a:r>
              <a:rPr dirty="0" lang="en-US" smtClean="0" sz="2000"/>
              <a:t> </a:t>
            </a:r>
            <a:r>
              <a:rPr dirty="0" err="1" lang="en-US" smtClean="0" sz="2000"/>
              <a:t>synflood.c</a:t>
            </a:r>
            <a:r>
              <a:rPr dirty="0" lang="en-US" smtClean="0" sz="2000"/>
              <a:t> </a:t>
            </a:r>
          </a:p>
          <a:p>
            <a:r>
              <a:rPr dirty="0" lang="en-US" smtClean="0" sz="2000"/>
              <a:t>Then, instead of displaying the compiling result on the server’s screen, it sends to client (no matter what is it). </a:t>
            </a:r>
            <a:endParaRPr dirty="0" lang="en-CA" sz="2000"/>
          </a:p>
        </p:txBody>
      </p:sp>
    </p:spTree>
    <p:extLst>
      <p:ext uri="{BB962C8B-B14F-4D97-AF65-F5344CB8AC3E}">
        <p14:creationId xmlns:p14="http://schemas.microsoft.com/office/powerpoint/2010/main" val="143162689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8"/>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0"/>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8"/>
      <p:bldP grpId="0" spid="10"/>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Print to attacker’s screen</a:t>
            </a:r>
            <a:endParaRPr dirty="0" lang="en-GB"/>
          </a:p>
        </p:txBody>
      </p:sp>
      <p:sp>
        <p:nvSpPr>
          <p:cNvPr id="10" name="TextBox 9">
            <a:extLst>
              <a:ext uri="{FF2B5EF4-FFF2-40B4-BE49-F238E27FC236}">
                <a16:creationId xmlns:a16="http://schemas.microsoft.com/office/drawing/2014/main" id="{37FCE1FE-7C24-470C-95FD-A02C0624FA67}"/>
              </a:ext>
            </a:extLst>
          </p:cNvPr>
          <p:cNvSpPr txBox="1"/>
          <p:nvPr/>
        </p:nvSpPr>
        <p:spPr>
          <a:xfrm>
            <a:off x="393473" y="1429356"/>
            <a:ext cx="8520599" cy="707886"/>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Data=“\r </a:t>
            </a:r>
            <a:r>
              <a:rPr dirty="0" err="1" lang="en-US" smtClean="0" sz="2000"/>
              <a:t>gcc</a:t>
            </a:r>
            <a:r>
              <a:rPr dirty="0" lang="en-US" smtClean="0" sz="2000"/>
              <a:t> </a:t>
            </a:r>
            <a:r>
              <a:rPr lang="en-US" smtClean="0" sz="2000"/>
              <a:t>synflood.c” </a:t>
            </a:r>
            <a:r>
              <a:rPr dirty="0" lang="en-US" smtClean="0" sz="2000"/>
              <a:t>will print the result to the </a:t>
            </a:r>
            <a:r>
              <a:rPr b="1" dirty="0" lang="en-US" smtClean="0" sz="2000"/>
              <a:t>legal client</a:t>
            </a:r>
            <a:r>
              <a:rPr dirty="0" lang="en-US" smtClean="0" sz="2000"/>
              <a:t>’s screen (if it would do) but not the </a:t>
            </a:r>
            <a:r>
              <a:rPr b="1" dirty="0" lang="en-US" smtClean="0" sz="2000"/>
              <a:t>attacker</a:t>
            </a:r>
            <a:r>
              <a:rPr dirty="0" lang="en-US" smtClean="0" sz="2000"/>
              <a:t> screen. </a:t>
            </a:r>
            <a:endParaRPr dirty="0" lang="en-CA" sz="2000"/>
          </a:p>
        </p:txBody>
      </p:sp>
      <p:sp>
        <p:nvSpPr>
          <p:cNvPr id="6" name="TextBox 5">
            <a:extLst>
              <a:ext uri="{FF2B5EF4-FFF2-40B4-BE49-F238E27FC236}">
                <a16:creationId xmlns:a16="http://schemas.microsoft.com/office/drawing/2014/main" id="{37FCE1FE-7C24-470C-95FD-A02C0624FA67}"/>
              </a:ext>
            </a:extLst>
          </p:cNvPr>
          <p:cNvSpPr txBox="1"/>
          <p:nvPr/>
        </p:nvSpPr>
        <p:spPr>
          <a:xfrm>
            <a:off x="389734" y="2147501"/>
            <a:ext cx="8520599" cy="2862322"/>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To enable this, use</a:t>
            </a:r>
          </a:p>
          <a:p>
            <a:endParaRPr dirty="0" lang="en-US" smtClean="0" sz="2000"/>
          </a:p>
          <a:p>
            <a:pPr algn="ctr"/>
            <a:r>
              <a:rPr dirty="0" lang="en-US" sz="2000">
                <a:solidFill>
                  <a:srgbClr val="0070C0"/>
                </a:solidFill>
              </a:rPr>
              <a:t> </a:t>
            </a:r>
            <a:r>
              <a:rPr dirty="0" lang="en-US" smtClean="0" sz="2000">
                <a:solidFill>
                  <a:srgbClr val="0070C0"/>
                </a:solidFill>
              </a:rPr>
              <a:t> Data=“\r </a:t>
            </a:r>
            <a:r>
              <a:rPr dirty="0" err="1" lang="en-US" smtClean="0" sz="2000">
                <a:solidFill>
                  <a:srgbClr val="0070C0"/>
                </a:solidFill>
              </a:rPr>
              <a:t>gcc</a:t>
            </a:r>
            <a:r>
              <a:rPr dirty="0" lang="en-US" smtClean="0" sz="2000">
                <a:solidFill>
                  <a:srgbClr val="0070C0"/>
                </a:solidFill>
              </a:rPr>
              <a:t> </a:t>
            </a:r>
            <a:r>
              <a:rPr dirty="0" err="1" lang="en-US" smtClean="0" sz="2000">
                <a:solidFill>
                  <a:srgbClr val="0070C0"/>
                </a:solidFill>
              </a:rPr>
              <a:t>synflood.c</a:t>
            </a:r>
            <a:r>
              <a:rPr dirty="0" lang="en-US" smtClean="0" sz="2000">
                <a:solidFill>
                  <a:srgbClr val="0070C0"/>
                </a:solidFill>
              </a:rPr>
              <a:t>    &gt;/dev/</a:t>
            </a:r>
            <a:r>
              <a:rPr dirty="0" err="1" lang="en-US" smtClean="0" sz="2000">
                <a:solidFill>
                  <a:srgbClr val="0070C0"/>
                </a:solidFill>
              </a:rPr>
              <a:t>tcp</a:t>
            </a:r>
            <a:r>
              <a:rPr dirty="0" lang="en-US" smtClean="0" sz="2000">
                <a:solidFill>
                  <a:srgbClr val="0070C0"/>
                </a:solidFill>
              </a:rPr>
              <a:t>/10.9.0.1/9090 \r” </a:t>
            </a:r>
          </a:p>
          <a:p>
            <a:endParaRPr dirty="0" lang="en-US" sz="2000"/>
          </a:p>
          <a:p>
            <a:r>
              <a:rPr dirty="0" lang="en-US" smtClean="0" sz="2000"/>
              <a:t>This </a:t>
            </a:r>
            <a:r>
              <a:rPr dirty="0" err="1" lang="en-US" smtClean="0" sz="2000"/>
              <a:t>redfines</a:t>
            </a:r>
            <a:r>
              <a:rPr dirty="0" lang="en-US" smtClean="0" sz="2000"/>
              <a:t> the output </a:t>
            </a:r>
            <a:r>
              <a:rPr dirty="0" lang="en-US" sz="2000"/>
              <a:t>to </a:t>
            </a:r>
            <a:r>
              <a:rPr b="1" dirty="0" lang="en-US" sz="2000"/>
              <a:t>/</a:t>
            </a:r>
            <a:r>
              <a:rPr b="1" dirty="0" lang="en-US" smtClean="0" sz="2000"/>
              <a:t>dev/</a:t>
            </a:r>
            <a:r>
              <a:rPr b="1" dirty="0" err="1" lang="en-US" smtClean="0" sz="2000"/>
              <a:t>tcp</a:t>
            </a:r>
            <a:r>
              <a:rPr b="1" dirty="0" lang="en-US" smtClean="0" sz="2000"/>
              <a:t>/10.9.0.1/9090</a:t>
            </a:r>
            <a:r>
              <a:rPr dirty="0" lang="en-US" smtClean="0" sz="2000"/>
              <a:t>.</a:t>
            </a:r>
          </a:p>
          <a:p>
            <a:endParaRPr dirty="0" lang="en-US" sz="2000"/>
          </a:p>
          <a:p>
            <a:pPr indent="-342900" marL="342900">
              <a:buFont charset="0" panose="020B0604020202020204" pitchFamily="34" typeface="Arial"/>
              <a:buChar char="•"/>
            </a:pPr>
            <a:r>
              <a:rPr dirty="0" lang="en-CA" smtClean="0" sz="2000"/>
              <a:t>Server will explain </a:t>
            </a:r>
            <a:r>
              <a:rPr dirty="0" lang="en-US" sz="2000"/>
              <a:t>/</a:t>
            </a:r>
            <a:r>
              <a:rPr dirty="0" lang="en-US" smtClean="0" sz="2000"/>
              <a:t>dev/</a:t>
            </a:r>
            <a:r>
              <a:rPr dirty="0" err="1" lang="en-US" smtClean="0" sz="2000"/>
              <a:t>tcp</a:t>
            </a:r>
            <a:r>
              <a:rPr dirty="0" lang="en-US" smtClean="0" sz="2000"/>
              <a:t>/10.9.0.1/9090 as it follows: it first establishes TCP connection to server 10.9.0.1 with port 9090 and writes the output to this new TCP connection. </a:t>
            </a:r>
            <a:r>
              <a:rPr dirty="0" lang="en-CA" smtClean="0" sz="2000"/>
              <a:t> </a:t>
            </a:r>
            <a:endParaRPr dirty="0" lang="en-CA" sz="2000"/>
          </a:p>
        </p:txBody>
      </p:sp>
    </p:spTree>
    <p:extLst>
      <p:ext uri="{BB962C8B-B14F-4D97-AF65-F5344CB8AC3E}">
        <p14:creationId xmlns:p14="http://schemas.microsoft.com/office/powerpoint/2010/main" val="196427692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0"/>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0"/>
      <p:bldP grpId="0" spid="6"/>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Launch the TCP Session Hijacking Attack</a:t>
            </a:r>
          </a:p>
        </p:txBody>
      </p:sp>
      <p:sp>
        <p:nvSpPr>
          <p:cNvPr id="7" name="TextBox 6">
            <a:extLst>
              <a:ext uri="{FF2B5EF4-FFF2-40B4-BE49-F238E27FC236}">
                <a16:creationId xmlns:a16="http://schemas.microsoft.com/office/drawing/2014/main" id="{571758DF-FE7A-4F5B-9911-9D0CE8FEBE38}"/>
              </a:ext>
            </a:extLst>
          </p:cNvPr>
          <p:cNvSpPr txBox="1"/>
          <p:nvPr/>
        </p:nvSpPr>
        <p:spPr>
          <a:xfrm>
            <a:off x="409059" y="1247775"/>
            <a:ext cx="7315716" cy="400110"/>
          </a:xfrm>
          <a:prstGeom prst="rect">
            <a:avLst/>
          </a:prstGeom>
          <a:noFill/>
        </p:spPr>
        <p:txBody>
          <a:bodyPr rtlCol="0" wrap="square">
            <a:spAutoFit/>
          </a:bodyPr>
          <a:lstStyle/>
          <a:p>
            <a:pPr indent="-285750" marL="285750">
              <a:buFont charset="0" panose="020B0604020202020204" pitchFamily="34" typeface="Arial"/>
              <a:buChar char="•"/>
            </a:pPr>
            <a:r>
              <a:rPr dirty="0" lang="en-US" sz="2000"/>
              <a:t>But </a:t>
            </a:r>
            <a:r>
              <a:rPr dirty="0" lang="en-US" smtClean="0" sz="2000"/>
              <a:t>this still </a:t>
            </a:r>
            <a:r>
              <a:rPr dirty="0" lang="en-US" sz="2000"/>
              <a:t>can not be called hijacking!</a:t>
            </a:r>
            <a:endParaRPr dirty="0" lang="en-CA" sz="2000"/>
          </a:p>
        </p:txBody>
      </p:sp>
      <p:sp>
        <p:nvSpPr>
          <p:cNvPr id="9" name="TextBox 8">
            <a:extLst>
              <a:ext uri="{FF2B5EF4-FFF2-40B4-BE49-F238E27FC236}">
                <a16:creationId xmlns:a16="http://schemas.microsoft.com/office/drawing/2014/main" id="{0EACEF9F-20A4-47CF-A516-77DCC945AFA5}"/>
              </a:ext>
            </a:extLst>
          </p:cNvPr>
          <p:cNvSpPr txBox="1"/>
          <p:nvPr/>
        </p:nvSpPr>
        <p:spPr>
          <a:xfrm>
            <a:off x="409059" y="1657350"/>
            <a:ext cx="8734941" cy="400110"/>
          </a:xfrm>
          <a:prstGeom prst="rect">
            <a:avLst/>
          </a:prstGeom>
          <a:noFill/>
        </p:spPr>
        <p:txBody>
          <a:bodyPr rtlCol="0" wrap="square">
            <a:spAutoFit/>
          </a:bodyPr>
          <a:lstStyle/>
          <a:p>
            <a:pPr indent="-285750" marL="285750">
              <a:buFont charset="0" panose="020B0604020202020204" pitchFamily="34" typeface="Arial"/>
              <a:buChar char="•"/>
            </a:pPr>
            <a:r>
              <a:rPr dirty="0" lang="en-US" sz="2000">
                <a:solidFill>
                  <a:srgbClr val="DB0000"/>
                </a:solidFill>
              </a:rPr>
              <a:t>Desired</a:t>
            </a:r>
            <a:r>
              <a:rPr dirty="0" lang="en-US" sz="2000"/>
              <a:t>:  take over the </a:t>
            </a:r>
            <a:r>
              <a:rPr dirty="0" lang="en-US" smtClean="0" sz="2000"/>
              <a:t>telnet client role and </a:t>
            </a:r>
            <a:r>
              <a:rPr dirty="0" lang="en-US" sz="2000"/>
              <a:t>interact with server </a:t>
            </a:r>
            <a:endParaRPr dirty="0" lang="en-CA" sz="2000"/>
          </a:p>
        </p:txBody>
      </p:sp>
      <p:sp>
        <p:nvSpPr>
          <p:cNvPr id="8" name="TextBox 7">
            <a:extLst>
              <a:ext uri="{FF2B5EF4-FFF2-40B4-BE49-F238E27FC236}">
                <a16:creationId xmlns:a16="http://schemas.microsoft.com/office/drawing/2014/main" id="{5D5231C6-5A35-47B7-862C-EE15A3DFF36D}"/>
              </a:ext>
            </a:extLst>
          </p:cNvPr>
          <p:cNvSpPr txBox="1"/>
          <p:nvPr/>
        </p:nvSpPr>
        <p:spPr>
          <a:xfrm>
            <a:off x="428109" y="2047875"/>
            <a:ext cx="7315716" cy="1015663"/>
          </a:xfrm>
          <a:prstGeom prst="rect">
            <a:avLst/>
          </a:prstGeom>
          <a:noFill/>
        </p:spPr>
        <p:txBody>
          <a:bodyPr rtlCol="0" wrap="square">
            <a:spAutoFit/>
          </a:bodyPr>
          <a:lstStyle/>
          <a:p>
            <a:pPr indent="-285750" marL="285750">
              <a:buFont charset="0" panose="020B0604020202020204" pitchFamily="34" typeface="Arial"/>
              <a:buChar char="•"/>
            </a:pPr>
            <a:r>
              <a:rPr dirty="0" lang="en-US" sz="2000"/>
              <a:t>Technically, this means:</a:t>
            </a:r>
            <a:endParaRPr dirty="0" lang="en-CA" sz="2000"/>
          </a:p>
          <a:p>
            <a:r>
              <a:rPr dirty="0" lang="en-CA" sz="2000"/>
              <a:t>	1. we can type the input </a:t>
            </a:r>
            <a:r>
              <a:rPr dirty="0" lang="en-CA" smtClean="0" sz="2000"/>
              <a:t>to </a:t>
            </a:r>
            <a:r>
              <a:rPr dirty="0" lang="en-CA" sz="2000"/>
              <a:t>server from our machine</a:t>
            </a:r>
          </a:p>
          <a:p>
            <a:r>
              <a:rPr dirty="0" lang="en-CA" sz="2000"/>
              <a:t>	2. obtain the output of server from our machine</a:t>
            </a:r>
            <a:endParaRPr dirty="0" lang="en-US" sz="2000"/>
          </a:p>
        </p:txBody>
      </p:sp>
      <p:sp>
        <p:nvSpPr>
          <p:cNvPr id="10" name="TextBox 9">
            <a:extLst>
              <a:ext uri="{FF2B5EF4-FFF2-40B4-BE49-F238E27FC236}">
                <a16:creationId xmlns:a16="http://schemas.microsoft.com/office/drawing/2014/main" id="{37FCE1FE-7C24-470C-95FD-A02C0624FA67}"/>
              </a:ext>
            </a:extLst>
          </p:cNvPr>
          <p:cNvSpPr txBox="1"/>
          <p:nvPr/>
        </p:nvSpPr>
        <p:spPr>
          <a:xfrm>
            <a:off x="437633" y="3133725"/>
            <a:ext cx="8520599" cy="1015663"/>
          </a:xfrm>
          <a:prstGeom prst="rect">
            <a:avLst/>
          </a:prstGeom>
          <a:noFill/>
        </p:spPr>
        <p:txBody>
          <a:bodyPr rtlCol="0" wrap="square">
            <a:spAutoFit/>
          </a:bodyPr>
          <a:lstStyle/>
          <a:p>
            <a:pPr indent="-285750" marL="285750">
              <a:buFont charset="0" panose="020B0604020202020204" pitchFamily="34" typeface="Arial"/>
              <a:buChar char="•"/>
            </a:pPr>
            <a:r>
              <a:rPr dirty="0" lang="en-US" sz="2000"/>
              <a:t>More precisely, we want to</a:t>
            </a:r>
            <a:endParaRPr dirty="0" lang="en-CA" sz="2000"/>
          </a:p>
          <a:p>
            <a:pPr algn="dist" lvl="8"/>
            <a:r>
              <a:rPr dirty="0" lang="en-CA" sz="2000"/>
              <a:t>	► redirect the server’s standard input and standard output </a:t>
            </a:r>
          </a:p>
          <a:p>
            <a:pPr lvl="8"/>
            <a:r>
              <a:rPr dirty="0" lang="en-CA" sz="2000"/>
              <a:t>                   to </a:t>
            </a:r>
            <a:r>
              <a:rPr b="1" dirty="0" lang="en-CA" sz="2000"/>
              <a:t>our machine</a:t>
            </a:r>
          </a:p>
        </p:txBody>
      </p:sp>
      <p:sp>
        <p:nvSpPr>
          <p:cNvPr id="11" name="TextBox 10">
            <a:extLst>
              <a:ext uri="{FF2B5EF4-FFF2-40B4-BE49-F238E27FC236}">
                <a16:creationId xmlns:a16="http://schemas.microsoft.com/office/drawing/2014/main" id="{A3190BC0-43C6-40DA-B6B4-A81843A1498D}"/>
              </a:ext>
            </a:extLst>
          </p:cNvPr>
          <p:cNvSpPr txBox="1"/>
          <p:nvPr/>
        </p:nvSpPr>
        <p:spPr>
          <a:xfrm>
            <a:off x="437633" y="4057650"/>
            <a:ext cx="7915791" cy="984885"/>
          </a:xfrm>
          <a:prstGeom prst="rect">
            <a:avLst/>
          </a:prstGeom>
          <a:noFill/>
        </p:spPr>
        <p:txBody>
          <a:bodyPr rtlCol="0" wrap="square">
            <a:spAutoFit/>
          </a:bodyPr>
          <a:lstStyle/>
          <a:p>
            <a:pPr indent="-285750" marL="285750">
              <a:buFont charset="0" panose="020B0604020202020204" pitchFamily="34" typeface="Arial"/>
              <a:buChar char="•"/>
            </a:pPr>
            <a:r>
              <a:rPr dirty="0" lang="en-US" sz="2000"/>
              <a:t>This is the </a:t>
            </a:r>
            <a:r>
              <a:rPr dirty="0" lang="en-US" smtClean="0" sz="2000"/>
              <a:t>command: </a:t>
            </a:r>
            <a:endParaRPr dirty="0" lang="en-US" sz="2000"/>
          </a:p>
          <a:p>
            <a:r>
              <a:rPr dirty="0" lang="en-US" sz="2000">
                <a:highlight>
                  <a:srgbClr val="FFFF00"/>
                </a:highlight>
              </a:rPr>
              <a:t> 	/bin/bash </a:t>
            </a:r>
            <a:r>
              <a:rPr dirty="0" lang="en-US" smtClean="0" sz="2000">
                <a:highlight>
                  <a:srgbClr val="FFFF00"/>
                </a:highlight>
              </a:rPr>
              <a:t>-</a:t>
            </a:r>
            <a:r>
              <a:rPr dirty="0" err="1" lang="en-US" smtClean="0" sz="2000">
                <a:highlight>
                  <a:srgbClr val="FFFF00"/>
                </a:highlight>
              </a:rPr>
              <a:t>i</a:t>
            </a:r>
            <a:r>
              <a:rPr dirty="0" lang="en-US" smtClean="0" sz="2000">
                <a:highlight>
                  <a:srgbClr val="FFFF00"/>
                </a:highlight>
              </a:rPr>
              <a:t>  </a:t>
            </a:r>
            <a:r>
              <a:rPr dirty="0" lang="en-US" sz="2000">
                <a:highlight>
                  <a:srgbClr val="FFFF00"/>
                </a:highlight>
              </a:rPr>
              <a:t>&gt;/</a:t>
            </a:r>
            <a:r>
              <a:rPr dirty="0" lang="en-US" smtClean="0" sz="2000">
                <a:highlight>
                  <a:srgbClr val="FFFF00"/>
                </a:highlight>
              </a:rPr>
              <a:t>dev/</a:t>
            </a:r>
            <a:r>
              <a:rPr dirty="0" err="1" lang="en-US" smtClean="0" sz="2000">
                <a:highlight>
                  <a:srgbClr val="FFFF00"/>
                </a:highlight>
              </a:rPr>
              <a:t>tcp</a:t>
            </a:r>
            <a:r>
              <a:rPr dirty="0" lang="en-US" smtClean="0" sz="2000">
                <a:highlight>
                  <a:srgbClr val="FFFF00"/>
                </a:highlight>
              </a:rPr>
              <a:t>/10.9.0.1/9090     </a:t>
            </a:r>
            <a:r>
              <a:rPr dirty="0" lang="en-US" sz="2000">
                <a:highlight>
                  <a:srgbClr val="FFFF00"/>
                </a:highlight>
              </a:rPr>
              <a:t>2&gt;&amp;1      0&lt;&amp;</a:t>
            </a:r>
            <a:r>
              <a:rPr dirty="0" lang="en-US" smtClean="0" sz="2000">
                <a:highlight>
                  <a:srgbClr val="FFFF00"/>
                </a:highlight>
              </a:rPr>
              <a:t>1</a:t>
            </a:r>
          </a:p>
          <a:p>
            <a:r>
              <a:rPr dirty="0" lang="en-US" sz="1800"/>
              <a:t>(2 for </a:t>
            </a:r>
            <a:r>
              <a:rPr dirty="0" lang="en-US" smtClean="0" sz="1800"/>
              <a:t>standard error </a:t>
            </a:r>
            <a:r>
              <a:rPr dirty="0" lang="en-US" sz="1800"/>
              <a:t>output, 1 for </a:t>
            </a:r>
            <a:r>
              <a:rPr dirty="0" lang="en-US" smtClean="0" sz="1800"/>
              <a:t>standard output</a:t>
            </a:r>
            <a:r>
              <a:rPr dirty="0" lang="en-US" sz="1800"/>
              <a:t>, 0 for </a:t>
            </a:r>
            <a:r>
              <a:rPr dirty="0" lang="en-US" smtClean="0" sz="1800"/>
              <a:t>standard input</a:t>
            </a:r>
            <a:r>
              <a:rPr dirty="0" lang="en-US" sz="1800"/>
              <a:t>)</a:t>
            </a:r>
            <a:endParaRPr dirty="0" lang="en-CA" sz="1800">
              <a:highlight>
                <a:srgbClr val="FFFF00"/>
              </a:highlight>
            </a:endParaRPr>
          </a:p>
        </p:txBody>
      </p:sp>
    </p:spTree>
    <p:extLst>
      <p:ext uri="{BB962C8B-B14F-4D97-AF65-F5344CB8AC3E}">
        <p14:creationId xmlns:p14="http://schemas.microsoft.com/office/powerpoint/2010/main" val="180411279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9"/>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8"/>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10"/>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11"/>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9"/>
      <p:bldP grpId="0" spid="8"/>
      <p:bldP grpId="0" spid="10"/>
      <p:bldP grpId="0" spid="1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311700" y="445025"/>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a:t>Launch the TCP Session Hijacking Attack</a:t>
            </a:r>
          </a:p>
        </p:txBody>
      </p:sp>
      <p:sp>
        <p:nvSpPr>
          <p:cNvPr id="11" name="TextBox 10">
            <a:extLst>
              <a:ext uri="{FF2B5EF4-FFF2-40B4-BE49-F238E27FC236}">
                <a16:creationId xmlns:a16="http://schemas.microsoft.com/office/drawing/2014/main" id="{A3190BC0-43C6-40DA-B6B4-A81843A1498D}"/>
              </a:ext>
            </a:extLst>
          </p:cNvPr>
          <p:cNvSpPr txBox="1"/>
          <p:nvPr/>
        </p:nvSpPr>
        <p:spPr>
          <a:xfrm>
            <a:off x="294758" y="1238250"/>
            <a:ext cx="7915791" cy="707886"/>
          </a:xfrm>
          <a:prstGeom prst="rect">
            <a:avLst/>
          </a:prstGeom>
          <a:noFill/>
        </p:spPr>
        <p:txBody>
          <a:bodyPr rtlCol="0" wrap="square">
            <a:spAutoFit/>
          </a:bodyPr>
          <a:lstStyle/>
          <a:p>
            <a:pPr indent="-285750" marL="285750">
              <a:buFont charset="0" panose="020B0604020202020204" pitchFamily="34" typeface="Arial"/>
              <a:buChar char="•"/>
            </a:pPr>
            <a:r>
              <a:rPr dirty="0" lang="en-US" sz="2000"/>
              <a:t>What does this magic command do?</a:t>
            </a:r>
          </a:p>
          <a:p>
            <a:r>
              <a:rPr dirty="0" lang="en-US" sz="2000">
                <a:highlight>
                  <a:srgbClr val="FFFF00"/>
                </a:highlight>
              </a:rPr>
              <a:t> 	 /bin/bash </a:t>
            </a:r>
            <a:r>
              <a:rPr dirty="0" lang="en-US" smtClean="0" sz="2000">
                <a:highlight>
                  <a:srgbClr val="FFFF00"/>
                </a:highlight>
              </a:rPr>
              <a:t>-</a:t>
            </a:r>
            <a:r>
              <a:rPr dirty="0" err="1" lang="en-US" smtClean="0" sz="2000">
                <a:highlight>
                  <a:srgbClr val="FFFF00"/>
                </a:highlight>
              </a:rPr>
              <a:t>i</a:t>
            </a:r>
            <a:r>
              <a:rPr dirty="0" lang="en-US" smtClean="0" sz="2000">
                <a:highlight>
                  <a:srgbClr val="FFFF00"/>
                </a:highlight>
              </a:rPr>
              <a:t>  </a:t>
            </a:r>
            <a:r>
              <a:rPr dirty="0" lang="en-US" sz="2000">
                <a:highlight>
                  <a:srgbClr val="FFFF00"/>
                </a:highlight>
              </a:rPr>
              <a:t>&gt;/</a:t>
            </a:r>
            <a:r>
              <a:rPr dirty="0" lang="en-US" smtClean="0" sz="2000">
                <a:highlight>
                  <a:srgbClr val="FFFF00"/>
                </a:highlight>
              </a:rPr>
              <a:t>dev/</a:t>
            </a:r>
            <a:r>
              <a:rPr dirty="0" err="1" lang="en-US" smtClean="0" sz="2000">
                <a:highlight>
                  <a:srgbClr val="FFFF00"/>
                </a:highlight>
              </a:rPr>
              <a:t>tcp</a:t>
            </a:r>
            <a:r>
              <a:rPr dirty="0" lang="en-US" smtClean="0" sz="2000">
                <a:highlight>
                  <a:srgbClr val="FFFF00"/>
                </a:highlight>
              </a:rPr>
              <a:t>/10.9.0.1/9090    </a:t>
            </a:r>
            <a:r>
              <a:rPr dirty="0" lang="en-US" sz="2000">
                <a:highlight>
                  <a:srgbClr val="FFFF00"/>
                </a:highlight>
              </a:rPr>
              <a:t>2&gt;&amp;1    0&lt;&amp;1</a:t>
            </a:r>
            <a:endParaRPr dirty="0" lang="en-CA" sz="2000">
              <a:highlight>
                <a:srgbClr val="FFFF00"/>
              </a:highlight>
            </a:endParaRPr>
          </a:p>
        </p:txBody>
      </p:sp>
      <p:sp>
        <p:nvSpPr>
          <p:cNvPr id="12" name="TextBox 11">
            <a:extLst>
              <a:ext uri="{FF2B5EF4-FFF2-40B4-BE49-F238E27FC236}">
                <a16:creationId xmlns:a16="http://schemas.microsoft.com/office/drawing/2014/main" id="{1B78EC48-A705-48A4-8A5E-66199E8DEF83}"/>
              </a:ext>
            </a:extLst>
          </p:cNvPr>
          <p:cNvSpPr txBox="1"/>
          <p:nvPr/>
        </p:nvSpPr>
        <p:spPr>
          <a:xfrm>
            <a:off x="304283" y="2076450"/>
            <a:ext cx="8366092" cy="400110"/>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It redefines the standard out (1) to the new </a:t>
            </a:r>
            <a:r>
              <a:rPr dirty="0" err="1" lang="en-US" smtClean="0" sz="2000"/>
              <a:t>tcp</a:t>
            </a:r>
            <a:r>
              <a:rPr dirty="0" lang="en-US" smtClean="0" sz="2000"/>
              <a:t> connection </a:t>
            </a:r>
            <a:endParaRPr dirty="0" lang="en-US" sz="2000"/>
          </a:p>
        </p:txBody>
      </p:sp>
      <p:sp>
        <p:nvSpPr>
          <p:cNvPr id="13" name="TextBox 12">
            <a:extLst>
              <a:ext uri="{FF2B5EF4-FFF2-40B4-BE49-F238E27FC236}">
                <a16:creationId xmlns:a16="http://schemas.microsoft.com/office/drawing/2014/main" id="{3D46B5E1-E3CF-4BE6-AAC6-AE7B08EF7CFD}"/>
              </a:ext>
            </a:extLst>
          </p:cNvPr>
          <p:cNvSpPr txBox="1"/>
          <p:nvPr/>
        </p:nvSpPr>
        <p:spPr>
          <a:xfrm>
            <a:off x="311700" y="2619375"/>
            <a:ext cx="8756100" cy="707886"/>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Assign the standard error output address (descriptor 2) to the address of descriptor 1  (that is, the new </a:t>
            </a:r>
            <a:r>
              <a:rPr dirty="0" err="1" lang="en-US" smtClean="0" sz="2000"/>
              <a:t>tcp</a:t>
            </a:r>
            <a:r>
              <a:rPr dirty="0" lang="en-US" smtClean="0" sz="2000"/>
              <a:t> connection)</a:t>
            </a:r>
            <a:endParaRPr dirty="0" lang="en-US" sz="2000"/>
          </a:p>
        </p:txBody>
      </p:sp>
      <p:sp>
        <p:nvSpPr>
          <p:cNvPr id="8" name="TextBox 7">
            <a:extLst>
              <a:ext uri="{FF2B5EF4-FFF2-40B4-BE49-F238E27FC236}">
                <a16:creationId xmlns:a16="http://schemas.microsoft.com/office/drawing/2014/main" id="{3D46B5E1-E3CF-4BE6-AAC6-AE7B08EF7CFD}"/>
              </a:ext>
            </a:extLst>
          </p:cNvPr>
          <p:cNvSpPr txBox="1"/>
          <p:nvPr/>
        </p:nvSpPr>
        <p:spPr>
          <a:xfrm>
            <a:off x="299640" y="3396725"/>
            <a:ext cx="8756100" cy="707886"/>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Assign the standard input address (descriptor  0) to the address of descriptor 1  (that is, the new </a:t>
            </a:r>
            <a:r>
              <a:rPr dirty="0" err="1" lang="en-US" smtClean="0" sz="2000"/>
              <a:t>tcp</a:t>
            </a:r>
            <a:r>
              <a:rPr dirty="0" lang="en-US" smtClean="0" sz="2000"/>
              <a:t> connection again)</a:t>
            </a:r>
            <a:endParaRPr dirty="0" lang="en-US" sz="2000"/>
          </a:p>
        </p:txBody>
      </p:sp>
      <p:sp>
        <p:nvSpPr>
          <p:cNvPr id="9" name="TextBox 8">
            <a:extLst>
              <a:ext uri="{FF2B5EF4-FFF2-40B4-BE49-F238E27FC236}">
                <a16:creationId xmlns:a16="http://schemas.microsoft.com/office/drawing/2014/main" id="{3D46B5E1-E3CF-4BE6-AAC6-AE7B08EF7CFD}"/>
              </a:ext>
            </a:extLst>
          </p:cNvPr>
          <p:cNvSpPr txBox="1"/>
          <p:nvPr/>
        </p:nvSpPr>
        <p:spPr>
          <a:xfrm>
            <a:off x="366522" y="4206967"/>
            <a:ext cx="8756100" cy="400110"/>
          </a:xfrm>
          <a:prstGeom prst="rect">
            <a:avLst/>
          </a:prstGeom>
          <a:noFill/>
        </p:spPr>
        <p:txBody>
          <a:bodyPr rtlCol="0" wrap="square">
            <a:spAutoFit/>
          </a:bodyPr>
          <a:lstStyle/>
          <a:p>
            <a:pPr indent="-285750" marL="285750">
              <a:buFont charset="0" panose="020B0604020202020204" pitchFamily="34" typeface="Arial"/>
              <a:buChar char="•"/>
            </a:pPr>
            <a:r>
              <a:rPr dirty="0" lang="en-US" smtClean="0" sz="2000"/>
              <a:t>Thus, </a:t>
            </a:r>
            <a:r>
              <a:rPr dirty="0" err="1" lang="en-US" smtClean="0" sz="2000"/>
              <a:t>intput</a:t>
            </a:r>
            <a:r>
              <a:rPr dirty="0" lang="en-US" smtClean="0" sz="2000"/>
              <a:t>, output, error output are all directed to the new connection. </a:t>
            </a:r>
            <a:endParaRPr dirty="0" lang="en-US" sz="2000"/>
          </a:p>
        </p:txBody>
      </p:sp>
    </p:spTree>
    <p:extLst>
      <p:ext uri="{BB962C8B-B14F-4D97-AF65-F5344CB8AC3E}">
        <p14:creationId xmlns:p14="http://schemas.microsoft.com/office/powerpoint/2010/main" val="340479827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2"/>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3"/>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8"/>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9"/>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2"/>
      <p:bldP grpId="0" spid="13"/>
      <p:bldP grpId="0" spid="8"/>
      <p:bldP grpId="0" spid="9"/>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291965" y="92424"/>
            <a:ext cx="8520600" cy="572700"/>
          </a:xfrm>
          <a:prstGeom prst="rect">
            <a:avLst/>
          </a:prstGeom>
        </p:spPr>
        <p:txBody>
          <a:bodyPr anchor="t" anchorCtr="0" bIns="91425" lIns="91425" rIns="91425" tIns="91425" wrap="square">
            <a:noAutofit/>
          </a:bodyPr>
          <a:lstStyle/>
          <a:p>
            <a:pPr indent="-69850" lvl="0" marL="0">
              <a:spcBef>
                <a:spcPts val="0"/>
              </a:spcBef>
              <a:buClr>
                <a:schemeClr val="dk1"/>
              </a:buClr>
              <a:buSzPts val="1100"/>
              <a:buFont typeface="Arial"/>
              <a:buNone/>
            </a:pPr>
            <a:r>
              <a:rPr dirty="0" lang="en-GB" smtClean="0"/>
              <a:t>Spoofing for hijacking (hijack_auto.py)</a:t>
            </a:r>
            <a:endParaRPr dirty="0" lang="en-GB"/>
          </a:p>
        </p:txBody>
      </p:sp>
      <p:sp>
        <p:nvSpPr>
          <p:cNvPr id="10" name="TextBox 9">
            <a:extLst>
              <a:ext uri="{FF2B5EF4-FFF2-40B4-BE49-F238E27FC236}">
                <a16:creationId xmlns:a16="http://schemas.microsoft.com/office/drawing/2014/main" id="{A16295F5-7536-462D-AC22-721CD1ECCE8E}"/>
              </a:ext>
            </a:extLst>
          </p:cNvPr>
          <p:cNvSpPr txBox="1"/>
          <p:nvPr/>
        </p:nvSpPr>
        <p:spPr>
          <a:xfrm>
            <a:off x="530588" y="539322"/>
            <a:ext cx="8423241" cy="400110"/>
          </a:xfrm>
          <a:prstGeom prst="rect">
            <a:avLst/>
          </a:prstGeom>
          <a:noFill/>
        </p:spPr>
        <p:txBody>
          <a:bodyPr rtlCol="0" wrap="square">
            <a:spAutoFit/>
          </a:bodyPr>
          <a:lstStyle/>
          <a:p>
            <a:pPr indent="-285750" marL="285750">
              <a:buFont charset="0" panose="020B0604020202020204" pitchFamily="34" typeface="Arial"/>
              <a:buChar char="•"/>
            </a:pPr>
            <a:r>
              <a:rPr dirty="0" lang="en-US" sz="2000"/>
              <a:t>Run a </a:t>
            </a:r>
            <a:r>
              <a:rPr dirty="0" err="1" lang="en-US" sz="2000"/>
              <a:t>tcp</a:t>
            </a:r>
            <a:r>
              <a:rPr dirty="0" lang="en-US" sz="2000"/>
              <a:t> server to </a:t>
            </a:r>
            <a:r>
              <a:rPr dirty="0" lang="en-US" smtClean="0" sz="2000"/>
              <a:t>take over </a:t>
            </a:r>
            <a:r>
              <a:rPr dirty="0" lang="en-US" sz="2000"/>
              <a:t>the hijacked </a:t>
            </a:r>
            <a:r>
              <a:rPr dirty="0" lang="en-US" smtClean="0" sz="2000"/>
              <a:t>telnet: </a:t>
            </a:r>
            <a:r>
              <a:rPr dirty="0" err="1" lang="en-US" smtClean="0" sz="2000">
                <a:highlight>
                  <a:srgbClr val="FFFF00"/>
                </a:highlight>
              </a:rPr>
              <a:t>nc</a:t>
            </a:r>
            <a:r>
              <a:rPr dirty="0" lang="en-US" smtClean="0" sz="2000">
                <a:highlight>
                  <a:srgbClr val="FFFF00"/>
                </a:highlight>
              </a:rPr>
              <a:t>  </a:t>
            </a:r>
            <a:r>
              <a:rPr dirty="0" lang="en-US" sz="2000">
                <a:highlight>
                  <a:srgbClr val="FFFF00"/>
                </a:highlight>
              </a:rPr>
              <a:t>-</a:t>
            </a:r>
            <a:r>
              <a:rPr dirty="0" err="1" lang="en-US" smtClean="0" sz="2000">
                <a:highlight>
                  <a:srgbClr val="FFFF00"/>
                </a:highlight>
              </a:rPr>
              <a:t>lnv</a:t>
            </a:r>
            <a:r>
              <a:rPr dirty="0" lang="en-US" smtClean="0" sz="2000">
                <a:highlight>
                  <a:srgbClr val="FFFF00"/>
                </a:highlight>
              </a:rPr>
              <a:t>  </a:t>
            </a:r>
            <a:r>
              <a:rPr dirty="0" lang="en-US" sz="2000">
                <a:highlight>
                  <a:srgbClr val="FFFF00"/>
                </a:highlight>
              </a:rPr>
              <a:t>9090  </a:t>
            </a:r>
            <a:endParaRPr dirty="0" lang="en-CA" sz="2000">
              <a:highlight>
                <a:srgbClr val="FFFF00"/>
              </a:highlight>
            </a:endParaRPr>
          </a:p>
        </p:txBody>
      </p:sp>
      <p:pic>
        <p:nvPicPr>
          <p:cNvPr id="7" name="Picture 6" descr="&quot;Python code example for TCP packet spoofing, calculating TCP data length and sequence numbers, and crafting a packet with swapped source and destination IPs and ports, potentially used for reverse shell access.&quot;"/>
          <p:cNvPicPr>
            <a:picLocks noChangeAspect="1"/>
          </p:cNvPicPr>
          <p:nvPr/>
        </p:nvPicPr>
        <p:blipFill>
          <a:blip r:embed="rId3"/>
          <a:stretch>
            <a:fillRect/>
          </a:stretch>
        </p:blipFill>
        <p:spPr>
          <a:xfrm>
            <a:off x="1385895" y="851150"/>
            <a:ext cx="5522111" cy="4220366"/>
          </a:xfrm>
          <a:prstGeom prst="rect">
            <a:avLst/>
          </a:prstGeom>
        </p:spPr>
      </p:pic>
    </p:spTree>
    <p:extLst>
      <p:ext uri="{BB962C8B-B14F-4D97-AF65-F5344CB8AC3E}">
        <p14:creationId xmlns:p14="http://schemas.microsoft.com/office/powerpoint/2010/main" val="468370391"/>
      </p:ext>
    </p:extLst>
  </p:cSld>
  <p:clrMapOvr>
    <a:masterClrMapping/>
  </p:clrMapOvr>
  <p:timing>
    <p:tnLst>
      <p:par>
        <p:cTn dur="indefinite" id="1" nodeType="tmRoot" restart="never"/>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7028</TotalTime>
  <Words>3114</Words>
  <Application>Microsoft Office PowerPoint</Application>
  <PresentationFormat>On-screen Show (16:9)</PresentationFormat>
  <Paragraphs>392</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Consolas</vt:lpstr>
      <vt:lpstr>Simple Light</vt:lpstr>
      <vt:lpstr>TCP  Attacks</vt:lpstr>
      <vt:lpstr>PowerPoint Presentation</vt:lpstr>
      <vt:lpstr>PowerPoint Presentation</vt:lpstr>
      <vt:lpstr>PowerPoint Presentation</vt:lpstr>
      <vt:lpstr>Review on TCP Packet Header </vt:lpstr>
      <vt:lpstr>Flag bits(URG | ACK | PSH | RST | SYN | FIN) </vt:lpstr>
      <vt:lpstr>TCP 3-way Handshake Protocol</vt:lpstr>
      <vt:lpstr>TCP 3-way Handshake Protocol (more details) </vt:lpstr>
      <vt:lpstr>TCP 3-way Handshake Protocol (more details) </vt:lpstr>
      <vt:lpstr>SYN Flooding Attack</vt:lpstr>
      <vt:lpstr>Analysis</vt:lpstr>
      <vt:lpstr>SYN Flooding Attack – using c program</vt:lpstr>
      <vt:lpstr>SYN Flooding Attack – using c program</vt:lpstr>
      <vt:lpstr>If experiment fails (legal user still can login after server is attacked),…</vt:lpstr>
      <vt:lpstr>SYN Flooding Attack – using Python program</vt:lpstr>
      <vt:lpstr>Countermeasure:  vulnerability from SYN queue </vt:lpstr>
      <vt:lpstr>Server does not save the client information </vt:lpstr>
      <vt:lpstr>If client sends ACK only</vt:lpstr>
      <vt:lpstr>Countermeasure: compute y secretly</vt:lpstr>
      <vt:lpstr>Attacker can not succeed</vt:lpstr>
      <vt:lpstr>TCP Reset Attack</vt:lpstr>
      <vt:lpstr>TCP Reset Attack</vt:lpstr>
      <vt:lpstr>TCP Reset Attack: Automatic Python Program</vt:lpstr>
      <vt:lpstr>TCP Session Hijacking Attack</vt:lpstr>
      <vt:lpstr>TCP Session Hijacking Attack: Sequence Number</vt:lpstr>
      <vt:lpstr>Hijacking a Telnet Connection</vt:lpstr>
      <vt:lpstr>PowerPoint Presentation</vt:lpstr>
      <vt:lpstr>PowerPoint Presentation</vt:lpstr>
      <vt:lpstr>Telnet Protocol</vt:lpstr>
      <vt:lpstr>Print to attacker’s screen</vt:lpstr>
      <vt:lpstr>Launch the TCP Session Hijacking Attack</vt:lpstr>
      <vt:lpstr>Launch the TCP Session Hijacking Attack</vt:lpstr>
      <vt:lpstr>Spoofing for hijacking (hijack_auto.py)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Jiang</dc:creator>
  <cp:lastModifiedBy>Windows User</cp:lastModifiedBy>
  <dcterms:modified xsi:type="dcterms:W3CDTF">2025-06-04T19:43:26Z</dcterms:modified>
  <cp:revision>401</cp:revision>
  <dc:title>Attacks on the TCP Protocol</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remediatedIssues":[{"targetId":{"value":1031},"issueTypeIdentifier":"LOW_CONTRAST_ISSUE"},{"targetId":{"value":1065},"issueTypeIdentifier":"LOW_CONTRAST_ISSUE"},{"targetId":{"value":110},"issueTypeIdentifier":"LOW_CONTRAST_ISSUE"},{"targetId":{"value":114},"issueTypeIdentifier":"LOW_CONTRAST_ISSUE"},{"targetId":{"value":117},"issueTypeIdentifier":"LOW_CONTRAST_ISSUE"},{"targetId":{"value":120},"issueTypeIdentifier":"LOW_CONTRAST_ISSUE"},{"targetId":{"value":121},"issueTypeIdentifier":"LOW_CONTRAST_ISSUE"},{"targetId":{"value":1146},"issueTypeIdentifier":"LOW_CONTRAST_ISSUE"},{"targetId":{"value":141},"issueTypeIdentifier":"LOW_CONTRAST_ISSUE"},{"targetId":{"value":150},"issueTypeIdentifier":"LOW_CONTRAST_ISSUE"},{"targetId":{"value":478},"issueTypeIdentifier":"LOW_CONTRAST_ISSUE"},{"targetId":{"value":549},"issueTypeIdentifier":"LOW_CONTRAST_ISSUE"},{"targetId":{"value":668},"issueTypeIdentifier":"LOW_CONTRAST_ISSUE"},{"targetId":{"value":777},"issueTypeIdentifier":"LOW_CONTRAST_ISSUE"},{"targetId":{"value":806},"issueTypeIdentifier":"LOW_CONTRAST_ISSUE"},{"targetId":{"value":880},"issueTypeIdentifier":"LOW_CONTRAST_ISSUE"},{"targetId":{"value":448},"issueTypeIdentifier":"MISSING_ALTERNATIVE_TEXT_ISSUE"},{"targetId":{"value":296},"issueTypeIdentifier":"MISSING_ALTERNATIVE_TEXT_ISSUE"},{"targetId":{"value":9},"issueTypeIdentifier":"MISSING_ALTERNATIVE_TEXT_ISSUE"},{"targetId":{"value":652},"issueTypeIdentifier":"MISSING_ALTERNATIVE_TEXT_ISSUE"},{"targetId":{"value":974},"issueTypeIdentifier":"MISSING_ALTERNATIVE_TEXT_ISSUE"},{"targetId":{"value":591},"issueTypeIdentifier":"MISSING_ALTERNATIVE_TEXT_ISSUE"},{"targetId":{"value":592},"issueTypeIdentifier":"MISSING_ALTERNATIVE_TEXT_ISSUE"},{"targetId":{"value":593},"issueTypeIdentifier":"MISSING_ALTERNATIVE_TEXT_ISSUE"},{"targetId":{"value":19},"issueTypeIdentifier":"MISSING_ALTERNATIVE_TEXT_ISSUE"},{"targetId":{"value":980},"issueTypeIdentifier":"MISSING_ALTERNATIVE_TEXT_ISSUE"},{"targetId":{"value":1012},"issueTypeIdentifier":"MISSING_ALTERNATIVE_TEXT_ISSUE"},{"targetId":{"value":634},"issueTypeIdentifier":"MISSING_ALTERNATIVE_TEXT_ISSUE"},{"targetId":{"value":59},"issueTypeIdentifier":"MISSING_ALTERNATIVE_TEXT_ISSUE"},{"targetId":{"value":956},"issueTypeIdentifier":"MISSING_ALTERNATIVE_TEXT_ISSUE"},{"targetId":{"value":1245},"issueTypeIdentifier":"MISSING_ALTERNATIVE_TEXT_ISSUE"},{"targetId":{"value":1055},"issueTypeIdentifier":"MISSING_ALTERNATIVE_TEXT_ISSUE"},{"targetId":{"value":128},"issueTypeIdentifier":"READING_ORDER_ISSUE"},{"targetId":{"value":900},"issueTypeIdentifier":"READING_ORDER_ISSUE"},{"targetId":{"value":5},"issueTypeIdentifier":"READING_ORDER_ISSUE"},{"targetId":{"value":774},"issueTypeIdentifier":"READING_ORDER_ISSUE"},{"targetId":{"value":1032},"issueTypeIdentifier":"READING_ORDER_ISSUE"},{"targetId":{"value":13},"issueTypeIdentifier":"READING_ORDER_ISSUE"},{"targetId":{"value":981},"issueTypeIdentifier":"READING_ORDER_ISSUE"},{"targetId":{"value":535},"issueTypeIdentifier":"READING_ORDER_ISSUE"},{"targetId":{"value":664},"issueTypeIdentifier":"READING_ORDER_ISSUE"},{"targetId":{"value":163},"issueTypeIdentifier":"READING_ORDER_ISSUE"},{"targetId":{"value":803},"issueTypeIdentifier":"READING_ORDER_ISSUE"},{"targetId":{"value":295},"issueTypeIdentifier":"READING_ORDER_ISSUE"},{"targetId":{"value":425},"issueTypeIdentifier":"READING_ORDER_ISSUE"},{"targetId":{"value":939},"issueTypeIdentifier":"READING_ORDER_ISSUE"},{"targetId":{"value":55},"issueTypeIdentifier":"READING_ORDER_ISSUE"},{"targetId":{"value":827},"issueTypeIdentifier":"READING_ORDER_ISSUE"}]}</vt:lpwstr>
  </property>
</Properties>
</file>